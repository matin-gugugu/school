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49" r:id="rId2"/>
    <p:sldMasterId id="2147483650" r:id="rId3"/>
  </p:sldMasterIdLst>
  <p:notesMasterIdLst>
    <p:notesMasterId r:id="rId27"/>
  </p:notesMasterIdLst>
  <p:sldIdLst>
    <p:sldId id="257" r:id="rId4"/>
    <p:sldId id="258" r:id="rId5"/>
    <p:sldId id="259" r:id="rId6"/>
    <p:sldId id="260" r:id="rId7"/>
    <p:sldId id="261" r:id="rId8"/>
    <p:sldId id="262" r:id="rId9"/>
    <p:sldId id="285" r:id="rId10"/>
    <p:sldId id="264" r:id="rId11"/>
    <p:sldId id="265" r:id="rId12"/>
    <p:sldId id="266" r:id="rId13"/>
    <p:sldId id="268" r:id="rId14"/>
    <p:sldId id="269" r:id="rId15"/>
    <p:sldId id="270" r:id="rId16"/>
    <p:sldId id="272" r:id="rId17"/>
    <p:sldId id="273" r:id="rId18"/>
    <p:sldId id="276" r:id="rId19"/>
    <p:sldId id="277" r:id="rId20"/>
    <p:sldId id="278" r:id="rId21"/>
    <p:sldId id="279" r:id="rId22"/>
    <p:sldId id="280" r:id="rId23"/>
    <p:sldId id="283" r:id="rId24"/>
    <p:sldId id="281" r:id="rId25"/>
    <p:sldId id="282"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 怡然" initials="李"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9DE"/>
    <a:srgbClr val="445437"/>
    <a:srgbClr val="EF949E"/>
    <a:srgbClr val="B3C4A5"/>
    <a:srgbClr val="FEF0D3"/>
    <a:srgbClr val="C5E0B4"/>
    <a:srgbClr val="D9E2D2"/>
    <a:srgbClr val="EA6C00"/>
    <a:srgbClr val="F2F2F2"/>
    <a:srgbClr val="B7D3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9" autoAdjust="0"/>
    <p:restoredTop sz="85621" autoAdjust="0"/>
  </p:normalViewPr>
  <p:slideViewPr>
    <p:cSldViewPr snapToGrid="0">
      <p:cViewPr varScale="1">
        <p:scale>
          <a:sx n="102" d="100"/>
          <a:sy n="102" d="100"/>
        </p:scale>
        <p:origin x="696" y="176"/>
      </p:cViewPr>
      <p:guideLst/>
    </p:cSldViewPr>
  </p:slideViewPr>
  <p:outlineViewPr>
    <p:cViewPr>
      <p:scale>
        <a:sx n="33" d="100"/>
        <a:sy n="33" d="100"/>
      </p:scale>
      <p:origin x="0" y="-6080"/>
    </p:cViewPr>
  </p:outlineViewPr>
  <p:notesTextViewPr>
    <p:cViewPr>
      <p:scale>
        <a:sx n="100" d="100"/>
        <a:sy n="100" d="100"/>
      </p:scale>
      <p:origin x="0" y="0"/>
    </p:cViewPr>
  </p:notesTextViewPr>
  <p:sorterViewPr>
    <p:cViewPr>
      <p:scale>
        <a:sx n="125" d="100"/>
        <a:sy n="125" d="100"/>
      </p:scale>
      <p:origin x="0" y="-3985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187"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188"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F51752-2BA6-4267-BD9C-0255A6E7A7A8}" type="datetimeFigureOut">
              <a:rPr lang="zh-CN" altLang="en-US" smtClean="0"/>
              <a:t>2026/4/22</a:t>
            </a:fld>
            <a:endParaRPr lang="zh-CN" altLang="en-US"/>
          </a:p>
        </p:txBody>
      </p:sp>
      <p:sp>
        <p:nvSpPr>
          <p:cNvPr id="1049189"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9190"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9191"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192"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02A4A-2F78-42A2-8BB5-4E355942CA2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幻灯片图像占位符 1"/>
          <p:cNvSpPr>
            <a:spLocks noGrp="1" noRot="1" noChangeAspect="1"/>
          </p:cNvSpPr>
          <p:nvPr>
            <p:ph type="sldImg"/>
          </p:nvPr>
        </p:nvSpPr>
        <p:spPr/>
      </p:sp>
      <p:sp>
        <p:nvSpPr>
          <p:cNvPr id="1048694"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我的研究课题是</a:t>
            </a:r>
            <a:r>
              <a:rPr lang="zh-CN" altLang="zh-CN" sz="1200" dirty="0">
                <a:ea typeface="+mn-ea"/>
                <a:cs typeface="+mn-ea"/>
              </a:rPr>
              <a:t>边缘场景下容器化分布式推理任务的细粒度资源感知调度机制研究与实现</a:t>
            </a:r>
            <a:br>
              <a:rPr lang="en-US" altLang="zh-CN" sz="1200" dirty="0">
                <a:ea typeface="+mn-ea"/>
                <a:cs typeface="+mn-ea"/>
              </a:rPr>
            </a:br>
            <a:endParaRPr lang="en-US" altLang="zh-CN" sz="1200" b="1" dirty="0">
              <a:ea typeface="+mn-ea"/>
              <a:cs typeface="+mn-ea"/>
            </a:endParaRPr>
          </a:p>
        </p:txBody>
      </p:sp>
      <p:sp>
        <p:nvSpPr>
          <p:cNvPr id="1048695" name="灯片编号占位符 3"/>
          <p:cNvSpPr>
            <a:spLocks noGrp="1"/>
          </p:cNvSpPr>
          <p:nvPr>
            <p:ph type="sldNum" sz="quarter" idx="5"/>
          </p:nvPr>
        </p:nvSpPr>
        <p:spPr/>
        <p:txBody>
          <a:bodyPr/>
          <a:lstStyle/>
          <a:p>
            <a:fld id="{2AD02A4A-2F78-42A2-8BB5-4E355942CA2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幻灯片图像占位符 1"/>
          <p:cNvSpPr>
            <a:spLocks noGrp="1" noRot="1" noChangeAspect="1"/>
          </p:cNvSpPr>
          <p:nvPr>
            <p:ph type="sldImg"/>
          </p:nvPr>
        </p:nvSpPr>
        <p:spPr/>
      </p:sp>
      <p:sp>
        <p:nvSpPr>
          <p:cNvPr id="1048649" name="备注占位符 2"/>
          <p:cNvSpPr>
            <a:spLocks noGrp="1"/>
          </p:cNvSpPr>
          <p:nvPr>
            <p:ph type="body" idx="1"/>
          </p:nvPr>
        </p:nvSpPr>
        <p:spPr/>
        <p:txBody>
          <a:bodyPr/>
          <a:lstStyle/>
          <a:p>
            <a:endParaRPr lang="zh-CN" altLang="en-US"/>
          </a:p>
        </p:txBody>
      </p:sp>
      <p:sp>
        <p:nvSpPr>
          <p:cNvPr id="1048650"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2AD02A4A-2F78-42A2-8BB5-4E355942CA2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9" name="幻灯片图像占位符 1"/>
          <p:cNvSpPr>
            <a:spLocks noGrp="1" noRot="1" noChangeAspect="1"/>
          </p:cNvSpPr>
          <p:nvPr>
            <p:ph type="sldImg"/>
          </p:nvPr>
        </p:nvSpPr>
        <p:spPr/>
      </p:sp>
      <p:sp>
        <p:nvSpPr>
          <p:cNvPr id="1048590" name="备注占位符 2"/>
          <p:cNvSpPr>
            <a:spLocks noGrp="1"/>
          </p:cNvSpPr>
          <p:nvPr>
            <p:ph type="body" idx="1"/>
          </p:nvPr>
        </p:nvSpPr>
        <p:spPr/>
        <p:txBody>
          <a:bodyPr/>
          <a:lstStyle/>
          <a:p>
            <a:endParaRPr lang="zh-CN" altLang="en-US"/>
          </a:p>
        </p:txBody>
      </p:sp>
      <p:sp>
        <p:nvSpPr>
          <p:cNvPr id="1048591" name="灯片编号占位符 3"/>
          <p:cNvSpPr>
            <a:spLocks noGrp="1"/>
          </p:cNvSpPr>
          <p:nvPr>
            <p:ph type="sldNum" sz="quarter" idx="5"/>
          </p:nvPr>
        </p:nvSpPr>
        <p:spPr/>
        <p:txBody>
          <a:bodyPr/>
          <a:lstStyle/>
          <a:p>
            <a:fld id="{2AD02A4A-2F78-42A2-8BB5-4E355942CA26}"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幻灯片图像占位符 1"/>
          <p:cNvSpPr>
            <a:spLocks noGrp="1" noRot="1" noChangeAspect="1"/>
          </p:cNvSpPr>
          <p:nvPr>
            <p:ph type="sldImg"/>
          </p:nvPr>
        </p:nvSpPr>
        <p:spPr/>
      </p:sp>
      <p:sp>
        <p:nvSpPr>
          <p:cNvPr id="104861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随着</a:t>
            </a:r>
            <a:r>
              <a:rPr lang="en-US" altLang="zh-CN" sz="1200" kern="1200" dirty="0">
                <a:solidFill>
                  <a:schemeClr val="tx1"/>
                </a:solidFill>
                <a:effectLst/>
                <a:latin typeface="+mn-lt"/>
                <a:ea typeface="+mn-ea"/>
                <a:cs typeface="+mn-cs"/>
              </a:rPr>
              <a:t>AI</a:t>
            </a:r>
            <a:r>
              <a:rPr lang="zh-CN" altLang="en-US" sz="1200" kern="1200" dirty="0">
                <a:solidFill>
                  <a:schemeClr val="tx1"/>
                </a:solidFill>
                <a:effectLst/>
                <a:latin typeface="+mn-lt"/>
                <a:ea typeface="+mn-ea"/>
                <a:cs typeface="+mn-cs"/>
              </a:rPr>
              <a:t> 推理服务</a:t>
            </a:r>
            <a:r>
              <a:rPr lang="zh-CN" altLang="zh-CN" sz="1200" kern="1200" dirty="0">
                <a:solidFill>
                  <a:schemeClr val="tx1"/>
                </a:solidFill>
                <a:effectLst/>
                <a:latin typeface="+mn-lt"/>
                <a:ea typeface="+mn-ea"/>
                <a:cs typeface="+mn-cs"/>
              </a:rPr>
              <a:t>从云数据中心不断向边缘环境延伸，边缘侧正在成为人工智能应用落地的重要运行场景。</a:t>
            </a:r>
            <a:r>
              <a:rPr lang="zh-CN" altLang="en-US" sz="1200" kern="1200" dirty="0">
                <a:solidFill>
                  <a:schemeClr val="tx1"/>
                </a:solidFill>
                <a:effectLst/>
                <a:latin typeface="+mn-lt"/>
                <a:ea typeface="+mn-ea"/>
                <a:cs typeface="+mn-cs"/>
              </a:rPr>
              <a:t>由于</a:t>
            </a:r>
            <a:r>
              <a:rPr lang="zh-CN" altLang="zh-CN" sz="1200" kern="1200" dirty="0">
                <a:solidFill>
                  <a:schemeClr val="tx1"/>
                </a:solidFill>
                <a:effectLst/>
                <a:latin typeface="+mn-lt"/>
                <a:ea typeface="+mn-ea"/>
                <a:cs typeface="+mn-cs"/>
              </a:rPr>
              <a:t>边缘环境更贴近工业制造、智能装备、轨道交通等</a:t>
            </a:r>
            <a:r>
              <a:rPr lang="zh-CN" altLang="en-US" sz="1200" kern="1200" dirty="0">
                <a:solidFill>
                  <a:schemeClr val="tx1"/>
                </a:solidFill>
                <a:effectLst/>
                <a:latin typeface="+mn-lt"/>
                <a:ea typeface="+mn-ea"/>
                <a:cs typeface="+mn-cs"/>
              </a:rPr>
              <a:t>这些</a:t>
            </a:r>
            <a:r>
              <a:rPr lang="zh-CN" altLang="zh-CN" sz="1200" kern="1200" dirty="0">
                <a:solidFill>
                  <a:schemeClr val="tx1"/>
                </a:solidFill>
                <a:effectLst/>
                <a:latin typeface="+mn-lt"/>
                <a:ea typeface="+mn-ea"/>
                <a:cs typeface="+mn-cs"/>
              </a:rPr>
              <a:t>实际</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业务现场。</a:t>
            </a:r>
            <a:r>
              <a:rPr lang="zh-CN" altLang="zh-CN" dirty="0">
                <a:effectLst/>
              </a:rPr>
              <a:t> </a:t>
            </a:r>
            <a:r>
              <a:rPr lang="zh-CN" altLang="en-US" dirty="0">
                <a:effectLst/>
              </a:rPr>
              <a:t>对于那些</a:t>
            </a:r>
            <a:r>
              <a:rPr lang="zh-CN" altLang="zh-CN" sz="1200" kern="1200" dirty="0">
                <a:solidFill>
                  <a:schemeClr val="tx1"/>
                </a:solidFill>
                <a:effectLst/>
                <a:latin typeface="+mn-lt"/>
                <a:ea typeface="+mn-ea"/>
                <a:cs typeface="+mn-cs"/>
              </a:rPr>
              <a:t>对实时感知、本地决策和低</a:t>
            </a:r>
            <a:r>
              <a:rPr lang="zh-CN" altLang="en-US" sz="1200" kern="1200" dirty="0">
                <a:solidFill>
                  <a:schemeClr val="tx1"/>
                </a:solidFill>
                <a:effectLst/>
                <a:latin typeface="+mn-lt"/>
                <a:ea typeface="+mn-ea"/>
                <a:cs typeface="+mn-cs"/>
              </a:rPr>
              <a:t>延时</a:t>
            </a:r>
            <a:r>
              <a:rPr lang="zh-CN" altLang="zh-CN" sz="1200" kern="1200" dirty="0">
                <a:solidFill>
                  <a:schemeClr val="tx1"/>
                </a:solidFill>
                <a:effectLst/>
                <a:latin typeface="+mn-lt"/>
                <a:ea typeface="+mn-ea"/>
                <a:cs typeface="+mn-cs"/>
              </a:rPr>
              <a:t>响应具有更强需求</a:t>
            </a:r>
            <a:r>
              <a:rPr lang="zh-CN" altLang="en-US" sz="1200" kern="1200" dirty="0">
                <a:solidFill>
                  <a:schemeClr val="tx1"/>
                </a:solidFill>
                <a:effectLst/>
                <a:latin typeface="+mn-lt"/>
                <a:ea typeface="+mn-ea"/>
                <a:cs typeface="+mn-cs"/>
              </a:rPr>
              <a:t>的服务来说</a:t>
            </a:r>
            <a:r>
              <a:rPr lang="zh-CN" altLang="en-US" dirty="0"/>
              <a:t>部署在边缘能够省掉回传数据给云端的时间和带宽，同时提升了低延时响应、可靠性、隐私与安全性，但也由于边缘环境相比云数据中心资源受限，所以大模型的分布式推理任务部署在边缘环境面临高效部署的挑战</a:t>
            </a:r>
            <a:endParaRPr lang="en-US" altLang="zh-CN" sz="1200" kern="1200" dirty="0">
              <a:solidFill>
                <a:schemeClr val="tx1"/>
              </a:solidFill>
              <a:effectLst/>
              <a:latin typeface="+mn-lt"/>
              <a:ea typeface="+mn-ea"/>
              <a:cs typeface="+mn-cs"/>
            </a:endParaRPr>
          </a:p>
          <a:p>
            <a:endParaRPr lang="en-US" altLang="zh-CN" dirty="0">
              <a:effectLst/>
            </a:endParaRPr>
          </a:p>
          <a:p>
            <a:endParaRPr lang="zh-CN" altLang="zh-CN" dirty="0">
              <a:effectLst/>
            </a:endParaRPr>
          </a:p>
        </p:txBody>
      </p:sp>
      <p:sp>
        <p:nvSpPr>
          <p:cNvPr id="1048611" name="灯片编号占位符 3"/>
          <p:cNvSpPr>
            <a:spLocks noGrp="1"/>
          </p:cNvSpPr>
          <p:nvPr>
            <p:ph type="sldNum" sz="quarter" idx="5"/>
          </p:nvPr>
        </p:nvSpPr>
        <p:spPr/>
        <p:txBody>
          <a:bodyPr/>
          <a:lstStyle/>
          <a:p>
            <a:fld id="{2AD02A4A-2F78-42A2-8BB5-4E355942CA26}"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幻灯片图像占位符 1"/>
          <p:cNvSpPr>
            <a:spLocks noGrp="1" noRot="1" noChangeAspect="1"/>
          </p:cNvSpPr>
          <p:nvPr>
            <p:ph type="sldImg"/>
          </p:nvPr>
        </p:nvSpPr>
        <p:spPr/>
      </p:sp>
      <p:sp>
        <p:nvSpPr>
          <p:cNvPr id="1048679"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dirty="0"/>
              <a:t>考虑到如何在边缘环境中实现高效的大模型分布式推理部署</a:t>
            </a:r>
            <a:r>
              <a:rPr lang="zh-CN" altLang="en-US" b="1" dirty="0"/>
              <a:t>，相比单纯增加硬件，更关键的是面向边缘场景进行合理的任务放置与资源调度。</a:t>
            </a:r>
            <a:r>
              <a:rPr lang="zh-CN" altLang="en-US" dirty="0"/>
              <a:t>一方面，大模型推理的 </a:t>
            </a:r>
            <a:r>
              <a:rPr lang="en" altLang="zh-CN" dirty="0"/>
              <a:t>Prefill </a:t>
            </a:r>
            <a:r>
              <a:rPr lang="zh-CN" altLang="en-US" dirty="0"/>
              <a:t>与 </a:t>
            </a:r>
            <a:r>
              <a:rPr lang="en" altLang="zh-CN" dirty="0"/>
              <a:t>Decode </a:t>
            </a:r>
            <a:r>
              <a:rPr lang="zh-CN" altLang="en-US" dirty="0"/>
              <a:t>阶段在计算强度和时延敏感性上存在差异，对算力、显存和显存带宽的需求并不一致；另一方面，多个子任务共享 </a:t>
            </a:r>
            <a:r>
              <a:rPr lang="en" altLang="zh-CN" dirty="0"/>
              <a:t>GPU </a:t>
            </a:r>
            <a:r>
              <a:rPr lang="zh-CN" altLang="en-US" dirty="0"/>
              <a:t>时，还需结合任务特征协调 </a:t>
            </a:r>
            <a:r>
              <a:rPr lang="en" altLang="zh-CN" dirty="0"/>
              <a:t>MPS SM </a:t>
            </a:r>
            <a:r>
              <a:rPr lang="zh-CN" altLang="en-US" dirty="0"/>
              <a:t>资源分配。再加上边缘环境中节点规模有限、网络条件受限以及容器集群拓扑与部署约束，使得该问题成为一个通信、计算与资源深度耦合的复杂调度问题。</a:t>
            </a:r>
            <a:endParaRPr lang="en-US" altLang="zh-CN" dirty="0"/>
          </a:p>
        </p:txBody>
      </p:sp>
      <p:sp>
        <p:nvSpPr>
          <p:cNvPr id="1048680" name="灯片编号占位符 3"/>
          <p:cNvSpPr>
            <a:spLocks noGrp="1"/>
          </p:cNvSpPr>
          <p:nvPr>
            <p:ph type="sldNum" sz="quarter" idx="5"/>
          </p:nvPr>
        </p:nvSpPr>
        <p:spPr/>
        <p:txBody>
          <a:bodyPr/>
          <a:lstStyle/>
          <a:p>
            <a:fld id="{2AD02A4A-2F78-42A2-8BB5-4E355942CA26}"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幻灯片图像占位符 1"/>
          <p:cNvSpPr>
            <a:spLocks noGrp="1" noRot="1" noChangeAspect="1"/>
          </p:cNvSpPr>
          <p:nvPr>
            <p:ph type="sldImg"/>
          </p:nvPr>
        </p:nvSpPr>
        <p:spPr/>
      </p:sp>
      <p:sp>
        <p:nvSpPr>
          <p:cNvPr id="1048709" name="备注占位符 2"/>
          <p:cNvSpPr>
            <a:spLocks noGrp="1"/>
          </p:cNvSpPr>
          <p:nvPr>
            <p:ph type="body" idx="1"/>
          </p:nvPr>
        </p:nvSpPr>
        <p:spPr/>
        <p:txBody>
          <a:bodyPr/>
          <a:lstStyle/>
          <a:p>
            <a:r>
              <a:rPr lang="zh-CN" altLang="en-US" dirty="0"/>
              <a:t>针对大模型推理性能优化，现有研究已经提出了 </a:t>
            </a:r>
            <a:r>
              <a:rPr lang="en" altLang="zh-CN" dirty="0" err="1"/>
              <a:t>vLLM</a:t>
            </a:r>
            <a:r>
              <a:rPr lang="zh-CN" altLang="en" dirty="0"/>
              <a:t>、</a:t>
            </a:r>
            <a:r>
              <a:rPr lang="en" altLang="zh-CN" dirty="0" err="1"/>
              <a:t>SGLang</a:t>
            </a:r>
            <a:r>
              <a:rPr lang="en" altLang="zh-CN" dirty="0"/>
              <a:t> </a:t>
            </a:r>
            <a:r>
              <a:rPr lang="zh-CN" altLang="en-US" dirty="0"/>
              <a:t>，等推理系统，通过 </a:t>
            </a:r>
            <a:r>
              <a:rPr lang="en" altLang="zh-CN" dirty="0"/>
              <a:t>KV Cache </a:t>
            </a:r>
            <a:r>
              <a:rPr lang="zh-CN" altLang="en-US" dirty="0"/>
              <a:t>管理、动态批处理和执行流程优化，在提升吞吐和降低延迟方面取得了较好效果。以及</a:t>
            </a:r>
            <a:r>
              <a:rPr lang="en-US" altLang="zh-CN" dirty="0"/>
              <a:t>TGS</a:t>
            </a:r>
            <a:r>
              <a:rPr lang="zh-CN" altLang="en-US" dirty="0"/>
              <a:t> </a:t>
            </a:r>
            <a:r>
              <a:rPr lang="en-US" altLang="zh-CN" dirty="0"/>
              <a:t>GPU</a:t>
            </a:r>
            <a:r>
              <a:rPr lang="zh-CN" altLang="en-US" dirty="0"/>
              <a:t>共享系统但是，这类方法的重点主要放在推理执行层面或单机推理放置优化，对于跨节点任务调度和通信行为优化关注不足。</a:t>
            </a:r>
            <a:br>
              <a:rPr lang="en-US" altLang="zh-CN" dirty="0"/>
            </a:br>
            <a:endParaRPr lang="zh-CN" altLang="en-US" b="1" dirty="0"/>
          </a:p>
        </p:txBody>
      </p:sp>
      <p:sp>
        <p:nvSpPr>
          <p:cNvPr id="1048710" name="灯片编号占位符 3"/>
          <p:cNvSpPr>
            <a:spLocks noGrp="1"/>
          </p:cNvSpPr>
          <p:nvPr>
            <p:ph type="sldNum" sz="quarter" idx="5"/>
          </p:nvPr>
        </p:nvSpPr>
        <p:spPr/>
        <p:txBody>
          <a:bodyPr/>
          <a:lstStyle/>
          <a:p>
            <a:fld id="{2AD02A4A-2F78-42A2-8BB5-4E355942CA26}"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3ADCE-95C4-9BD3-BFED-39C58B0A9CC7}"/>
            </a:ext>
          </a:extLst>
        </p:cNvPr>
        <p:cNvGrpSpPr/>
        <p:nvPr/>
      </p:nvGrpSpPr>
      <p:grpSpPr>
        <a:xfrm>
          <a:off x="0" y="0"/>
          <a:ext cx="0" cy="0"/>
          <a:chOff x="0" y="0"/>
          <a:chExt cx="0" cy="0"/>
        </a:xfrm>
      </p:grpSpPr>
      <p:sp>
        <p:nvSpPr>
          <p:cNvPr id="1048708" name="幻灯片图像占位符 1">
            <a:extLst>
              <a:ext uri="{FF2B5EF4-FFF2-40B4-BE49-F238E27FC236}">
                <a16:creationId xmlns:a16="http://schemas.microsoft.com/office/drawing/2014/main" id="{F95E4252-2F44-A757-0DFB-11ECF2B76A95}"/>
              </a:ext>
            </a:extLst>
          </p:cNvPr>
          <p:cNvSpPr>
            <a:spLocks noGrp="1" noRot="1" noChangeAspect="1"/>
          </p:cNvSpPr>
          <p:nvPr>
            <p:ph type="sldImg"/>
          </p:nvPr>
        </p:nvSpPr>
        <p:spPr/>
      </p:sp>
      <p:sp>
        <p:nvSpPr>
          <p:cNvPr id="1048709" name="备注占位符 2">
            <a:extLst>
              <a:ext uri="{FF2B5EF4-FFF2-40B4-BE49-F238E27FC236}">
                <a16:creationId xmlns:a16="http://schemas.microsoft.com/office/drawing/2014/main" id="{DC4C66C9-EA6F-6805-C9B9-18F2AE710D57}"/>
              </a:ext>
            </a:extLst>
          </p:cNvPr>
          <p:cNvSpPr>
            <a:spLocks noGrp="1"/>
          </p:cNvSpPr>
          <p:nvPr>
            <p:ph type="body" idx="1"/>
          </p:nvPr>
        </p:nvSpPr>
        <p:spPr/>
        <p:txBody>
          <a:bodyPr/>
          <a:lstStyle/>
          <a:p>
            <a:r>
              <a:rPr lang="zh-CN" altLang="en-US" dirty="0"/>
              <a:t>另一方面，在容器化集群环境中，任务调度通常依赖 </a:t>
            </a:r>
            <a:r>
              <a:rPr lang="en" altLang="zh-CN" dirty="0"/>
              <a:t>Kubernetes </a:t>
            </a:r>
            <a:r>
              <a:rPr lang="zh-CN" altLang="en-US" dirty="0"/>
              <a:t>等通用调度器以及</a:t>
            </a:r>
            <a:r>
              <a:rPr lang="en-US" altLang="zh-CN" dirty="0"/>
              <a:t>INSS</a:t>
            </a:r>
            <a:r>
              <a:rPr lang="zh-CN" altLang="en-US" dirty="0"/>
              <a:t>智能调度方法，其决策更多依据 </a:t>
            </a:r>
            <a:r>
              <a:rPr lang="en" altLang="zh-CN" dirty="0"/>
              <a:t>CPU</a:t>
            </a:r>
            <a:r>
              <a:rPr lang="zh-CN" altLang="en" dirty="0"/>
              <a:t>、</a:t>
            </a:r>
            <a:r>
              <a:rPr lang="en" altLang="zh-CN" dirty="0"/>
              <a:t>GPU </a:t>
            </a:r>
            <a:r>
              <a:rPr lang="zh-CN" altLang="en-US" dirty="0"/>
              <a:t>数量和节点利用率等粗粒度指标，缺乏对推理阶段特征、通信依赖关系以及 </a:t>
            </a:r>
            <a:r>
              <a:rPr lang="en" altLang="zh-CN" dirty="0"/>
              <a:t>GPU </a:t>
            </a:r>
            <a:r>
              <a:rPr lang="zh-CN" altLang="en-US" dirty="0"/>
              <a:t>细粒度资源需求的感知能力。因此，面向边缘环境的大模型分布式推理调度方法的研究是必要的，具备一定工程价值。</a:t>
            </a:r>
            <a:endParaRPr lang="zh-CN" altLang="en-US" b="1" dirty="0"/>
          </a:p>
        </p:txBody>
      </p:sp>
      <p:sp>
        <p:nvSpPr>
          <p:cNvPr id="1048710" name="灯片编号占位符 3">
            <a:extLst>
              <a:ext uri="{FF2B5EF4-FFF2-40B4-BE49-F238E27FC236}">
                <a16:creationId xmlns:a16="http://schemas.microsoft.com/office/drawing/2014/main" id="{CF559C7E-7983-B3BA-3656-B59FAE8A67B8}"/>
              </a:ext>
            </a:extLst>
          </p:cNvPr>
          <p:cNvSpPr>
            <a:spLocks noGrp="1"/>
          </p:cNvSpPr>
          <p:nvPr>
            <p:ph type="sldNum" sz="quarter" idx="5"/>
          </p:nvPr>
        </p:nvSpPr>
        <p:spPr/>
        <p:txBody>
          <a:bodyPr/>
          <a:lstStyle/>
          <a:p>
            <a:fld id="{2AD02A4A-2F78-42A2-8BB5-4E355942CA26}" type="slidenum">
              <a:rPr lang="zh-CN" altLang="en-US" smtClean="0"/>
              <a:t>7</a:t>
            </a:fld>
            <a:endParaRPr lang="zh-CN" altLang="en-US"/>
          </a:p>
        </p:txBody>
      </p:sp>
    </p:spTree>
    <p:extLst>
      <p:ext uri="{BB962C8B-B14F-4D97-AF65-F5344CB8AC3E}">
        <p14:creationId xmlns:p14="http://schemas.microsoft.com/office/powerpoint/2010/main" val="4159673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6" name="幻灯片图像占位符 1"/>
          <p:cNvSpPr>
            <a:spLocks noGrp="1" noRot="1" noChangeAspect="1"/>
          </p:cNvSpPr>
          <p:nvPr>
            <p:ph type="sldImg"/>
          </p:nvPr>
        </p:nvSpPr>
        <p:spPr/>
      </p:sp>
      <p:sp>
        <p:nvSpPr>
          <p:cNvPr id="1048747" name="备注占位符 2"/>
          <p:cNvSpPr>
            <a:spLocks noGrp="1"/>
          </p:cNvSpPr>
          <p:nvPr>
            <p:ph type="body" idx="1"/>
          </p:nvPr>
        </p:nvSpPr>
        <p:spPr/>
        <p:txBody>
          <a:bodyPr/>
          <a:lstStyle/>
          <a:p>
            <a:r>
              <a:rPr lang="zh-CN" altLang="en-US" dirty="0"/>
              <a:t>接下来来介绍分布式推理任务在容器化场景下的挑战，</a:t>
            </a:r>
            <a:r>
              <a:rPr lang="zh-CN" altLang="en-US" b="1" dirty="0"/>
              <a:t>首先，分布式推理任务在容器化场景下面临通信模式难以感知与预测的挑战。</a:t>
            </a:r>
            <a:r>
              <a:rPr lang="zh-CN" altLang="en-US" dirty="0"/>
              <a:t>这是因为大模型推理本身通信行为复杂：</a:t>
            </a:r>
            <a:r>
              <a:rPr lang="en" altLang="zh-CN" dirty="0"/>
              <a:t>Prefill </a:t>
            </a:r>
            <a:r>
              <a:rPr lang="zh-CN" altLang="en-US" dirty="0"/>
              <a:t>阶段计算密集，</a:t>
            </a:r>
            <a:r>
              <a:rPr lang="en" altLang="zh-CN" dirty="0"/>
              <a:t>Decode </a:t>
            </a:r>
            <a:r>
              <a:rPr lang="zh-CN" altLang="en-US" dirty="0"/>
              <a:t>阶段时延敏感，两者对通信与部署的需求并不相同；同时，不同任务还可能采用张量并行、流水线并行或 </a:t>
            </a:r>
            <a:r>
              <a:rPr lang="en" altLang="zh-CN" dirty="0"/>
              <a:t>Prefill–Decode </a:t>
            </a:r>
            <a:r>
              <a:rPr lang="zh-CN" altLang="en-US" dirty="0"/>
              <a:t>分离等不同并行方式，导致通信规模、频率和拓扑存在明显差异。现有调度器缺乏对这些通信模式的有效刻画，因而难以在调度前做出合理放置，进而增加通信开销并影响整体推理性能。</a:t>
            </a:r>
            <a:endParaRPr lang="en-US" altLang="zh-CN" dirty="0"/>
          </a:p>
        </p:txBody>
      </p:sp>
      <p:sp>
        <p:nvSpPr>
          <p:cNvPr id="1048748" name="灯片编号占位符 3"/>
          <p:cNvSpPr>
            <a:spLocks noGrp="1"/>
          </p:cNvSpPr>
          <p:nvPr>
            <p:ph type="sldNum" sz="quarter" idx="5"/>
          </p:nvPr>
        </p:nvSpPr>
        <p:spPr/>
        <p:txBody>
          <a:bodyPr/>
          <a:lstStyle/>
          <a:p>
            <a:fld id="{2AD02A4A-2F78-42A2-8BB5-4E355942CA26}"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1" name="幻灯片图像占位符 1"/>
          <p:cNvSpPr>
            <a:spLocks noGrp="1" noRot="1" noChangeAspect="1"/>
          </p:cNvSpPr>
          <p:nvPr>
            <p:ph type="sldImg"/>
          </p:nvPr>
        </p:nvSpPr>
        <p:spPr/>
      </p:sp>
      <p:sp>
        <p:nvSpPr>
          <p:cNvPr id="1048762" name="备注占位符 2"/>
          <p:cNvSpPr>
            <a:spLocks noGrp="1"/>
          </p:cNvSpPr>
          <p:nvPr>
            <p:ph type="body" idx="1"/>
          </p:nvPr>
        </p:nvSpPr>
        <p:spPr/>
        <p:txBody>
          <a:bodyPr/>
          <a:lstStyle/>
          <a:p>
            <a:r>
              <a:rPr lang="zh-CN" altLang="en-US" dirty="0"/>
              <a:t>第二个挑战，</a:t>
            </a:r>
            <a:r>
              <a:rPr lang="en" altLang="zh-CN" b="1" dirty="0"/>
              <a:t>GPU</a:t>
            </a:r>
            <a:r>
              <a:rPr lang="zh-CN" altLang="en-US" b="1" dirty="0"/>
              <a:t>共享环境下资源竞争导致性能与利用率难以平衡。</a:t>
            </a:r>
            <a:r>
              <a:rPr lang="zh-CN" altLang="en-US" dirty="0"/>
              <a:t>在边缘环境中，因为 </a:t>
            </a:r>
            <a:r>
              <a:rPr lang="en" altLang="zh-CN" dirty="0"/>
              <a:t>GPU </a:t>
            </a:r>
            <a:r>
              <a:rPr lang="zh-CN" altLang="en-US" dirty="0"/>
              <a:t>资源相对有限，多个推理任务或者说分布式的推理子任务的切片在同一张</a:t>
            </a:r>
            <a:r>
              <a:rPr lang="en-US" altLang="zh-CN" dirty="0"/>
              <a:t>GPU</a:t>
            </a:r>
            <a:r>
              <a:rPr lang="zh-CN" altLang="en-US" dirty="0"/>
              <a:t>上共驻运行就成为提升设备利用率的重要方式，但这也带来了更复杂的资源竞争问题。因为不同推理任务在算力需求、显存占用、显存带宽需求和等方面存在明显差异，当多个任务同时运行时，容易在</a:t>
            </a:r>
            <a:r>
              <a:rPr lang="en" altLang="zh-CN" dirty="0"/>
              <a:t>SM</a:t>
            </a:r>
            <a:r>
              <a:rPr lang="zh-CN" altLang="en" dirty="0"/>
              <a:t>、</a:t>
            </a:r>
            <a:r>
              <a:rPr lang="zh-CN" altLang="en-US" dirty="0"/>
              <a:t>显存容量等关键资源上产生干扰，导致任务时延上升和性能退化。这是第二点挑战</a:t>
            </a:r>
            <a:endParaRPr lang="en-US" altLang="zh-CN" dirty="0"/>
          </a:p>
        </p:txBody>
      </p:sp>
      <p:sp>
        <p:nvSpPr>
          <p:cNvPr id="1048763" name="灯片编号占位符 3"/>
          <p:cNvSpPr>
            <a:spLocks noGrp="1"/>
          </p:cNvSpPr>
          <p:nvPr>
            <p:ph type="sldNum" sz="quarter" idx="5"/>
          </p:nvPr>
        </p:nvSpPr>
        <p:spPr/>
        <p:txBody>
          <a:bodyPr/>
          <a:lstStyle/>
          <a:p>
            <a:fld id="{2AD02A4A-2F78-42A2-8BB5-4E355942CA26}"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幻灯片图像占位符 1"/>
          <p:cNvSpPr>
            <a:spLocks noGrp="1" noRot="1" noChangeAspect="1"/>
          </p:cNvSpPr>
          <p:nvPr>
            <p:ph type="sldImg"/>
          </p:nvPr>
        </p:nvSpPr>
        <p:spPr/>
      </p:sp>
      <p:sp>
        <p:nvSpPr>
          <p:cNvPr id="104878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dirty="0"/>
              <a:t>本研究的总体目标是提升分布式推理服务的运行性能和资源利用率。围绕这一目标，理论上重点解决两类问题：一是分布式推理任务的通信感知与代价预测，二是 </a:t>
            </a:r>
            <a:r>
              <a:rPr lang="en" altLang="zh-CN" dirty="0"/>
              <a:t>GPU </a:t>
            </a:r>
            <a:r>
              <a:rPr lang="zh-CN" altLang="en-US" dirty="0"/>
              <a:t>共享环境下的资源协同调度。最终，构建一个面向边缘场景、基于 </a:t>
            </a:r>
            <a:r>
              <a:rPr lang="en" altLang="zh-CN" dirty="0"/>
              <a:t>k3s </a:t>
            </a:r>
            <a:r>
              <a:rPr lang="zh-CN" altLang="en-US" dirty="0"/>
              <a:t>的分布式推理调度系统。实现任务部署与资源分配的协同优化。</a:t>
            </a:r>
            <a:endParaRPr lang="en-US" altLang="zh-CN" dirty="0">
              <a:solidFill>
                <a:schemeClr val="bg1"/>
              </a:solidFill>
            </a:endParaRPr>
          </a:p>
        </p:txBody>
      </p:sp>
      <p:sp>
        <p:nvSpPr>
          <p:cNvPr id="1048781" name="灯片编号占位符 3"/>
          <p:cNvSpPr>
            <a:spLocks noGrp="1"/>
          </p:cNvSpPr>
          <p:nvPr>
            <p:ph type="sldNum" sz="quarter" idx="5"/>
          </p:nvPr>
        </p:nvSpPr>
        <p:spPr/>
        <p:txBody>
          <a:bodyPr/>
          <a:lstStyle/>
          <a:p>
            <a:fld id="{2AD02A4A-2F78-42A2-8BB5-4E355942CA26}"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5" name="幻灯片图像占位符 1"/>
          <p:cNvSpPr>
            <a:spLocks noGrp="1" noRot="1" noChangeAspect="1"/>
          </p:cNvSpPr>
          <p:nvPr>
            <p:ph type="sldImg"/>
          </p:nvPr>
        </p:nvSpPr>
        <p:spPr/>
      </p:sp>
      <p:sp>
        <p:nvSpPr>
          <p:cNvPr id="1048806"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dirty="0"/>
              <a:t>围绕上述目标，研究内容主要分为两个方面。</a:t>
            </a:r>
            <a:br>
              <a:rPr lang="zh-CN" altLang="en-US" dirty="0"/>
            </a:br>
            <a:r>
              <a:rPr lang="zh-CN" altLang="en-US" dirty="0"/>
              <a:t>第一，面向通信感知能力，研究分布式推理任务的通信模式抽取与代价预测，包括通信需求分析、通信代价建模，以及通信时延拟合，为任务部署提供依据。</a:t>
            </a:r>
            <a:br>
              <a:rPr lang="zh-CN" altLang="en-US" dirty="0"/>
            </a:br>
            <a:r>
              <a:rPr lang="zh-CN" altLang="en-US" dirty="0"/>
              <a:t>第二，面向资源调度能力，研究通信感知与细粒度资源协同调度机制，包括分布式任务放置策略和基于任务特征的 </a:t>
            </a:r>
            <a:r>
              <a:rPr lang="en" altLang="zh-CN" dirty="0"/>
              <a:t>GPU </a:t>
            </a:r>
            <a:r>
              <a:rPr lang="zh-CN" altLang="en-US" dirty="0"/>
              <a:t>细粒度资源分配方法。</a:t>
            </a:r>
            <a:br>
              <a:rPr lang="zh-CN" altLang="en-US" dirty="0"/>
            </a:br>
            <a:r>
              <a:rPr lang="zh-CN" altLang="en-US" dirty="0"/>
              <a:t>在此基础上，最终实现一个面向边缘场景的 </a:t>
            </a:r>
            <a:r>
              <a:rPr lang="en" altLang="zh-CN" dirty="0"/>
              <a:t>k3s </a:t>
            </a:r>
            <a:r>
              <a:rPr lang="zh-CN" altLang="en-US" dirty="0"/>
              <a:t>分布式推理调度系统。</a:t>
            </a:r>
          </a:p>
        </p:txBody>
      </p:sp>
      <p:sp>
        <p:nvSpPr>
          <p:cNvPr id="1048807" name="灯片编号占位符 3"/>
          <p:cNvSpPr>
            <a:spLocks noGrp="1"/>
          </p:cNvSpPr>
          <p:nvPr>
            <p:ph type="sldNum" sz="quarter" idx="5"/>
          </p:nvPr>
        </p:nvSpPr>
        <p:spPr/>
        <p:txBody>
          <a:bodyPr/>
          <a:lstStyle/>
          <a:p>
            <a:fld id="{2AD02A4A-2F78-42A2-8BB5-4E355942CA26}"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0" name="幻灯片图像占位符 1"/>
          <p:cNvSpPr>
            <a:spLocks noGrp="1" noRot="1" noChangeAspect="1"/>
          </p:cNvSpPr>
          <p:nvPr>
            <p:ph type="sldImg"/>
          </p:nvPr>
        </p:nvSpPr>
        <p:spPr/>
      </p:sp>
      <p:sp>
        <p:nvSpPr>
          <p:cNvPr id="1048811" name="备注占位符 2"/>
          <p:cNvSpPr>
            <a:spLocks noGrp="1"/>
          </p:cNvSpPr>
          <p:nvPr>
            <p:ph type="body" idx="1"/>
          </p:nvPr>
        </p:nvSpPr>
        <p:spPr/>
        <p:txBody>
          <a:bodyPr/>
          <a:lstStyle/>
          <a:p>
            <a:endParaRPr lang="zh-CN" altLang="en-US"/>
          </a:p>
        </p:txBody>
      </p:sp>
      <p:sp>
        <p:nvSpPr>
          <p:cNvPr id="1048812"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2AD02A4A-2F78-42A2-8BB5-4E355942CA2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9" name="幻灯片图像占位符 1"/>
          <p:cNvSpPr>
            <a:spLocks noGrp="1" noRot="1" noChangeAspect="1"/>
          </p:cNvSpPr>
          <p:nvPr>
            <p:ph type="sldImg"/>
          </p:nvPr>
        </p:nvSpPr>
        <p:spPr/>
      </p:sp>
      <p:sp>
        <p:nvSpPr>
          <p:cNvPr id="1048870" name="灯片编号占位符 3"/>
          <p:cNvSpPr>
            <a:spLocks noGrp="1"/>
          </p:cNvSpPr>
          <p:nvPr>
            <p:ph type="sldNum" sz="quarter" idx="5"/>
          </p:nvPr>
        </p:nvSpPr>
        <p:spPr/>
        <p:txBody>
          <a:bodyPr/>
          <a:lstStyle/>
          <a:p>
            <a:fld id="{2AD02A4A-2F78-42A2-8BB5-4E355942CA26}" type="slidenum">
              <a:rPr lang="zh-CN" altLang="en-US" smtClean="0"/>
              <a:t>14</a:t>
            </a:fld>
            <a:endParaRPr lang="zh-CN" altLang="en-US"/>
          </a:p>
        </p:txBody>
      </p:sp>
      <p:sp>
        <p:nvSpPr>
          <p:cNvPr id="1048871"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接下来介绍一下实施方案的技术路线，首先技术路线一</a:t>
            </a:r>
            <a:r>
              <a:rPr lang="zh-CN" altLang="en-US" sz="1200" b="1" dirty="0">
                <a:solidFill>
                  <a:schemeClr val="accent1"/>
                </a:solidFill>
              </a:rPr>
              <a:t>面向分布式推理任务的通信模式抽取与代价预测方法。</a:t>
            </a:r>
            <a:r>
              <a:rPr lang="zh-CN" altLang="en-US" dirty="0"/>
              <a:t>第一个子问题是在不考虑具体部署位置和网络条件的前提下，一个给定的推理任务本身会产生怎样的通信需求。首先采集分布式推理过程中的通信事件，并按照 </a:t>
            </a:r>
            <a:r>
              <a:rPr lang="en" altLang="zh-CN" dirty="0"/>
              <a:t>Prefill </a:t>
            </a:r>
            <a:r>
              <a:rPr lang="zh-CN" altLang="en-US" dirty="0"/>
              <a:t>和 </a:t>
            </a:r>
            <a:r>
              <a:rPr lang="en" altLang="zh-CN" dirty="0"/>
              <a:t>Decode </a:t>
            </a:r>
            <a:r>
              <a:rPr lang="zh-CN" altLang="en-US" dirty="0"/>
              <a:t>两个阶段以及 </a:t>
            </a:r>
            <a:r>
              <a:rPr lang="en" altLang="zh-CN" dirty="0" err="1"/>
              <a:t>AllReduce</a:t>
            </a:r>
            <a:r>
              <a:rPr lang="zh-CN" altLang="en" dirty="0"/>
              <a:t>、</a:t>
            </a:r>
            <a:r>
              <a:rPr lang="en" altLang="zh-CN" dirty="0" err="1"/>
              <a:t>AllGather</a:t>
            </a:r>
            <a:r>
              <a:rPr lang="zh-CN" altLang="en" dirty="0"/>
              <a:t>、</a:t>
            </a:r>
            <a:r>
              <a:rPr lang="en" altLang="zh-CN" dirty="0"/>
              <a:t>Send/</a:t>
            </a:r>
            <a:r>
              <a:rPr lang="en" altLang="zh-CN" dirty="0" err="1"/>
              <a:t>Recv</a:t>
            </a:r>
            <a:r>
              <a:rPr lang="en" altLang="zh-CN" dirty="0"/>
              <a:t> </a:t>
            </a:r>
            <a:r>
              <a:rPr lang="zh-CN" altLang="en-US" dirty="0"/>
              <a:t>等通信原语进行解析；然后进一步按小、中、大消息尺度进行分桶，</a:t>
            </a:r>
            <a:r>
              <a:rPr lang="zh-CN" altLang="en-US" b="1" dirty="0"/>
              <a:t>因为消息尺度不同，会导致通信在真实链路上呈现不同的有效带宽与等效时延特征。然后</a:t>
            </a:r>
            <a:r>
              <a:rPr lang="zh-CN" altLang="en-US" dirty="0"/>
              <a:t>进一步提取通信轮数和等效字节数等结构化特征来量化通信粒度和通信频率。最终，形成统一的通信需求向量，用于描述不同任务在不同配置下的通信模式。</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8" name="幻灯片图像占位符 1"/>
          <p:cNvSpPr>
            <a:spLocks noGrp="1" noRot="1" noChangeAspect="1"/>
          </p:cNvSpPr>
          <p:nvPr>
            <p:ph type="sldImg"/>
          </p:nvPr>
        </p:nvSpPr>
        <p:spPr/>
      </p:sp>
      <p:sp>
        <p:nvSpPr>
          <p:cNvPr id="1048879" name="灯片编号占位符 3"/>
          <p:cNvSpPr>
            <a:spLocks noGrp="1"/>
          </p:cNvSpPr>
          <p:nvPr>
            <p:ph type="sldNum" sz="quarter" idx="5"/>
          </p:nvPr>
        </p:nvSpPr>
        <p:spPr/>
        <p:txBody>
          <a:bodyPr/>
          <a:lstStyle/>
          <a:p>
            <a:fld id="{2AD02A4A-2F78-42A2-8BB5-4E355942CA26}" type="slidenum">
              <a:rPr lang="zh-CN" altLang="en-US" smtClean="0"/>
              <a:t>15</a:t>
            </a:fld>
            <a:endParaRPr lang="zh-CN" altLang="en-US"/>
          </a:p>
        </p:txBody>
      </p:sp>
      <p:sp>
        <p:nvSpPr>
          <p:cNvPr id="1048880" name="备注占位符 1"/>
          <p:cNvSpPr>
            <a:spLocks noGrp="1"/>
          </p:cNvSpPr>
          <p:nvPr>
            <p:ph type="body" idx="1"/>
          </p:nvPr>
        </p:nvSpPr>
        <p:spPr/>
        <p:txBody>
          <a:bodyPr/>
          <a:lstStyle/>
          <a:p>
            <a:r>
              <a:rPr lang="zh-CN" altLang="en-US" dirty="0"/>
              <a:t>技术路线一中的第二个子问题，在第一阶段得到任务通信需求后，还需要进一步回答：这些需求放到不同部署拓扑上，到底会花多少通信时间。本研究将候选部署位置划分为节点内、跨节点同机架和跨机架这些层级，分别测量不同消息尺度下的有效带宽和等效 </a:t>
            </a:r>
            <a:r>
              <a:rPr lang="en" altLang="zh-CN" dirty="0"/>
              <a:t>RTT</a:t>
            </a:r>
            <a:r>
              <a:rPr lang="zh-CN" altLang="en" dirty="0"/>
              <a:t>，</a:t>
            </a:r>
            <a:r>
              <a:rPr lang="zh-CN" altLang="en-US" dirty="0"/>
              <a:t>用于刻画不同拓扑关系下的链路开销。在此基础上，将前一阶段得到的通信需求向量与拓扑代价特征结合，引入深度神经网络拟合整体通信时间，从而实现对未直接测量场景的快速预测，因此技术路线一的完整解决思路在调度前得到真实集群网络的通信模式和通信代价预测，为调度器选择更优部署方案提供依据。</a:t>
            </a:r>
            <a:endParaRPr lang="en-US" altLang="zh-CN" dirty="0"/>
          </a:p>
          <a:p>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5"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技术路线二</a:t>
            </a:r>
            <a:r>
              <a:rPr lang="zh-CN" altLang="en-US" sz="1200" b="1" dirty="0">
                <a:solidFill>
                  <a:schemeClr val="accent1"/>
                </a:solidFill>
              </a:rPr>
              <a:t>的第一个子问题</a:t>
            </a:r>
            <a:r>
              <a:rPr lang="zh-CN" altLang="en-US" dirty="0"/>
              <a:t>在给定任务配置下，如何放置分布式推理实例从而降低系统通信开销</a:t>
            </a:r>
            <a:r>
              <a:rPr lang="zh-CN" altLang="en-US" b="1" dirty="0"/>
              <a:t>，</a:t>
            </a:r>
            <a:r>
              <a:rPr lang="zh-CN" altLang="en-US" dirty="0"/>
              <a:t>也就是集群级任务放置问题。对于一个分布式推理实例，在给定模型配置、并行方式和工作负载的条件下，实例被划分为多个并行子任务，这些子任务部署到不同 </a:t>
            </a:r>
            <a:r>
              <a:rPr lang="en" altLang="zh-CN" dirty="0"/>
              <a:t>GPU </a:t>
            </a:r>
            <a:r>
              <a:rPr lang="zh-CN" altLang="en-US" dirty="0"/>
              <a:t>节点后，会形成不同的通信拓扑和跨节点开销。因此，第一阶段的目标是在满足唯一放置约束和节点资源约束的前提下，综合利用技术路线一部分得到的通信模式抽取结果与拓扑代价信息，对候选放置方案进行评估，并选择总预测通信时延最小的部署方案，降低分布式推理的跨节点通信开销，提升集群级整体执行效率。</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58"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dirty="0"/>
              <a:t>第二个子问题如何在节点内部协调多推理任务共驻下的 </a:t>
            </a:r>
            <a:r>
              <a:rPr lang="en" altLang="zh-CN" dirty="0"/>
              <a:t>GPU </a:t>
            </a:r>
            <a:r>
              <a:rPr lang="zh-CN" altLang="en-US" dirty="0"/>
              <a:t>资源竞争，也就是节点级 </a:t>
            </a:r>
            <a:r>
              <a:rPr lang="en" altLang="zh-CN" dirty="0"/>
              <a:t>GPU </a:t>
            </a:r>
            <a:r>
              <a:rPr lang="zh-CN" altLang="en-US" dirty="0"/>
              <a:t>细粒度资源分配问题。首先利用模型特征、工作负载特征以及 选的</a:t>
            </a:r>
            <a:r>
              <a:rPr lang="en" altLang="zh-CN" dirty="0"/>
              <a:t>MPS/SM </a:t>
            </a:r>
            <a:r>
              <a:rPr lang="zh-CN" altLang="en-US" dirty="0"/>
              <a:t>资源比例构建任务执行时延预测模型，并以此评估不同资源配置下的性能表现。在满足节点内 </a:t>
            </a:r>
            <a:r>
              <a:rPr lang="en" altLang="zh-CN" dirty="0"/>
              <a:t>SM </a:t>
            </a:r>
            <a:r>
              <a:rPr lang="zh-CN" altLang="en-US" dirty="0"/>
              <a:t>总量约束的前提下，优化多任务之间的资源分配比例，使节点内任务的总加权执行时延最小，从而缓解资源竞争并提升节点级执行效率。由此，技术路线二的完整解决思路是进行通信感知和细粒度</a:t>
            </a:r>
            <a:r>
              <a:rPr lang="en-US" altLang="zh-CN" dirty="0"/>
              <a:t>SM</a:t>
            </a:r>
            <a:r>
              <a:rPr lang="zh-CN" altLang="en-US" dirty="0"/>
              <a:t>资源分配优化的协同调度，从而实现资源利用率与推理性能的平衡</a:t>
            </a:r>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6" name="幻灯片图像占位符 1"/>
          <p:cNvSpPr>
            <a:spLocks noGrp="1" noRot="1" noChangeAspect="1"/>
          </p:cNvSpPr>
          <p:nvPr>
            <p:ph type="sldImg"/>
          </p:nvPr>
        </p:nvSpPr>
        <p:spPr/>
      </p:sp>
      <p:sp>
        <p:nvSpPr>
          <p:cNvPr id="1048967"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最后，基于上述技术路线，本研究设计了一套</a:t>
            </a:r>
            <a:r>
              <a:rPr lang="zh-CN" altLang="zh-CN" sz="1200" b="1" dirty="0">
                <a:solidFill>
                  <a:schemeClr val="accent1"/>
                </a:solidFill>
              </a:rPr>
              <a:t>边缘场景下基于</a:t>
            </a:r>
            <a:r>
              <a:rPr lang="en-US" altLang="zh-CN" sz="1200" b="1" dirty="0">
                <a:solidFill>
                  <a:schemeClr val="accent1"/>
                </a:solidFill>
              </a:rPr>
              <a:t>k3s</a:t>
            </a:r>
            <a:r>
              <a:rPr lang="zh-CN" altLang="zh-CN" sz="1200" b="1" dirty="0">
                <a:solidFill>
                  <a:schemeClr val="accent1"/>
                </a:solidFill>
              </a:rPr>
              <a:t>的分布式推理调度</a:t>
            </a:r>
            <a:r>
              <a:rPr lang="zh-CN" altLang="en-US" sz="1200" b="1" dirty="0">
                <a:solidFill>
                  <a:schemeClr val="accent1"/>
                </a:solidFill>
              </a:rPr>
              <a:t>系统，</a:t>
            </a:r>
            <a:r>
              <a:rPr lang="zh-CN" altLang="en-US" dirty="0"/>
              <a:t>任务输入与特征构建模块 收集模型配置、工作负载、并行配置以及候选拓扑和候选 </a:t>
            </a:r>
            <a:r>
              <a:rPr lang="en" altLang="zh-CN" dirty="0"/>
              <a:t>SM </a:t>
            </a:r>
            <a:r>
              <a:rPr lang="zh-CN" altLang="en-US" dirty="0"/>
              <a:t>比例等信息，形成统一的调度特征表示；通信模式抽取与代价预测模块，在调度前刻画任务通信需求，对分布式推理任务的通信事件进行结构化建模与代价预测。通信感知与细粒度资源协同调度</a:t>
            </a:r>
            <a:r>
              <a:rPr lang="zh-CN" altLang="zh-CN" dirty="0"/>
              <a:t>模块</a:t>
            </a:r>
            <a:r>
              <a:rPr lang="zh-CN" altLang="en-US" dirty="0"/>
              <a:t>在集群级利用通信时延预测模型优化实例部署位置，在节点级利用执行时延预测模型优化 </a:t>
            </a:r>
            <a:r>
              <a:rPr lang="en" altLang="zh-CN" dirty="0"/>
              <a:t>GPU </a:t>
            </a:r>
            <a:r>
              <a:rPr lang="zh-CN" altLang="en-US" dirty="0"/>
              <a:t>细粒度资源分配；最后，运行监测与反馈更新模块持续采集实际通信延迟、任务执行时延和 </a:t>
            </a:r>
            <a:r>
              <a:rPr lang="en" altLang="zh-CN" dirty="0"/>
              <a:t>GPU </a:t>
            </a:r>
            <a:r>
              <a:rPr lang="zh-CN" altLang="en-US" dirty="0"/>
              <a:t>资源利用率等运行信息，对模型和调度参数进行迭代更新，从而形成闭环优化机制。</a:t>
            </a:r>
            <a:endParaRPr lang="en-US" altLang="zh-CN" dirty="0"/>
          </a:p>
        </p:txBody>
      </p:sp>
      <p:sp>
        <p:nvSpPr>
          <p:cNvPr id="1048968" name="灯片编号占位符 3"/>
          <p:cNvSpPr>
            <a:spLocks noGrp="1"/>
          </p:cNvSpPr>
          <p:nvPr>
            <p:ph type="sldNum" sz="quarter" idx="5"/>
          </p:nvPr>
        </p:nvSpPr>
        <p:spPr/>
        <p:txBody>
          <a:bodyPr/>
          <a:lstStyle/>
          <a:p>
            <a:fld id="{2AD02A4A-2F78-42A2-8BB5-4E355942CA26}"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4" name="幻灯片图像占位符 1"/>
          <p:cNvSpPr>
            <a:spLocks noGrp="1" noRot="1" noChangeAspect="1"/>
          </p:cNvSpPr>
          <p:nvPr>
            <p:ph type="sldImg"/>
          </p:nvPr>
        </p:nvSpPr>
        <p:spPr/>
      </p:sp>
      <p:sp>
        <p:nvSpPr>
          <p:cNvPr id="1048985"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solidFill>
                <a:schemeClr val="bg1"/>
              </a:solidFill>
            </a:endParaRPr>
          </a:p>
        </p:txBody>
      </p:sp>
      <p:sp>
        <p:nvSpPr>
          <p:cNvPr id="1048986" name="灯片编号占位符 3"/>
          <p:cNvSpPr>
            <a:spLocks noGrp="1"/>
          </p:cNvSpPr>
          <p:nvPr>
            <p:ph type="sldNum" sz="quarter" idx="5"/>
          </p:nvPr>
        </p:nvSpPr>
        <p:spPr/>
        <p:txBody>
          <a:bodyPr/>
          <a:lstStyle/>
          <a:p>
            <a:fld id="{2AD02A4A-2F78-42A2-8BB5-4E355942CA26}" type="slidenum">
              <a:rPr lang="zh-CN" altLang="en-US" smtClean="0"/>
              <a:t>20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4" name="幻灯片图像占位符 1"/>
          <p:cNvSpPr>
            <a:spLocks noGrp="1" noRot="1" noChangeAspect="1"/>
          </p:cNvSpPr>
          <p:nvPr>
            <p:ph type="sldImg"/>
          </p:nvPr>
        </p:nvSpPr>
        <p:spPr/>
      </p:sp>
      <p:sp>
        <p:nvSpPr>
          <p:cNvPr id="1048985"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chemeClr val="bg1"/>
                </a:solidFill>
              </a:rPr>
              <a:t>本研究首先对</a:t>
            </a:r>
            <a:r>
              <a:rPr lang="zh-CN" altLang="en-US" dirty="0"/>
              <a:t>通信模式建模和代价预测方法的进行了可行性验证。实验基于 </a:t>
            </a:r>
            <a:r>
              <a:rPr lang="en" altLang="zh-CN" dirty="0"/>
              <a:t>Llama-2-7B</a:t>
            </a:r>
            <a:r>
              <a:rPr lang="zh-CN" altLang="en" dirty="0"/>
              <a:t>、</a:t>
            </a:r>
            <a:r>
              <a:rPr lang="en" altLang="zh-CN" dirty="0"/>
              <a:t>TP=4 </a:t>
            </a:r>
            <a:r>
              <a:rPr lang="zh-CN" altLang="en-US" dirty="0"/>
              <a:t>和 </a:t>
            </a:r>
            <a:r>
              <a:rPr lang="en" altLang="zh-CN" dirty="0" err="1"/>
              <a:t>SGLang</a:t>
            </a:r>
            <a:r>
              <a:rPr lang="en" altLang="zh-CN" dirty="0"/>
              <a:t> </a:t>
            </a:r>
            <a:r>
              <a:rPr lang="zh-CN" altLang="en-US" dirty="0"/>
              <a:t>搭建。</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bg1"/>
                </a:solidFill>
              </a:rPr>
              <a:t>Prefill</a:t>
            </a:r>
            <a:r>
              <a:rPr lang="zh-CN" altLang="en-US" dirty="0">
                <a:solidFill>
                  <a:schemeClr val="bg1"/>
                </a:solidFill>
              </a:rPr>
              <a:t>时延热力图说明</a:t>
            </a:r>
            <a:r>
              <a:rPr lang="en" altLang="zh-CN" sz="1200" b="0" i="0" kern="1200" dirty="0">
                <a:solidFill>
                  <a:schemeClr val="tx1"/>
                </a:solidFill>
                <a:effectLst/>
                <a:latin typeface="+mn-lt"/>
                <a:ea typeface="+mn-ea"/>
                <a:cs typeface="+mn-cs"/>
              </a:rPr>
              <a:t>Prefill </a:t>
            </a:r>
            <a:r>
              <a:rPr lang="zh-CN" altLang="en-US" sz="1200" b="0" i="0" kern="1200" dirty="0">
                <a:solidFill>
                  <a:schemeClr val="tx1"/>
                </a:solidFill>
                <a:effectLst/>
                <a:latin typeface="+mn-lt"/>
                <a:ea typeface="+mn-ea"/>
                <a:cs typeface="+mn-cs"/>
              </a:rPr>
              <a:t>时延主要受输入长度驱动，说明长 </a:t>
            </a:r>
            <a:r>
              <a:rPr lang="en" altLang="zh-CN" sz="1200" b="0" i="0" kern="1200" dirty="0">
                <a:solidFill>
                  <a:schemeClr val="tx1"/>
                </a:solidFill>
                <a:effectLst/>
                <a:latin typeface="+mn-lt"/>
                <a:ea typeface="+mn-ea"/>
                <a:cs typeface="+mn-cs"/>
              </a:rPr>
              <a:t>prompt </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prefill</a:t>
            </a:r>
            <a:r>
              <a:rPr lang="zh-CN" altLang="en-US" sz="1200" b="0" i="0" kern="1200" dirty="0">
                <a:solidFill>
                  <a:schemeClr val="tx1"/>
                </a:solidFill>
                <a:effectLst/>
                <a:latin typeface="+mn-lt"/>
                <a:ea typeface="+mn-ea"/>
                <a:cs typeface="+mn-cs"/>
              </a:rPr>
              <a:t>阶段的主要开销来源。</a:t>
            </a:r>
            <a:r>
              <a:rPr lang="en" altLang="zh-CN" sz="1200" b="1" i="0" kern="1200" dirty="0">
                <a:solidFill>
                  <a:schemeClr val="tx1"/>
                </a:solidFill>
                <a:effectLst/>
                <a:latin typeface="+mn-lt"/>
                <a:ea typeface="+mn-ea"/>
                <a:cs typeface="+mn-cs"/>
              </a:rPr>
              <a:t>Decode </a:t>
            </a:r>
            <a:r>
              <a:rPr lang="zh-CN" altLang="en-US" sz="1200" b="1" i="0" kern="1200" dirty="0">
                <a:solidFill>
                  <a:schemeClr val="tx1"/>
                </a:solidFill>
                <a:effectLst/>
                <a:latin typeface="+mn-lt"/>
                <a:ea typeface="+mn-ea"/>
                <a:cs typeface="+mn-cs"/>
              </a:rPr>
              <a:t>单 </a:t>
            </a:r>
            <a:r>
              <a:rPr lang="en" altLang="zh-CN" sz="1200" b="1" i="0" kern="1200" dirty="0">
                <a:solidFill>
                  <a:schemeClr val="tx1"/>
                </a:solidFill>
                <a:effectLst/>
                <a:latin typeface="+mn-lt"/>
                <a:ea typeface="+mn-ea"/>
                <a:cs typeface="+mn-cs"/>
              </a:rPr>
              <a:t>token </a:t>
            </a:r>
            <a:r>
              <a:rPr lang="zh-CN" altLang="en-US" sz="1200" b="1" i="0" kern="1200" dirty="0">
                <a:solidFill>
                  <a:schemeClr val="tx1"/>
                </a:solidFill>
                <a:effectLst/>
                <a:latin typeface="+mn-lt"/>
                <a:ea typeface="+mn-ea"/>
                <a:cs typeface="+mn-cs"/>
              </a:rPr>
              <a:t>时延热力图</a:t>
            </a:r>
            <a:r>
              <a:rPr lang="zh-CN" altLang="en-US" sz="1200" b="0" i="0" kern="1200" dirty="0">
                <a:solidFill>
                  <a:schemeClr val="tx1"/>
                </a:solidFill>
                <a:effectLst/>
                <a:latin typeface="+mn-lt"/>
                <a:ea typeface="+mn-ea"/>
                <a:cs typeface="+mn-cs"/>
              </a:rPr>
              <a:t>整体比较均匀，说明</a:t>
            </a:r>
            <a:r>
              <a:rPr lang="en" altLang="zh-CN" sz="1200" b="0" i="0" kern="1200" dirty="0">
                <a:solidFill>
                  <a:schemeClr val="tx1"/>
                </a:solidFill>
                <a:effectLst/>
                <a:latin typeface="+mn-lt"/>
                <a:ea typeface="+mn-ea"/>
                <a:cs typeface="+mn-cs"/>
              </a:rPr>
              <a:t>decode </a:t>
            </a:r>
            <a:r>
              <a:rPr lang="zh-CN" altLang="en-US" sz="1200" b="0" i="0" kern="1200" dirty="0">
                <a:solidFill>
                  <a:schemeClr val="tx1"/>
                </a:solidFill>
                <a:effectLst/>
                <a:latin typeface="+mn-lt"/>
                <a:ea typeface="+mn-ea"/>
                <a:cs typeface="+mn-cs"/>
              </a:rPr>
              <a:t>单步时延比较稳定，</a:t>
            </a:r>
            <a:r>
              <a:rPr lang="en-US" altLang="zh-CN" sz="1200" b="0" i="0" kern="1200" dirty="0">
                <a:solidFill>
                  <a:schemeClr val="tx1"/>
                </a:solidFill>
                <a:effectLst/>
                <a:latin typeface="+mn-lt"/>
                <a:ea typeface="+mn-ea"/>
                <a:cs typeface="+mn-cs"/>
              </a:rPr>
              <a:t>decode</a:t>
            </a:r>
            <a:r>
              <a:rPr lang="zh-CN" altLang="en-US" sz="1200" b="0" i="0" kern="1200" dirty="0">
                <a:solidFill>
                  <a:schemeClr val="tx1"/>
                </a:solidFill>
                <a:effectLst/>
                <a:latin typeface="+mn-lt"/>
                <a:ea typeface="+mn-ea"/>
                <a:cs typeface="+mn-cs"/>
              </a:rPr>
              <a:t>阶段更接近固定迭代成本</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Decode</a:t>
            </a:r>
            <a:r>
              <a:rPr lang="zh-CN" altLang="en-US" dirty="0"/>
              <a:t> 总时延热力图说明</a:t>
            </a:r>
            <a:r>
              <a:rPr lang="en" altLang="zh-CN" sz="1200" b="0" i="0" kern="1200" dirty="0">
                <a:solidFill>
                  <a:schemeClr val="tx1"/>
                </a:solidFill>
                <a:effectLst/>
                <a:latin typeface="+mn-lt"/>
                <a:ea typeface="+mn-ea"/>
                <a:cs typeface="+mn-cs"/>
              </a:rPr>
              <a:t> decode </a:t>
            </a:r>
            <a:r>
              <a:rPr lang="zh-CN" altLang="en-US" sz="1200" b="0" i="0" kern="1200" dirty="0">
                <a:solidFill>
                  <a:schemeClr val="tx1"/>
                </a:solidFill>
                <a:effectLst/>
                <a:latin typeface="+mn-lt"/>
                <a:ea typeface="+mn-ea"/>
                <a:cs typeface="+mn-cs"/>
              </a:rPr>
              <a:t>时延会随输出长度增加而近似线性增长，说明长输出请求会显著拉长生成阶段总耗时。</a:t>
            </a:r>
          </a:p>
          <a:p>
            <a:r>
              <a:rPr lang="zh-CN" altLang="en-US" dirty="0"/>
              <a:t>结果表明，推理过程具有清晰的阶段性差异，能够支持后续按 </a:t>
            </a:r>
            <a:r>
              <a:rPr lang="en" altLang="zh-CN" dirty="0"/>
              <a:t>Prefill </a:t>
            </a:r>
            <a:r>
              <a:rPr lang="zh-CN" altLang="en-US" dirty="0"/>
              <a:t>和 </a:t>
            </a:r>
            <a:r>
              <a:rPr lang="en" altLang="zh-CN" dirty="0"/>
              <a:t>Decode </a:t>
            </a:r>
            <a:r>
              <a:rPr lang="zh-CN" altLang="en-US" dirty="0"/>
              <a:t>分阶段进行通信建模与调度优化。</a:t>
            </a:r>
            <a:br>
              <a:rPr lang="en-US" altLang="zh-CN" dirty="0">
                <a:solidFill>
                  <a:schemeClr val="bg1"/>
                </a:solidFill>
              </a:rPr>
            </a:br>
            <a:br>
              <a:rPr lang="en-US" altLang="zh-CN" sz="1200" b="0" i="0" kern="1200" dirty="0">
                <a:solidFill>
                  <a:schemeClr val="tx1"/>
                </a:solidFill>
                <a:effectLst/>
                <a:latin typeface="+mn-lt"/>
                <a:ea typeface="+mn-ea"/>
                <a:cs typeface="+mn-cs"/>
              </a:rPr>
            </a:br>
            <a:br>
              <a:rPr lang="zh-CN" altLang="en-US" dirty="0"/>
            </a:br>
            <a:r>
              <a:rPr lang="zh-CN" altLang="en-US" dirty="0"/>
              <a:t>这个不用放，内部交流就行，删掉</a:t>
            </a:r>
            <a:endParaRPr lang="zh-CN" altLang="en-US" dirty="0">
              <a:solidFill>
                <a:schemeClr val="bg1"/>
              </a:solidFill>
            </a:endParaRPr>
          </a:p>
        </p:txBody>
      </p:sp>
      <p:sp>
        <p:nvSpPr>
          <p:cNvPr id="1048986" name="灯片编号占位符 3"/>
          <p:cNvSpPr>
            <a:spLocks noGrp="1"/>
          </p:cNvSpPr>
          <p:nvPr>
            <p:ph type="sldNum" sz="quarter" idx="5"/>
          </p:nvPr>
        </p:nvSpPr>
        <p:spPr/>
        <p:txBody>
          <a:bodyPr/>
          <a:lstStyle/>
          <a:p>
            <a:fld id="{2AD02A4A-2F78-42A2-8BB5-4E355942CA26}" type="slidenum">
              <a:rPr lang="zh-CN" altLang="en-US" smtClean="0"/>
              <a:t>21</a:t>
            </a:fld>
            <a:endParaRPr lang="zh-CN" altLang="en-US"/>
          </a:p>
        </p:txBody>
      </p:sp>
    </p:spTree>
    <p:extLst>
      <p:ext uri="{BB962C8B-B14F-4D97-AF65-F5344CB8AC3E}">
        <p14:creationId xmlns:p14="http://schemas.microsoft.com/office/powerpoint/2010/main" val="3845989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4" name="幻灯片图像占位符 1"/>
          <p:cNvSpPr>
            <a:spLocks noGrp="1" noRot="1" noChangeAspect="1"/>
          </p:cNvSpPr>
          <p:nvPr>
            <p:ph type="sldImg"/>
          </p:nvPr>
        </p:nvSpPr>
        <p:spPr/>
      </p:sp>
      <p:sp>
        <p:nvSpPr>
          <p:cNvPr id="1048995" name="备注占位符 2"/>
          <p:cNvSpPr>
            <a:spLocks noGrp="1"/>
          </p:cNvSpPr>
          <p:nvPr>
            <p:ph type="body" idx="1"/>
          </p:nvPr>
        </p:nvSpPr>
        <p:spPr/>
        <p:txBody>
          <a:bodyPr/>
          <a:lstStyle/>
          <a:p>
            <a:endParaRPr lang="zh-CN" altLang="en-US"/>
          </a:p>
        </p:txBody>
      </p:sp>
      <p:sp>
        <p:nvSpPr>
          <p:cNvPr id="1048996" name="灯片编号占位符 3"/>
          <p:cNvSpPr>
            <a:spLocks noGrp="1"/>
          </p:cNvSpPr>
          <p:nvPr>
            <p:ph type="sldNum" sz="quarter" idx="5"/>
          </p:nvPr>
        </p:nvSpPr>
        <p:spPr/>
        <p:txBody>
          <a:bodyPr/>
          <a:lstStyle/>
          <a:p>
            <a:fld id="{2AD02A4A-2F78-42A2-8BB5-4E355942CA26}" type="slidenum">
              <a:rPr lang="zh-CN" altLang="en-US" smtClean="0"/>
              <a:t>22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97173" name="图片 10" descr="图片包含 树, 户外, 建筑物, 道路  自动生成的说明"/>
          <p:cNvPicPr>
            <a:picLocks noChangeAspect="1"/>
          </p:cNvPicPr>
          <p:nvPr userDrawn="1"/>
        </p:nvPicPr>
        <p:blipFill rotWithShape="1">
          <a:blip r:embed="rId2">
            <a:alphaModFix amt="15000"/>
          </a:blip>
          <a:srcRect t="7878" r="35125" b="7878"/>
          <a:stretch>
            <a:fillRect/>
          </a:stretch>
        </p:blipFill>
        <p:spPr>
          <a:xfrm>
            <a:off x="4282440" y="0"/>
            <a:ext cx="7909560" cy="6858000"/>
          </a:xfrm>
          <a:prstGeom prst="rect">
            <a:avLst/>
          </a:prstGeom>
        </p:spPr>
      </p:pic>
      <p:sp>
        <p:nvSpPr>
          <p:cNvPr id="1048681" name="矩形 11"/>
          <p:cNvSpPr/>
          <p:nvPr userDrawn="1"/>
        </p:nvSpPr>
        <p:spPr>
          <a:xfrm>
            <a:off x="0" y="0"/>
            <a:ext cx="12192000" cy="6858000"/>
          </a:xfrm>
          <a:prstGeom prst="rect">
            <a:avLst/>
          </a:prstGeom>
          <a:gradFill flip="none" rotWithShape="1">
            <a:gsLst>
              <a:gs pos="32000">
                <a:schemeClr val="bg1"/>
              </a:gs>
              <a:gs pos="100000">
                <a:schemeClr val="bg1">
                  <a:alpha val="0"/>
                </a:schemeClr>
              </a:gs>
            </a:gsLst>
            <a:lin ang="0" scaled="1"/>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0" name="组合 13"/>
          <p:cNvGrpSpPr/>
          <p:nvPr userDrawn="1"/>
        </p:nvGrpSpPr>
        <p:grpSpPr>
          <a:xfrm>
            <a:off x="10402823" y="853956"/>
            <a:ext cx="1875342" cy="6834393"/>
            <a:chOff x="10402823" y="853956"/>
            <a:chExt cx="1875342" cy="6834393"/>
          </a:xfrm>
        </p:grpSpPr>
        <p:sp>
          <p:nvSpPr>
            <p:cNvPr id="1048682" name="任意多边形: 形状 14"/>
            <p:cNvSpPr/>
            <p:nvPr userDrawn="1"/>
          </p:nvSpPr>
          <p:spPr>
            <a:xfrm rot="17975649">
              <a:off x="7764318" y="3492461"/>
              <a:ext cx="6834393" cy="1557383"/>
            </a:xfrm>
            <a:custGeom>
              <a:avLst/>
              <a:gdLst>
                <a:gd name="connsiteX0" fmla="*/ 4887162 w 6834393"/>
                <a:gd name="connsiteY0" fmla="*/ 1105918 h 1557383"/>
                <a:gd name="connsiteX1" fmla="*/ 4092251 w 6834393"/>
                <a:gd name="connsiteY1" fmla="*/ 1557383 h 1557383"/>
                <a:gd name="connsiteX2" fmla="*/ 884506 w 6834393"/>
                <a:gd name="connsiteY2" fmla="*/ 1557383 h 1557383"/>
                <a:gd name="connsiteX3" fmla="*/ 628100 w 6834393"/>
                <a:gd name="connsiteY3" fmla="*/ 1105918 h 1557383"/>
                <a:gd name="connsiteX4" fmla="*/ 6834393 w 6834393"/>
                <a:gd name="connsiteY4" fmla="*/ 0 h 1557383"/>
                <a:gd name="connsiteX5" fmla="*/ 6039483 w 6834393"/>
                <a:gd name="connsiteY5" fmla="*/ 451465 h 1557383"/>
                <a:gd name="connsiteX6" fmla="*/ 256407 w 6834393"/>
                <a:gd name="connsiteY6" fmla="*/ 451465 h 1557383"/>
                <a:gd name="connsiteX7" fmla="*/ 0 w 6834393"/>
                <a:gd name="connsiteY7" fmla="*/ 0 h 1557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4393" h="1557383">
                  <a:moveTo>
                    <a:pt x="4887162" y="1105918"/>
                  </a:moveTo>
                  <a:lnTo>
                    <a:pt x="4092251" y="1557383"/>
                  </a:lnTo>
                  <a:lnTo>
                    <a:pt x="884506" y="1557383"/>
                  </a:lnTo>
                  <a:lnTo>
                    <a:pt x="628100" y="1105918"/>
                  </a:lnTo>
                  <a:close/>
                  <a:moveTo>
                    <a:pt x="6834393" y="0"/>
                  </a:moveTo>
                  <a:lnTo>
                    <a:pt x="6039483" y="451465"/>
                  </a:lnTo>
                  <a:lnTo>
                    <a:pt x="256407" y="45146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048683" name="任意多边形: 形状 15"/>
            <p:cNvSpPr/>
            <p:nvPr userDrawn="1"/>
          </p:nvSpPr>
          <p:spPr>
            <a:xfrm rot="17975649">
              <a:off x="8726108" y="4052302"/>
              <a:ext cx="5546729" cy="1557384"/>
            </a:xfrm>
            <a:custGeom>
              <a:avLst/>
              <a:gdLst>
                <a:gd name="connsiteX0" fmla="*/ 3599499 w 5546729"/>
                <a:gd name="connsiteY0" fmla="*/ 1105919 h 1557384"/>
                <a:gd name="connsiteX1" fmla="*/ 2804588 w 5546729"/>
                <a:gd name="connsiteY1" fmla="*/ 1557384 h 1557384"/>
                <a:gd name="connsiteX2" fmla="*/ 884507 w 5546729"/>
                <a:gd name="connsiteY2" fmla="*/ 1557383 h 1557384"/>
                <a:gd name="connsiteX3" fmla="*/ 628100 w 5546729"/>
                <a:gd name="connsiteY3" fmla="*/ 1105919 h 1557384"/>
                <a:gd name="connsiteX4" fmla="*/ 5546729 w 5546729"/>
                <a:gd name="connsiteY4" fmla="*/ 1 h 1557384"/>
                <a:gd name="connsiteX5" fmla="*/ 4751818 w 5546729"/>
                <a:gd name="connsiteY5" fmla="*/ 451466 h 1557384"/>
                <a:gd name="connsiteX6" fmla="*/ 256407 w 5546729"/>
                <a:gd name="connsiteY6" fmla="*/ 451465 h 1557384"/>
                <a:gd name="connsiteX7" fmla="*/ 0 w 5546729"/>
                <a:gd name="connsiteY7" fmla="*/ 0 h 155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46729" h="1557384">
                  <a:moveTo>
                    <a:pt x="3599499" y="1105919"/>
                  </a:moveTo>
                  <a:lnTo>
                    <a:pt x="2804588" y="1557384"/>
                  </a:lnTo>
                  <a:lnTo>
                    <a:pt x="884507" y="1557383"/>
                  </a:lnTo>
                  <a:lnTo>
                    <a:pt x="628100" y="1105919"/>
                  </a:lnTo>
                  <a:close/>
                  <a:moveTo>
                    <a:pt x="5546729" y="1"/>
                  </a:moveTo>
                  <a:lnTo>
                    <a:pt x="4751818" y="451466"/>
                  </a:lnTo>
                  <a:lnTo>
                    <a:pt x="256407" y="45146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pic>
        <p:nvPicPr>
          <p:cNvPr id="2097174" name="图片 16" descr="图片包含 树, 户外, 建筑物, 道路  自动生成的说明"/>
          <p:cNvPicPr>
            <a:picLocks noChangeAspect="1"/>
          </p:cNvPicPr>
          <p:nvPr userDrawn="1"/>
        </p:nvPicPr>
        <p:blipFill rotWithShape="1">
          <a:blip r:embed="rId2"/>
          <a:srcRect l="7353" t="7878" r="35125" b="7878"/>
          <a:stretch>
            <a:fillRect/>
          </a:stretch>
        </p:blipFill>
        <p:spPr>
          <a:xfrm>
            <a:off x="5178924" y="0"/>
            <a:ext cx="7013076" cy="6858000"/>
          </a:xfrm>
          <a:custGeom>
            <a:avLst/>
            <a:gdLst>
              <a:gd name="connsiteX0" fmla="*/ 3877363 w 7013076"/>
              <a:gd name="connsiteY0" fmla="*/ 0 h 6858000"/>
              <a:gd name="connsiteX1" fmla="*/ 7013076 w 7013076"/>
              <a:gd name="connsiteY1" fmla="*/ 0 h 6858000"/>
              <a:gd name="connsiteX2" fmla="*/ 7013076 w 7013076"/>
              <a:gd name="connsiteY2" fmla="*/ 692654 h 6858000"/>
              <a:gd name="connsiteX3" fmla="*/ 3527325 w 7013076"/>
              <a:gd name="connsiteY3" fmla="*/ 6858000 h 6858000"/>
              <a:gd name="connsiteX4" fmla="*/ 0 w 701307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076" h="6858000">
                <a:moveTo>
                  <a:pt x="3877363" y="0"/>
                </a:moveTo>
                <a:lnTo>
                  <a:pt x="7013076" y="0"/>
                </a:lnTo>
                <a:lnTo>
                  <a:pt x="7013076" y="692654"/>
                </a:lnTo>
                <a:lnTo>
                  <a:pt x="3527325" y="6858000"/>
                </a:lnTo>
                <a:lnTo>
                  <a:pt x="0" y="6858000"/>
                </a:lnTo>
                <a:close/>
              </a:path>
            </a:pathLst>
          </a:custGeom>
        </p:spPr>
      </p:pic>
      <p:cxnSp>
        <p:nvCxnSpPr>
          <p:cNvPr id="3145736" name="直接连接符 21"/>
          <p:cNvCxnSpPr>
            <a:cxnSpLocks/>
          </p:cNvCxnSpPr>
          <p:nvPr userDrawn="1"/>
        </p:nvCxnSpPr>
        <p:spPr>
          <a:xfrm>
            <a:off x="667503" y="4839800"/>
            <a:ext cx="493268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175" name="图片 22"/>
          <p:cNvPicPr>
            <a:picLocks noChangeAspect="1"/>
          </p:cNvPicPr>
          <p:nvPr userDrawn="1"/>
        </p:nvPicPr>
        <p:blipFill>
          <a:blip r:embed="rId3" cstate="print"/>
          <a:stretch>
            <a:fillRect/>
          </a:stretch>
        </p:blipFill>
        <p:spPr>
          <a:xfrm>
            <a:off x="660400" y="312015"/>
            <a:ext cx="1375700" cy="437285"/>
          </a:xfrm>
          <a:prstGeom prst="rect">
            <a:avLst/>
          </a:prstGeom>
        </p:spPr>
      </p:pic>
      <p:sp>
        <p:nvSpPr>
          <p:cNvPr id="1048684" name="文本占位符 25"/>
          <p:cNvSpPr>
            <a:spLocks noGrp="1"/>
          </p:cNvSpPr>
          <p:nvPr>
            <p:ph type="body" sz="quarter" idx="10" hasCustomPrompt="1"/>
          </p:nvPr>
        </p:nvSpPr>
        <p:spPr>
          <a:xfrm>
            <a:off x="667503" y="2749690"/>
            <a:ext cx="5798382" cy="878840"/>
          </a:xfrm>
          <a:prstGeom prst="rect">
            <a:avLst/>
          </a:prstGeom>
        </p:spPr>
        <p:txBody>
          <a:bodyPr lIns="0">
            <a:noAutofit/>
          </a:bodyPr>
          <a:lstStyle>
            <a:lvl1pPr marL="0" indent="0">
              <a:lnSpc>
                <a:spcPct val="100000"/>
              </a:lnSpc>
              <a:buNone/>
              <a:defRPr sz="5400" b="1" spc="100" baseline="0">
                <a:solidFill>
                  <a:schemeClr val="accent1"/>
                </a:solidFill>
                <a:latin typeface="+mj-ea"/>
                <a:ea typeface="+mj-ea"/>
              </a:defRPr>
            </a:lvl1pPr>
          </a:lstStyle>
          <a:p>
            <a:pPr lvl="0"/>
            <a:r>
              <a:rPr lang="zh-CN" altLang="en-US" dirty="0"/>
              <a:t>请输入你的大标题</a:t>
            </a:r>
            <a:endParaRPr lang="en-US" altLang="zh-CN" dirty="0"/>
          </a:p>
        </p:txBody>
      </p:sp>
      <p:sp>
        <p:nvSpPr>
          <p:cNvPr id="1048685" name="文本占位符 25"/>
          <p:cNvSpPr>
            <a:spLocks noGrp="1"/>
          </p:cNvSpPr>
          <p:nvPr>
            <p:ph type="body" sz="quarter" idx="11" hasCustomPrompt="1"/>
          </p:nvPr>
        </p:nvSpPr>
        <p:spPr>
          <a:xfrm>
            <a:off x="667503" y="1869834"/>
            <a:ext cx="5798382" cy="878840"/>
          </a:xfrm>
          <a:prstGeom prst="rect">
            <a:avLst/>
          </a:prstGeom>
        </p:spPr>
        <p:txBody>
          <a:bodyPr lIns="0">
            <a:noAutofit/>
          </a:bodyPr>
          <a:lstStyle>
            <a:lvl1pPr marL="0" indent="0">
              <a:lnSpc>
                <a:spcPct val="100000"/>
              </a:lnSpc>
              <a:buNone/>
              <a:defRPr sz="5400" b="0" spc="100" baseline="0">
                <a:latin typeface="+mj-ea"/>
                <a:ea typeface="+mj-ea"/>
              </a:defRPr>
            </a:lvl1pPr>
          </a:lstStyle>
          <a:p>
            <a:pPr lvl="0"/>
            <a:r>
              <a:rPr lang="zh-CN" altLang="en-US" dirty="0"/>
              <a:t>请输入答辩类型</a:t>
            </a:r>
            <a:endParaRPr lang="en-US" altLang="zh-CN" dirty="0"/>
          </a:p>
        </p:txBody>
      </p:sp>
      <p:sp>
        <p:nvSpPr>
          <p:cNvPr id="1048686" name="文本占位符 28"/>
          <p:cNvSpPr>
            <a:spLocks noGrp="1"/>
          </p:cNvSpPr>
          <p:nvPr>
            <p:ph type="body" sz="quarter" idx="12" hasCustomPrompt="1"/>
          </p:nvPr>
        </p:nvSpPr>
        <p:spPr>
          <a:xfrm>
            <a:off x="667503" y="3641672"/>
            <a:ext cx="5798382" cy="286232"/>
          </a:xfrm>
          <a:prstGeom prst="rect">
            <a:avLst/>
          </a:prstGeom>
        </p:spPr>
        <p:txBody>
          <a:bodyPr lIns="0">
            <a:spAutoFit/>
          </a:bodyPr>
          <a:lstStyle>
            <a:lvl1pPr marL="0" indent="0">
              <a:lnSpc>
                <a:spcPct val="100000"/>
              </a:lnSpc>
              <a:buNone/>
              <a:defRPr sz="1200" spc="550" baseline="0">
                <a:solidFill>
                  <a:schemeClr val="bg1">
                    <a:lumMod val="75000"/>
                  </a:schemeClr>
                </a:solidFill>
                <a:latin typeface="+mj-lt"/>
              </a:defRPr>
            </a:lvl1pPr>
          </a:lstStyle>
          <a:p>
            <a:pPr lvl="0"/>
            <a:r>
              <a:rPr lang="en-US" altLang="zh-CN" dirty="0"/>
              <a:t>Supporting Your Text Here</a:t>
            </a:r>
          </a:p>
        </p:txBody>
      </p:sp>
      <p:sp>
        <p:nvSpPr>
          <p:cNvPr id="1048687" name="日期占位符 4"/>
          <p:cNvSpPr>
            <a:spLocks noGrp="1"/>
          </p:cNvSpPr>
          <p:nvPr>
            <p:ph type="dt" sz="half" idx="1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2097163" name="图片 5"/>
          <p:cNvPicPr>
            <a:picLocks noChangeAspect="1"/>
          </p:cNvPicPr>
          <p:nvPr userDrawn="1"/>
        </p:nvPicPr>
        <p:blipFill rotWithShape="1">
          <a:blip r:embed="rId2">
            <a:alphaModFix amt="10000"/>
          </a:blip>
          <a:srcRect t="7878" b="7878"/>
          <a:stretch>
            <a:fillRect/>
          </a:stretch>
        </p:blipFill>
        <p:spPr>
          <a:xfrm>
            <a:off x="0" y="0"/>
            <a:ext cx="12192000" cy="6858000"/>
          </a:xfrm>
          <a:prstGeom prst="rect">
            <a:avLst/>
          </a:prstGeom>
        </p:spPr>
      </p:pic>
      <p:sp>
        <p:nvSpPr>
          <p:cNvPr id="1048612" name="任意多边形: 形状 17"/>
          <p:cNvSpPr/>
          <p:nvPr userDrawn="1"/>
        </p:nvSpPr>
        <p:spPr>
          <a:xfrm>
            <a:off x="0" y="0"/>
            <a:ext cx="5953266" cy="6858000"/>
          </a:xfrm>
          <a:custGeom>
            <a:avLst/>
            <a:gdLst>
              <a:gd name="connsiteX0" fmla="*/ 0 w 5953266"/>
              <a:gd name="connsiteY0" fmla="*/ 0 h 6858000"/>
              <a:gd name="connsiteX1" fmla="*/ 4026732 w 5953266"/>
              <a:gd name="connsiteY1" fmla="*/ 0 h 6858000"/>
              <a:gd name="connsiteX2" fmla="*/ 4359910 w 5953266"/>
              <a:gd name="connsiteY2" fmla="*/ 252902 h 6858000"/>
              <a:gd name="connsiteX3" fmla="*/ 5953266 w 5953266"/>
              <a:gd name="connsiteY3" fmla="*/ 3682471 h 6858000"/>
              <a:gd name="connsiteX4" fmla="*/ 4670843 w 5953266"/>
              <a:gd name="connsiteY4" fmla="*/ 6825186 h 6858000"/>
              <a:gd name="connsiteX5" fmla="*/ 4635274 w 5953266"/>
              <a:gd name="connsiteY5" fmla="*/ 6858000 h 6858000"/>
              <a:gd name="connsiteX6" fmla="*/ 0 w 59532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53266" h="6858000">
                <a:moveTo>
                  <a:pt x="0" y="0"/>
                </a:moveTo>
                <a:lnTo>
                  <a:pt x="4026732" y="0"/>
                </a:lnTo>
                <a:lnTo>
                  <a:pt x="4359910" y="252902"/>
                </a:lnTo>
                <a:cubicBezTo>
                  <a:pt x="5333013" y="1068083"/>
                  <a:pt x="5953266" y="2301751"/>
                  <a:pt x="5953266" y="3682471"/>
                </a:cubicBezTo>
                <a:cubicBezTo>
                  <a:pt x="5953266" y="4909778"/>
                  <a:pt x="5463189" y="6020895"/>
                  <a:pt x="4670843" y="6825186"/>
                </a:cubicBezTo>
                <a:lnTo>
                  <a:pt x="4635274" y="6858000"/>
                </a:lnTo>
                <a:lnTo>
                  <a:pt x="0" y="6858000"/>
                </a:lnTo>
                <a:close/>
              </a:path>
            </a:pathLst>
          </a:custGeom>
          <a:solidFill>
            <a:schemeClr val="bg1">
              <a:alpha val="90000"/>
            </a:schemeClr>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2097164" name="图片 121"/>
          <p:cNvPicPr>
            <a:picLocks noChangeAspect="1"/>
          </p:cNvPicPr>
          <p:nvPr userDrawn="1"/>
        </p:nvPicPr>
        <p:blipFill>
          <a:blip r:embed="rId3"/>
          <a:srcRect l="35649" t="16934" b="16934"/>
          <a:stretch>
            <a:fillRect/>
          </a:stretch>
        </p:blipFill>
        <p:spPr>
          <a:xfrm>
            <a:off x="2" y="0"/>
            <a:ext cx="6677201" cy="6858000"/>
          </a:xfrm>
          <a:custGeom>
            <a:avLst/>
            <a:gdLst>
              <a:gd name="connsiteX0" fmla="*/ 0 w 6677201"/>
              <a:gd name="connsiteY0" fmla="*/ 0 h 6858000"/>
              <a:gd name="connsiteX1" fmla="*/ 6677201 w 6677201"/>
              <a:gd name="connsiteY1" fmla="*/ 0 h 6858000"/>
              <a:gd name="connsiteX2" fmla="*/ 6677201 w 6677201"/>
              <a:gd name="connsiteY2" fmla="*/ 6858000 h 6858000"/>
              <a:gd name="connsiteX3" fmla="*/ 0 w 66772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77201" h="6858000">
                <a:moveTo>
                  <a:pt x="0" y="0"/>
                </a:moveTo>
                <a:lnTo>
                  <a:pt x="6677201" y="0"/>
                </a:lnTo>
                <a:lnTo>
                  <a:pt x="6677201" y="6858000"/>
                </a:lnTo>
                <a:lnTo>
                  <a:pt x="0" y="6858000"/>
                </a:lnTo>
                <a:close/>
              </a:path>
            </a:pathLst>
          </a:custGeom>
        </p:spPr>
      </p:pic>
      <p:pic>
        <p:nvPicPr>
          <p:cNvPr id="2097165" name="图片 120"/>
          <p:cNvPicPr>
            <a:picLocks/>
          </p:cNvPicPr>
          <p:nvPr userDrawn="1"/>
        </p:nvPicPr>
        <p:blipFill>
          <a:blip r:embed="rId4" cstate="print">
            <a:alphaModFix amt="3000"/>
          </a:blip>
          <a:srcRect l="33973" t="9127" b="14811"/>
          <a:stretch>
            <a:fillRect/>
          </a:stretch>
        </p:blipFill>
        <p:spPr>
          <a:xfrm>
            <a:off x="0" y="0"/>
            <a:ext cx="5953266" cy="6858000"/>
          </a:xfrm>
          <a:custGeom>
            <a:avLst/>
            <a:gdLst>
              <a:gd name="connsiteX0" fmla="*/ 0 w 5953266"/>
              <a:gd name="connsiteY0" fmla="*/ 0 h 6858000"/>
              <a:gd name="connsiteX1" fmla="*/ 5953266 w 5953266"/>
              <a:gd name="connsiteY1" fmla="*/ 0 h 6858000"/>
              <a:gd name="connsiteX2" fmla="*/ 5953266 w 5953266"/>
              <a:gd name="connsiteY2" fmla="*/ 6858000 h 6858000"/>
              <a:gd name="connsiteX3" fmla="*/ 0 w 595326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53266" h="6858000">
                <a:moveTo>
                  <a:pt x="0" y="0"/>
                </a:moveTo>
                <a:lnTo>
                  <a:pt x="5953266" y="0"/>
                </a:lnTo>
                <a:lnTo>
                  <a:pt x="5953266" y="6858000"/>
                </a:lnTo>
                <a:lnTo>
                  <a:pt x="0" y="6858000"/>
                </a:lnTo>
                <a:close/>
              </a:path>
            </a:pathLst>
          </a:custGeom>
        </p:spPr>
      </p:pic>
      <p:sp>
        <p:nvSpPr>
          <p:cNvPr id="1048613" name="矩形 8"/>
          <p:cNvSpPr/>
          <p:nvPr userDrawn="1"/>
        </p:nvSpPr>
        <p:spPr>
          <a:xfrm>
            <a:off x="2122934" y="3082752"/>
            <a:ext cx="3024346" cy="1069340"/>
          </a:xfrm>
          <a:prstGeom prst="rect">
            <a:avLst/>
          </a:prstGeom>
        </p:spPr>
        <p:txBody>
          <a:bodyPr wrap="none" lIns="0">
            <a:spAutoFit/>
          </a:bodyPr>
          <a:lstStyle/>
          <a:p>
            <a:pPr lvl="0" algn="ctr"/>
            <a:r>
              <a:rPr lang="en-US" altLang="zh-CN" sz="6600" dirty="0">
                <a:solidFill>
                  <a:schemeClr val="bg1">
                    <a:lumMod val="75000"/>
                  </a:schemeClr>
                </a:solidFill>
              </a:rPr>
              <a:t>content</a:t>
            </a:r>
            <a:endParaRPr lang="zh-CN" altLang="en-US" sz="6600" dirty="0">
              <a:solidFill>
                <a:schemeClr val="bg1">
                  <a:lumMod val="75000"/>
                </a:schemeClr>
              </a:solidFill>
            </a:endParaRPr>
          </a:p>
        </p:txBody>
      </p:sp>
      <p:sp>
        <p:nvSpPr>
          <p:cNvPr id="1048614" name="矩形 9"/>
          <p:cNvSpPr/>
          <p:nvPr userDrawn="1"/>
        </p:nvSpPr>
        <p:spPr>
          <a:xfrm>
            <a:off x="2214374" y="3872827"/>
            <a:ext cx="2325409" cy="2590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4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1048615" name="文本框 10"/>
          <p:cNvSpPr txBox="1"/>
          <p:nvPr userDrawn="1"/>
        </p:nvSpPr>
        <p:spPr>
          <a:xfrm>
            <a:off x="2183589" y="2598003"/>
            <a:ext cx="1421481" cy="830997"/>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4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目录</a:t>
            </a:r>
          </a:p>
        </p:txBody>
      </p:sp>
      <p:sp>
        <p:nvSpPr>
          <p:cNvPr id="1048616" name="日期占位符 123"/>
          <p:cNvSpPr>
            <a:spLocks noGrp="1"/>
          </p:cNvSpPr>
          <p:nvPr>
            <p:ph type="dt" sz="half" idx="10"/>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2097166" name="图片 11"/>
          <p:cNvPicPr>
            <a:picLocks noChangeAspect="1"/>
          </p:cNvPicPr>
          <p:nvPr userDrawn="1"/>
        </p:nvPicPr>
        <p:blipFill>
          <a:blip r:embed="rId5" cstate="print"/>
          <a:stretch>
            <a:fillRect/>
          </a:stretch>
        </p:blipFill>
        <p:spPr>
          <a:xfrm>
            <a:off x="660400" y="312015"/>
            <a:ext cx="1375700" cy="43728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097152" name="图片 20"/>
          <p:cNvPicPr>
            <a:picLocks noChangeAspect="1"/>
          </p:cNvPicPr>
          <p:nvPr userDrawn="1"/>
        </p:nvPicPr>
        <p:blipFill rotWithShape="1">
          <a:blip r:embed="rId2">
            <a:alphaModFix amt="15000"/>
          </a:blip>
          <a:srcRect t="7878" r="37004" b="7878"/>
          <a:stretch>
            <a:fillRect/>
          </a:stretch>
        </p:blipFill>
        <p:spPr>
          <a:xfrm>
            <a:off x="4511550" y="0"/>
            <a:ext cx="7680450" cy="6858000"/>
          </a:xfrm>
          <a:prstGeom prst="rect">
            <a:avLst/>
          </a:prstGeom>
        </p:spPr>
      </p:pic>
      <p:sp>
        <p:nvSpPr>
          <p:cNvPr id="1048581" name="矩形 21"/>
          <p:cNvSpPr/>
          <p:nvPr userDrawn="1"/>
        </p:nvSpPr>
        <p:spPr>
          <a:xfrm>
            <a:off x="0" y="0"/>
            <a:ext cx="12192000" cy="6858000"/>
          </a:xfrm>
          <a:prstGeom prst="rect">
            <a:avLst/>
          </a:prstGeom>
          <a:gradFill flip="none" rotWithShape="1">
            <a:gsLst>
              <a:gs pos="35000">
                <a:schemeClr val="bg1"/>
              </a:gs>
              <a:gs pos="100000">
                <a:schemeClr val="bg1">
                  <a:alpha val="0"/>
                </a:schemeClr>
              </a:gs>
            </a:gsLst>
            <a:lin ang="0" scaled="1"/>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97153" name="图片 22"/>
          <p:cNvPicPr>
            <a:picLocks noChangeAspect="1"/>
          </p:cNvPicPr>
          <p:nvPr userDrawn="1"/>
        </p:nvPicPr>
        <p:blipFill rotWithShape="1">
          <a:blip r:embed="rId2"/>
          <a:srcRect l="6898" t="7878" r="36982" b="7878"/>
          <a:stretch>
            <a:fillRect/>
          </a:stretch>
        </p:blipFill>
        <p:spPr>
          <a:xfrm>
            <a:off x="5349870" y="0"/>
            <a:ext cx="6842131" cy="6858000"/>
          </a:xfrm>
          <a:custGeom>
            <a:avLst/>
            <a:gdLst>
              <a:gd name="connsiteX0" fmla="*/ 3866540 w 6842131"/>
              <a:gd name="connsiteY0" fmla="*/ 0 h 6858000"/>
              <a:gd name="connsiteX1" fmla="*/ 6842131 w 6842131"/>
              <a:gd name="connsiteY1" fmla="*/ 0 h 6858000"/>
              <a:gd name="connsiteX2" fmla="*/ 6842131 w 6842131"/>
              <a:gd name="connsiteY2" fmla="*/ 2518051 h 6858000"/>
              <a:gd name="connsiteX3" fmla="*/ 4395268 w 6842131"/>
              <a:gd name="connsiteY3" fmla="*/ 6858000 h 6858000"/>
              <a:gd name="connsiteX4" fmla="*/ 0 w 6842131"/>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131" h="6858000">
                <a:moveTo>
                  <a:pt x="3866540" y="0"/>
                </a:moveTo>
                <a:lnTo>
                  <a:pt x="6842131" y="0"/>
                </a:lnTo>
                <a:lnTo>
                  <a:pt x="6842131" y="2518051"/>
                </a:lnTo>
                <a:lnTo>
                  <a:pt x="4395268" y="6858000"/>
                </a:lnTo>
                <a:lnTo>
                  <a:pt x="0" y="6858000"/>
                </a:lnTo>
                <a:close/>
              </a:path>
            </a:pathLst>
          </a:custGeom>
        </p:spPr>
      </p:pic>
      <p:grpSp>
        <p:nvGrpSpPr>
          <p:cNvPr id="33" name="组合 30"/>
          <p:cNvGrpSpPr/>
          <p:nvPr userDrawn="1"/>
        </p:nvGrpSpPr>
        <p:grpSpPr>
          <a:xfrm>
            <a:off x="5852864" y="578865"/>
            <a:ext cx="5910561" cy="8110350"/>
            <a:chOff x="5852864" y="578865"/>
            <a:chExt cx="5910561" cy="8110350"/>
          </a:xfrm>
        </p:grpSpPr>
        <p:sp>
          <p:nvSpPr>
            <p:cNvPr id="1048582" name="任意多边形: 形状 31"/>
            <p:cNvSpPr/>
            <p:nvPr/>
          </p:nvSpPr>
          <p:spPr>
            <a:xfrm rot="1764741">
              <a:off x="6434339" y="578865"/>
              <a:ext cx="5329086" cy="8110349"/>
            </a:xfrm>
            <a:custGeom>
              <a:avLst/>
              <a:gdLst>
                <a:gd name="connsiteX0" fmla="*/ 4907596 w 5329086"/>
                <a:gd name="connsiteY0" fmla="*/ 1735493 h 8110349"/>
                <a:gd name="connsiteX1" fmla="*/ 5329086 w 5329086"/>
                <a:gd name="connsiteY1" fmla="*/ 2483140 h 8110349"/>
                <a:gd name="connsiteX2" fmla="*/ 5329086 w 5329086"/>
                <a:gd name="connsiteY2" fmla="*/ 5106050 h 8110349"/>
                <a:gd name="connsiteX3" fmla="*/ 4907597 w 5329086"/>
                <a:gd name="connsiteY3" fmla="*/ 5343666 h 8110349"/>
                <a:gd name="connsiteX4" fmla="*/ 0 w 5329086"/>
                <a:gd name="connsiteY4" fmla="*/ 237617 h 8110349"/>
                <a:gd name="connsiteX5" fmla="*/ 421490 w 5329086"/>
                <a:gd name="connsiteY5" fmla="*/ 0 h 8110349"/>
                <a:gd name="connsiteX6" fmla="*/ 421489 w 5329086"/>
                <a:gd name="connsiteY6" fmla="*/ 7872732 h 8110349"/>
                <a:gd name="connsiteX7" fmla="*/ 0 w 5329086"/>
                <a:gd name="connsiteY7" fmla="*/ 8110349 h 81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9086" h="8110349">
                  <a:moveTo>
                    <a:pt x="4907596" y="1735493"/>
                  </a:moveTo>
                  <a:lnTo>
                    <a:pt x="5329086" y="2483140"/>
                  </a:lnTo>
                  <a:lnTo>
                    <a:pt x="5329086" y="5106050"/>
                  </a:lnTo>
                  <a:lnTo>
                    <a:pt x="4907597" y="5343666"/>
                  </a:lnTo>
                  <a:close/>
                  <a:moveTo>
                    <a:pt x="0" y="237617"/>
                  </a:moveTo>
                  <a:lnTo>
                    <a:pt x="421490" y="0"/>
                  </a:lnTo>
                  <a:lnTo>
                    <a:pt x="421489" y="7872732"/>
                  </a:lnTo>
                  <a:lnTo>
                    <a:pt x="0" y="811034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8583" name="任意多边形: 形状 32"/>
            <p:cNvSpPr/>
            <p:nvPr/>
          </p:nvSpPr>
          <p:spPr>
            <a:xfrm rot="1764741">
              <a:off x="5852864" y="578866"/>
              <a:ext cx="5329086" cy="8110349"/>
            </a:xfrm>
            <a:custGeom>
              <a:avLst/>
              <a:gdLst>
                <a:gd name="connsiteX0" fmla="*/ 4907597 w 5329086"/>
                <a:gd name="connsiteY0" fmla="*/ 551447 h 8110349"/>
                <a:gd name="connsiteX1" fmla="*/ 5329086 w 5329086"/>
                <a:gd name="connsiteY1" fmla="*/ 1299093 h 8110349"/>
                <a:gd name="connsiteX2" fmla="*/ 5329086 w 5329086"/>
                <a:gd name="connsiteY2" fmla="*/ 5106050 h 8110349"/>
                <a:gd name="connsiteX3" fmla="*/ 4907596 w 5329086"/>
                <a:gd name="connsiteY3" fmla="*/ 5343667 h 8110349"/>
                <a:gd name="connsiteX4" fmla="*/ 0 w 5329086"/>
                <a:gd name="connsiteY4" fmla="*/ 237617 h 8110349"/>
                <a:gd name="connsiteX5" fmla="*/ 421489 w 5329086"/>
                <a:gd name="connsiteY5" fmla="*/ 0 h 8110349"/>
                <a:gd name="connsiteX6" fmla="*/ 421489 w 5329086"/>
                <a:gd name="connsiteY6" fmla="*/ 7872732 h 8110349"/>
                <a:gd name="connsiteX7" fmla="*/ 0 w 5329086"/>
                <a:gd name="connsiteY7" fmla="*/ 8110349 h 81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9086" h="8110349">
                  <a:moveTo>
                    <a:pt x="4907597" y="551447"/>
                  </a:moveTo>
                  <a:lnTo>
                    <a:pt x="5329086" y="1299093"/>
                  </a:lnTo>
                  <a:lnTo>
                    <a:pt x="5329086" y="5106050"/>
                  </a:lnTo>
                  <a:lnTo>
                    <a:pt x="4907596" y="5343667"/>
                  </a:lnTo>
                  <a:close/>
                  <a:moveTo>
                    <a:pt x="0" y="237617"/>
                  </a:moveTo>
                  <a:lnTo>
                    <a:pt x="421489" y="0"/>
                  </a:lnTo>
                  <a:lnTo>
                    <a:pt x="421489" y="7872732"/>
                  </a:lnTo>
                  <a:lnTo>
                    <a:pt x="0" y="811034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sp>
        <p:nvSpPr>
          <p:cNvPr id="1048584" name="文本占位符 44"/>
          <p:cNvSpPr>
            <a:spLocks noGrp="1"/>
          </p:cNvSpPr>
          <p:nvPr>
            <p:ph type="body" sz="quarter" idx="10" hasCustomPrompt="1"/>
          </p:nvPr>
        </p:nvSpPr>
        <p:spPr>
          <a:xfrm>
            <a:off x="-1" y="4189677"/>
            <a:ext cx="5368944" cy="725488"/>
          </a:xfrm>
          <a:prstGeom prst="rect">
            <a:avLst/>
          </a:prstGeom>
        </p:spPr>
        <p:txBody>
          <a:bodyPr lIns="0" rIns="90000">
            <a:noAutofit/>
          </a:bodyPr>
          <a:lstStyle>
            <a:lvl1pPr marL="0" indent="0" algn="ctr">
              <a:lnSpc>
                <a:spcPct val="100000"/>
              </a:lnSpc>
              <a:buNone/>
              <a:defRPr sz="4400" b="1" spc="100" baseline="0">
                <a:solidFill>
                  <a:schemeClr val="accent1"/>
                </a:solidFill>
                <a:latin typeface="+mj-ea"/>
                <a:ea typeface="+mj-ea"/>
              </a:defRPr>
            </a:lvl1pPr>
          </a:lstStyle>
          <a:p>
            <a:pPr lvl="0"/>
            <a:r>
              <a:rPr lang="zh-CN" altLang="en-US" dirty="0"/>
              <a:t>请输入你的节标题</a:t>
            </a:r>
          </a:p>
        </p:txBody>
      </p:sp>
      <p:sp>
        <p:nvSpPr>
          <p:cNvPr id="1048585" name="文本占位符 46"/>
          <p:cNvSpPr>
            <a:spLocks noGrp="1"/>
          </p:cNvSpPr>
          <p:nvPr>
            <p:ph type="body" sz="quarter" idx="11" hasCustomPrompt="1"/>
          </p:nvPr>
        </p:nvSpPr>
        <p:spPr>
          <a:xfrm>
            <a:off x="-1" y="4857350"/>
            <a:ext cx="5368944" cy="424732"/>
          </a:xfrm>
          <a:prstGeom prst="rect">
            <a:avLst/>
          </a:prstGeom>
        </p:spPr>
        <p:txBody>
          <a:bodyPr lIns="90000" anchor="ctr" anchorCtr="0">
            <a:noAutofit/>
          </a:bodyPr>
          <a:lstStyle>
            <a:lvl1pPr marL="0" indent="0" algn="ctr">
              <a:lnSpc>
                <a:spcPct val="100000"/>
              </a:lnSpc>
              <a:buNone/>
              <a:defRPr sz="1200" spc="500" baseline="0">
                <a:solidFill>
                  <a:schemeClr val="bg1">
                    <a:lumMod val="75000"/>
                  </a:schemeClr>
                </a:solidFill>
                <a:latin typeface="+mn-lt"/>
              </a:defRPr>
            </a:lvl1pPr>
          </a:lstStyle>
          <a:p>
            <a:pPr lvl="0"/>
            <a:r>
              <a:rPr lang="en-US" altLang="zh-CN" dirty="0"/>
              <a:t>Supporting Your Text Here</a:t>
            </a:r>
            <a:endParaRPr lang="zh-CN" altLang="en-US" dirty="0"/>
          </a:p>
        </p:txBody>
      </p:sp>
      <p:sp>
        <p:nvSpPr>
          <p:cNvPr id="1048586" name="日期占位符 3"/>
          <p:cNvSpPr>
            <a:spLocks noGrp="1"/>
          </p:cNvSpPr>
          <p:nvPr>
            <p:ph type="dt" sz="half" idx="1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2097154" name="图片 11"/>
          <p:cNvPicPr>
            <a:picLocks noChangeAspect="1"/>
          </p:cNvPicPr>
          <p:nvPr userDrawn="1"/>
        </p:nvPicPr>
        <p:blipFill>
          <a:blip r:embed="rId3" cstate="print"/>
          <a:stretch>
            <a:fillRect/>
          </a:stretch>
        </p:blipFill>
        <p:spPr>
          <a:xfrm>
            <a:off x="660400" y="312015"/>
            <a:ext cx="1375700" cy="43728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我介绍-1">
    <p:spTree>
      <p:nvGrpSpPr>
        <p:cNvPr id="1" name=""/>
        <p:cNvGrpSpPr/>
        <p:nvPr/>
      </p:nvGrpSpPr>
      <p:grpSpPr>
        <a:xfrm>
          <a:off x="0" y="0"/>
          <a:ext cx="0" cy="0"/>
          <a:chOff x="0" y="0"/>
          <a:chExt cx="0" cy="0"/>
        </a:xfrm>
      </p:grpSpPr>
      <p:pic>
        <p:nvPicPr>
          <p:cNvPr id="2097258" name="图片 18"/>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sp>
        <p:nvSpPr>
          <p:cNvPr id="1049156" name="图片占位符 29"/>
          <p:cNvSpPr>
            <a:spLocks noGrp="1"/>
          </p:cNvSpPr>
          <p:nvPr>
            <p:ph type="pic" sz="quarter" idx="12"/>
          </p:nvPr>
        </p:nvSpPr>
        <p:spPr>
          <a:xfrm>
            <a:off x="2571074" y="1465802"/>
            <a:ext cx="3524926" cy="4336612"/>
          </a:xfrm>
          <a:custGeom>
            <a:avLst/>
            <a:gdLst>
              <a:gd name="connsiteX0" fmla="*/ 0 w 3524926"/>
              <a:gd name="connsiteY0" fmla="*/ 0 h 4326855"/>
              <a:gd name="connsiteX1" fmla="*/ 3524926 w 3524926"/>
              <a:gd name="connsiteY1" fmla="*/ 0 h 4326855"/>
              <a:gd name="connsiteX2" fmla="*/ 3524926 w 3524926"/>
              <a:gd name="connsiteY2" fmla="*/ 4326855 h 4326855"/>
              <a:gd name="connsiteX3" fmla="*/ 0 w 3524926"/>
              <a:gd name="connsiteY3" fmla="*/ 4326855 h 4326855"/>
            </a:gdLst>
            <a:ahLst/>
            <a:cxnLst>
              <a:cxn ang="0">
                <a:pos x="connsiteX0" y="connsiteY0"/>
              </a:cxn>
              <a:cxn ang="0">
                <a:pos x="connsiteX1" y="connsiteY1"/>
              </a:cxn>
              <a:cxn ang="0">
                <a:pos x="connsiteX2" y="connsiteY2"/>
              </a:cxn>
              <a:cxn ang="0">
                <a:pos x="connsiteX3" y="connsiteY3"/>
              </a:cxn>
            </a:cxnLst>
            <a:rect l="l" t="t" r="r" b="b"/>
            <a:pathLst>
              <a:path w="3524926" h="4326855">
                <a:moveTo>
                  <a:pt x="0" y="0"/>
                </a:moveTo>
                <a:lnTo>
                  <a:pt x="3524926" y="0"/>
                </a:lnTo>
                <a:lnTo>
                  <a:pt x="3524926" y="4326855"/>
                </a:lnTo>
                <a:lnTo>
                  <a:pt x="0" y="4326855"/>
                </a:lnTo>
                <a:close/>
              </a:path>
            </a:pathLst>
          </a:custGeom>
        </p:spPr>
        <p:txBody>
          <a:bodyPr wrap="square">
            <a:noAutofit/>
          </a:bodyPr>
          <a:lstStyle/>
          <a:p>
            <a:endParaRPr lang="zh-CN" altLang="en-US" dirty="0"/>
          </a:p>
        </p:txBody>
      </p:sp>
      <p:cxnSp>
        <p:nvCxnSpPr>
          <p:cNvPr id="3145757" name="直接连接符 20"/>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259" name="图片 22"/>
          <p:cNvPicPr>
            <a:picLocks noChangeAspect="1"/>
          </p:cNvPicPr>
          <p:nvPr userDrawn="1"/>
        </p:nvPicPr>
        <p:blipFill>
          <a:blip r:embed="rId3" cstate="print"/>
          <a:stretch>
            <a:fillRect/>
          </a:stretch>
        </p:blipFill>
        <p:spPr>
          <a:xfrm>
            <a:off x="10136962" y="292375"/>
            <a:ext cx="1375700" cy="437285"/>
          </a:xfrm>
          <a:prstGeom prst="rect">
            <a:avLst/>
          </a:prstGeom>
        </p:spPr>
      </p:pic>
      <p:grpSp>
        <p:nvGrpSpPr>
          <p:cNvPr id="194" name="组合 24"/>
          <p:cNvGrpSpPr/>
          <p:nvPr userDrawn="1"/>
        </p:nvGrpSpPr>
        <p:grpSpPr>
          <a:xfrm>
            <a:off x="660400" y="344681"/>
            <a:ext cx="384771" cy="384771"/>
            <a:chOff x="669869" y="597306"/>
            <a:chExt cx="409972" cy="409973"/>
          </a:xfrm>
        </p:grpSpPr>
        <p:sp>
          <p:nvSpPr>
            <p:cNvPr id="1049157"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58"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59"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049160" name="文本占位符 67"/>
          <p:cNvSpPr>
            <a:spLocks noGrp="1"/>
          </p:cNvSpPr>
          <p:nvPr>
            <p:ph type="body" sz="quarter" idx="11" hasCustomPrompt="1"/>
          </p:nvPr>
        </p:nvSpPr>
        <p:spPr>
          <a:xfrm>
            <a:off x="1216933" y="347251"/>
            <a:ext cx="8920029" cy="402291"/>
          </a:xfrm>
          <a:prstGeom prst="rect">
            <a:avLst/>
          </a:prstGeom>
        </p:spPr>
        <p:txBody>
          <a:bodyPr lIns="0" tIns="4680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sp>
        <p:nvSpPr>
          <p:cNvPr id="1049161" name="文本框 15"/>
          <p:cNvSpPr txBox="1"/>
          <p:nvPr userDrawn="1"/>
        </p:nvSpPr>
        <p:spPr>
          <a:xfrm rot="16200000">
            <a:off x="-1272970" y="3259723"/>
            <a:ext cx="4113883" cy="338554"/>
          </a:xfrm>
          <a:prstGeom prst="rect">
            <a:avLst/>
          </a:prstGeom>
          <a:noFill/>
        </p:spPr>
        <p:txBody>
          <a:bodyPr wrap="square" rtlCol="0">
            <a:spAutoFit/>
          </a:bodyPr>
          <a:lstStyle/>
          <a:p>
            <a:r>
              <a:rPr lang="en-US" altLang="zh-CN" sz="1600" spc="800" dirty="0">
                <a:solidFill>
                  <a:schemeClr val="bg1">
                    <a:lumMod val="75000"/>
                  </a:schemeClr>
                </a:solidFill>
              </a:rPr>
              <a:t>Southeast University</a:t>
            </a:r>
            <a:endParaRPr lang="zh-CN" altLang="en-US" sz="1600" spc="800" dirty="0">
              <a:solidFill>
                <a:schemeClr val="bg1">
                  <a:lumMod val="75000"/>
                </a:schemeClr>
              </a:solidFill>
            </a:endParaRPr>
          </a:p>
        </p:txBody>
      </p:sp>
      <p:sp>
        <p:nvSpPr>
          <p:cNvPr id="1049162" name="文本占位符 6"/>
          <p:cNvSpPr>
            <a:spLocks noGrp="1"/>
          </p:cNvSpPr>
          <p:nvPr>
            <p:ph type="body" sz="quarter" idx="18" hasCustomPrompt="1"/>
          </p:nvPr>
        </p:nvSpPr>
        <p:spPr>
          <a:xfrm>
            <a:off x="6632171" y="1253531"/>
            <a:ext cx="4886729" cy="1200329"/>
          </a:xfrm>
          <a:prstGeom prst="rect">
            <a:avLst/>
          </a:prstGeom>
          <a:noFill/>
        </p:spPr>
        <p:txBody>
          <a:bodyPr wrap="square" rtlCol="0">
            <a:spAutoFit/>
          </a:bodyPr>
          <a:lstStyle>
            <a:lvl1pPr marL="0" indent="0" algn="r">
              <a:lnSpc>
                <a:spcPct val="100000"/>
              </a:lnSpc>
              <a:buNone/>
              <a:defRPr lang="zh-CN" altLang="en-US" sz="7200" i="1" dirty="0">
                <a:solidFill>
                  <a:schemeClr val="bg1">
                    <a:lumMod val="95000"/>
                  </a:schemeClr>
                </a:solidFill>
              </a:defRPr>
            </a:lvl1pPr>
          </a:lstStyle>
          <a:p>
            <a:pPr marL="0" lvl="0"/>
            <a:r>
              <a:rPr lang="en-US" altLang="zh-CN" dirty="0"/>
              <a:t>Your name</a:t>
            </a:r>
            <a:endParaRPr lang="zh-CN" altLang="en-US" dirty="0"/>
          </a:p>
        </p:txBody>
      </p:sp>
      <p:sp>
        <p:nvSpPr>
          <p:cNvPr id="1049163" name="文本占位符 11"/>
          <p:cNvSpPr>
            <a:spLocks noGrp="1"/>
          </p:cNvSpPr>
          <p:nvPr>
            <p:ph type="body" sz="quarter" idx="22" hasCustomPrompt="1"/>
          </p:nvPr>
        </p:nvSpPr>
        <p:spPr>
          <a:xfrm>
            <a:off x="7398196" y="3937575"/>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p>
        </p:txBody>
      </p:sp>
      <p:sp>
        <p:nvSpPr>
          <p:cNvPr id="1049164" name="文本占位符 11"/>
          <p:cNvSpPr>
            <a:spLocks noGrp="1"/>
          </p:cNvSpPr>
          <p:nvPr>
            <p:ph type="body" sz="quarter" idx="23" hasCustomPrompt="1"/>
          </p:nvPr>
        </p:nvSpPr>
        <p:spPr>
          <a:xfrm>
            <a:off x="7398196" y="4685329"/>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p>
        </p:txBody>
      </p:sp>
      <p:sp>
        <p:nvSpPr>
          <p:cNvPr id="1049165" name="文本占位符 11"/>
          <p:cNvSpPr>
            <a:spLocks noGrp="1"/>
          </p:cNvSpPr>
          <p:nvPr>
            <p:ph type="body" sz="quarter" idx="24" hasCustomPrompt="1"/>
          </p:nvPr>
        </p:nvSpPr>
        <p:spPr>
          <a:xfrm>
            <a:off x="7398196" y="5433083"/>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p>
        </p:txBody>
      </p:sp>
      <p:sp>
        <p:nvSpPr>
          <p:cNvPr id="1049166" name="文本占位符 6"/>
          <p:cNvSpPr>
            <a:spLocks noGrp="1"/>
          </p:cNvSpPr>
          <p:nvPr>
            <p:ph type="body" sz="quarter" idx="17" hasCustomPrompt="1"/>
          </p:nvPr>
        </p:nvSpPr>
        <p:spPr>
          <a:xfrm>
            <a:off x="6749903" y="2564527"/>
            <a:ext cx="3396528" cy="400110"/>
          </a:xfrm>
          <a:prstGeom prst="rect">
            <a:avLst/>
          </a:prstGeom>
          <a:noFill/>
        </p:spPr>
        <p:txBody>
          <a:bodyPr wrap="square" lIns="0" rtlCol="0">
            <a:spAutoFit/>
          </a:bodyPr>
          <a:lstStyle>
            <a:lvl1pPr marL="0" indent="0">
              <a:lnSpc>
                <a:spcPct val="100000"/>
              </a:lnSpc>
              <a:buNone/>
              <a:defRPr lang="zh-CN" altLang="en-US" b="1" dirty="0">
                <a:solidFill>
                  <a:schemeClr val="accent2"/>
                </a:solidFill>
              </a:defRPr>
            </a:lvl1pPr>
          </a:lstStyle>
          <a:p>
            <a:pPr marL="0" lvl="0"/>
            <a:r>
              <a:rPr lang="zh-CN" altLang="en-US" dirty="0"/>
              <a:t>你所在的院系 </a:t>
            </a:r>
            <a:r>
              <a:rPr lang="en-US" altLang="zh-CN" dirty="0"/>
              <a:t>/ </a:t>
            </a:r>
            <a:r>
              <a:rPr lang="zh-CN" altLang="en-US" dirty="0"/>
              <a:t>部门</a:t>
            </a:r>
          </a:p>
        </p:txBody>
      </p:sp>
      <p:sp>
        <p:nvSpPr>
          <p:cNvPr id="1049167" name="文本占位符 6"/>
          <p:cNvSpPr>
            <a:spLocks noGrp="1"/>
          </p:cNvSpPr>
          <p:nvPr>
            <p:ph type="body" sz="quarter" idx="16" hasCustomPrompt="1"/>
          </p:nvPr>
        </p:nvSpPr>
        <p:spPr>
          <a:xfrm>
            <a:off x="6749903" y="1812873"/>
            <a:ext cx="3088698" cy="769441"/>
          </a:xfrm>
          <a:prstGeom prst="rect">
            <a:avLst/>
          </a:prstGeom>
          <a:noFill/>
        </p:spPr>
        <p:txBody>
          <a:bodyPr wrap="square" lIns="0" rtlCol="0">
            <a:spAutoFit/>
          </a:bodyPr>
          <a:lstStyle>
            <a:lvl1pPr marL="0" indent="0">
              <a:lnSpc>
                <a:spcPct val="100000"/>
              </a:lnSpc>
              <a:buNone/>
              <a:defRPr lang="zh-CN" altLang="en-US" sz="4400" b="1" dirty="0">
                <a:solidFill>
                  <a:schemeClr val="accent1"/>
                </a:solidFill>
              </a:defRPr>
            </a:lvl1pPr>
          </a:lstStyle>
          <a:p>
            <a:pPr marL="0" lvl="0"/>
            <a:r>
              <a:rPr lang="zh-CN" altLang="en-US" dirty="0"/>
              <a:t>你的姓名</a:t>
            </a:r>
          </a:p>
        </p:txBody>
      </p:sp>
      <p:sp>
        <p:nvSpPr>
          <p:cNvPr id="1049168" name="日期占位符 3"/>
          <p:cNvSpPr>
            <a:spLocks noGrp="1"/>
          </p:cNvSpPr>
          <p:nvPr>
            <p:ph type="dt" sz="half" idx="25"/>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169" name="灯片编号占位符 7"/>
          <p:cNvSpPr>
            <a:spLocks noGrp="1"/>
          </p:cNvSpPr>
          <p:nvPr>
            <p:ph type="sldNum" sz="quarter" idx="27"/>
          </p:nvPr>
        </p:nvSpPr>
        <p:spPr/>
        <p:txBody>
          <a:bodyPr/>
          <a:lstStyle/>
          <a:p>
            <a:fld id="{C79ECAFE-A460-4E13-ABCB-32CAE6136244}" type="slidenum">
              <a:rPr lang="zh-CN" altLang="en-US" smtClean="0"/>
              <a:t>‹#›</a:t>
            </a:fld>
            <a:endParaRPr lang="zh-CN" altLang="en-US" dirty="0"/>
          </a:p>
        </p:txBody>
      </p:sp>
      <p:sp>
        <p:nvSpPr>
          <p:cNvPr id="1049170" name="矩形 21"/>
          <p:cNvSpPr/>
          <p:nvPr userDrawn="1"/>
        </p:nvSpPr>
        <p:spPr>
          <a:xfrm>
            <a:off x="5341519" y="3365304"/>
            <a:ext cx="2252502" cy="154113"/>
          </a:xfrm>
          <a:prstGeom prst="rect">
            <a:avLst/>
          </a:prstGeom>
          <a:gradFill>
            <a:gsLst>
              <a:gs pos="0">
                <a:schemeClr val="accent2">
                  <a:lumMod val="60000"/>
                  <a:lumOff val="40000"/>
                </a:schemeClr>
              </a:gs>
              <a:gs pos="100000">
                <a:srgbClr val="FDA913"/>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我介绍-2">
    <p:spTree>
      <p:nvGrpSpPr>
        <p:cNvPr id="1" name=""/>
        <p:cNvGrpSpPr/>
        <p:nvPr/>
      </p:nvGrpSpPr>
      <p:grpSpPr>
        <a:xfrm>
          <a:off x="0" y="0"/>
          <a:ext cx="0" cy="0"/>
          <a:chOff x="0" y="0"/>
          <a:chExt cx="0" cy="0"/>
        </a:xfrm>
      </p:grpSpPr>
      <p:pic>
        <p:nvPicPr>
          <p:cNvPr id="2097250" name="图片 27"/>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pic>
        <p:nvPicPr>
          <p:cNvPr id="2097251" name="图片 22"/>
          <p:cNvPicPr>
            <a:picLocks/>
          </p:cNvPicPr>
          <p:nvPr userDrawn="1"/>
        </p:nvPicPr>
        <p:blipFill>
          <a:blip r:embed="rId3" cstate="print"/>
          <a:stretch>
            <a:fillRect/>
          </a:stretch>
        </p:blipFill>
        <p:spPr>
          <a:xfrm>
            <a:off x="10136962" y="292375"/>
            <a:ext cx="1375700" cy="437285"/>
          </a:xfrm>
          <a:prstGeom prst="rect">
            <a:avLst/>
          </a:prstGeom>
        </p:spPr>
      </p:pic>
      <p:sp>
        <p:nvSpPr>
          <p:cNvPr id="1049077" name="文本占位符 2"/>
          <p:cNvSpPr>
            <a:spLocks noGrp="1"/>
          </p:cNvSpPr>
          <p:nvPr>
            <p:ph type="body" sz="quarter" idx="25" hasCustomPrompt="1"/>
          </p:nvPr>
        </p:nvSpPr>
        <p:spPr>
          <a:xfrm>
            <a:off x="0" y="1093511"/>
            <a:ext cx="6400712" cy="1446550"/>
          </a:xfrm>
          <a:prstGeom prst="rect">
            <a:avLst/>
          </a:prstGeom>
          <a:noFill/>
        </p:spPr>
        <p:txBody>
          <a:bodyPr wrap="square" rtlCol="0">
            <a:spAutoFit/>
          </a:bodyPr>
          <a:lstStyle>
            <a:lvl1pPr algn="r">
              <a:defRPr kumimoji="0" lang="zh-CN" altLang="en-US" sz="8800" b="0" i="1" u="none" strike="noStrike" cap="none" spc="0" normalizeH="0" baseline="0" dirty="0">
                <a:ln>
                  <a:noFill/>
                </a:ln>
                <a:solidFill>
                  <a:schemeClr val="bg1">
                    <a:lumMod val="95000"/>
                  </a:schemeClr>
                </a:solidFill>
                <a:effectLst/>
                <a:uLnTx/>
                <a:uFillTx/>
                <a:latin typeface="Arial" panose="020B0604020202020204"/>
                <a:ea typeface="微软雅黑" panose="020B0503020204020204" charset="-122"/>
              </a:defRPr>
            </a:lvl1pPr>
          </a:lstStyle>
          <a:p>
            <a:pPr marL="0" marR="0" lvl="0" indent="0" fontAlgn="auto">
              <a:lnSpc>
                <a:spcPct val="100000"/>
              </a:lnSpc>
              <a:spcBef>
                <a:spcPts val="0"/>
              </a:spcBef>
              <a:spcAft>
                <a:spcPts val="0"/>
              </a:spcAft>
              <a:buClrTx/>
              <a:buSzTx/>
              <a:buFontTx/>
              <a:buNone/>
            </a:pPr>
            <a:r>
              <a:rPr lang="en-US" altLang="zh-CN" dirty="0"/>
              <a:t>Your name</a:t>
            </a:r>
            <a:endParaRPr lang="zh-CN" altLang="en-US" dirty="0"/>
          </a:p>
        </p:txBody>
      </p:sp>
      <p:sp>
        <p:nvSpPr>
          <p:cNvPr id="104907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sp>
        <p:nvSpPr>
          <p:cNvPr id="1049079" name="文本占位符 11"/>
          <p:cNvSpPr>
            <a:spLocks noGrp="1"/>
          </p:cNvSpPr>
          <p:nvPr>
            <p:ph type="body" sz="quarter" idx="22" hasCustomPrompt="1"/>
          </p:nvPr>
        </p:nvSpPr>
        <p:spPr>
          <a:xfrm>
            <a:off x="660400" y="3881451"/>
            <a:ext cx="3610645"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p>
        </p:txBody>
      </p:sp>
      <p:sp>
        <p:nvSpPr>
          <p:cNvPr id="1049080" name="文本占位符 11"/>
          <p:cNvSpPr>
            <a:spLocks noGrp="1"/>
          </p:cNvSpPr>
          <p:nvPr>
            <p:ph type="body" sz="quarter" idx="23" hasCustomPrompt="1"/>
          </p:nvPr>
        </p:nvSpPr>
        <p:spPr>
          <a:xfrm>
            <a:off x="660400" y="4685329"/>
            <a:ext cx="3610646"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p>
        </p:txBody>
      </p:sp>
      <p:sp>
        <p:nvSpPr>
          <p:cNvPr id="1049081" name="文本占位符 11"/>
          <p:cNvSpPr>
            <a:spLocks noGrp="1"/>
          </p:cNvSpPr>
          <p:nvPr>
            <p:ph type="body" sz="quarter" idx="24" hasCustomPrompt="1"/>
          </p:nvPr>
        </p:nvSpPr>
        <p:spPr>
          <a:xfrm>
            <a:off x="660400" y="5433083"/>
            <a:ext cx="3610646"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p>
        </p:txBody>
      </p:sp>
      <p:sp>
        <p:nvSpPr>
          <p:cNvPr id="1049082" name="文本占位符 6"/>
          <p:cNvSpPr>
            <a:spLocks noGrp="1"/>
          </p:cNvSpPr>
          <p:nvPr>
            <p:ph type="body" sz="quarter" idx="16" hasCustomPrompt="1"/>
          </p:nvPr>
        </p:nvSpPr>
        <p:spPr>
          <a:xfrm>
            <a:off x="2331720" y="2106802"/>
            <a:ext cx="3088698" cy="769441"/>
          </a:xfrm>
          <a:prstGeom prst="rect">
            <a:avLst/>
          </a:prstGeom>
          <a:noFill/>
        </p:spPr>
        <p:txBody>
          <a:bodyPr wrap="square" rIns="0" rtlCol="0">
            <a:spAutoFit/>
          </a:bodyPr>
          <a:lstStyle>
            <a:lvl1pPr marL="0" indent="0" algn="r">
              <a:lnSpc>
                <a:spcPct val="100000"/>
              </a:lnSpc>
              <a:buNone/>
              <a:defRPr lang="zh-CN" altLang="en-US" sz="4400" b="1" dirty="0">
                <a:solidFill>
                  <a:schemeClr val="accent1"/>
                </a:solidFill>
              </a:defRPr>
            </a:lvl1pPr>
          </a:lstStyle>
          <a:p>
            <a:pPr marL="0" lvl="0"/>
            <a:r>
              <a:rPr lang="zh-CN" altLang="en-US" dirty="0"/>
              <a:t>你的姓名</a:t>
            </a:r>
          </a:p>
        </p:txBody>
      </p:sp>
      <p:sp>
        <p:nvSpPr>
          <p:cNvPr id="1049083" name="文本占位符 6"/>
          <p:cNvSpPr>
            <a:spLocks noGrp="1"/>
          </p:cNvSpPr>
          <p:nvPr>
            <p:ph type="body" sz="quarter" idx="17" hasCustomPrompt="1"/>
          </p:nvPr>
        </p:nvSpPr>
        <p:spPr>
          <a:xfrm>
            <a:off x="1541828" y="3152034"/>
            <a:ext cx="3396528" cy="400110"/>
          </a:xfrm>
          <a:prstGeom prst="rect">
            <a:avLst/>
          </a:prstGeom>
          <a:noFill/>
        </p:spPr>
        <p:txBody>
          <a:bodyPr wrap="square" rIns="0" rtlCol="0">
            <a:spAutoFit/>
          </a:bodyPr>
          <a:lstStyle>
            <a:lvl1pPr marL="0" indent="0" algn="r">
              <a:lnSpc>
                <a:spcPct val="100000"/>
              </a:lnSpc>
              <a:buNone/>
              <a:defRPr lang="zh-CN" altLang="en-US" b="1" dirty="0">
                <a:solidFill>
                  <a:schemeClr val="accent2"/>
                </a:solidFill>
              </a:defRPr>
            </a:lvl1pPr>
          </a:lstStyle>
          <a:p>
            <a:pPr marL="0" lvl="0"/>
            <a:r>
              <a:rPr lang="zh-CN" altLang="en-US" dirty="0"/>
              <a:t>你所在的院系 </a:t>
            </a:r>
            <a:r>
              <a:rPr lang="en-US" altLang="zh-CN" dirty="0"/>
              <a:t>/ </a:t>
            </a:r>
            <a:r>
              <a:rPr lang="zh-CN" altLang="en-US" dirty="0"/>
              <a:t>部门</a:t>
            </a:r>
          </a:p>
        </p:txBody>
      </p:sp>
      <p:sp>
        <p:nvSpPr>
          <p:cNvPr id="1049084" name="图片占位符 32"/>
          <p:cNvSpPr>
            <a:spLocks noGrp="1"/>
          </p:cNvSpPr>
          <p:nvPr>
            <p:ph type="pic" sz="quarter" idx="12"/>
          </p:nvPr>
        </p:nvSpPr>
        <p:spPr>
          <a:xfrm>
            <a:off x="5131444" y="0"/>
            <a:ext cx="7060556" cy="6858000"/>
          </a:xfrm>
          <a:custGeom>
            <a:avLst/>
            <a:gdLst>
              <a:gd name="connsiteX0" fmla="*/ 2232141 w 7060556"/>
              <a:gd name="connsiteY0" fmla="*/ 0 h 6858000"/>
              <a:gd name="connsiteX1" fmla="*/ 7060556 w 7060556"/>
              <a:gd name="connsiteY1" fmla="*/ 0 h 6858000"/>
              <a:gd name="connsiteX2" fmla="*/ 7060556 w 7060556"/>
              <a:gd name="connsiteY2" fmla="*/ 6858000 h 6858000"/>
              <a:gd name="connsiteX3" fmla="*/ 659756 w 7060556"/>
              <a:gd name="connsiteY3" fmla="*/ 6858000 h 6858000"/>
              <a:gd name="connsiteX4" fmla="*/ 0 w 7060556"/>
              <a:gd name="connsiteY4" fmla="*/ 5318567 h 6858000"/>
              <a:gd name="connsiteX5" fmla="*/ 2076565 w 7060556"/>
              <a:gd name="connsiteY5" fmla="*/ 34199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0556" h="6858000">
                <a:moveTo>
                  <a:pt x="2232141" y="0"/>
                </a:moveTo>
                <a:lnTo>
                  <a:pt x="7060556" y="0"/>
                </a:lnTo>
                <a:lnTo>
                  <a:pt x="7060556" y="6858000"/>
                </a:lnTo>
                <a:lnTo>
                  <a:pt x="659756" y="6858000"/>
                </a:lnTo>
                <a:lnTo>
                  <a:pt x="0" y="5318567"/>
                </a:lnTo>
                <a:cubicBezTo>
                  <a:pt x="292020" y="4312534"/>
                  <a:pt x="1148983" y="2384867"/>
                  <a:pt x="2076565" y="341996"/>
                </a:cubicBezTo>
                <a:close/>
              </a:path>
            </a:pathLst>
          </a:custGeom>
        </p:spPr>
        <p:txBody>
          <a:bodyPr wrap="square">
            <a:noAutofit/>
          </a:bodyPr>
          <a:lstStyle/>
          <a:p>
            <a:endParaRPr lang="zh-CN" altLang="en-US" dirty="0"/>
          </a:p>
        </p:txBody>
      </p:sp>
      <p:grpSp>
        <p:nvGrpSpPr>
          <p:cNvPr id="185" name="组合 23"/>
          <p:cNvGrpSpPr/>
          <p:nvPr userDrawn="1"/>
        </p:nvGrpSpPr>
        <p:grpSpPr>
          <a:xfrm>
            <a:off x="660400" y="344681"/>
            <a:ext cx="384771" cy="384771"/>
            <a:chOff x="669869" y="597306"/>
            <a:chExt cx="409972" cy="409973"/>
          </a:xfrm>
        </p:grpSpPr>
        <p:sp>
          <p:nvSpPr>
            <p:cNvPr id="1049085"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86"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87"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049088"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089" name="灯片编号占位符 7"/>
          <p:cNvSpPr>
            <a:spLocks noGrp="1"/>
          </p:cNvSpPr>
          <p:nvPr>
            <p:ph type="sldNum" sz="quarter" idx="28"/>
          </p:nvPr>
        </p:nvSpPr>
        <p:spPr/>
        <p:txBody>
          <a:bodyPr/>
          <a:lstStyle/>
          <a:p>
            <a:fld id="{C79ECAFE-A460-4E13-ABCB-32CAE6136244}" type="slidenum">
              <a:rPr lang="zh-CN" altLang="en-US" smtClean="0"/>
              <a:t>‹#›</a:t>
            </a:fld>
            <a:endParaRPr lang="zh-CN" altLang="en-US" dirty="0"/>
          </a:p>
        </p:txBody>
      </p:sp>
      <p:cxnSp>
        <p:nvCxnSpPr>
          <p:cNvPr id="3145753" name="直接连接符 17"/>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介绍内容拓展-1">
    <p:spTree>
      <p:nvGrpSpPr>
        <p:cNvPr id="1" name=""/>
        <p:cNvGrpSpPr/>
        <p:nvPr/>
      </p:nvGrpSpPr>
      <p:grpSpPr>
        <a:xfrm>
          <a:off x="0" y="0"/>
          <a:ext cx="0" cy="0"/>
          <a:chOff x="0" y="0"/>
          <a:chExt cx="0" cy="0"/>
        </a:xfrm>
      </p:grpSpPr>
      <p:pic>
        <p:nvPicPr>
          <p:cNvPr id="2097242" name="图片 35"/>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sp>
        <p:nvSpPr>
          <p:cNvPr id="1049026" name="文本框 2"/>
          <p:cNvSpPr txBox="1"/>
          <p:nvPr userDrawn="1"/>
        </p:nvSpPr>
        <p:spPr>
          <a:xfrm>
            <a:off x="660400" y="1383671"/>
            <a:ext cx="5001787" cy="1323439"/>
          </a:xfrm>
          <a:prstGeom prst="rect">
            <a:avLst/>
          </a:prstGeom>
          <a:noFill/>
        </p:spPr>
        <p:txBody>
          <a:bodyPr wrap="square" lIns="0" rtlCol="0">
            <a:spAutoFit/>
          </a:bodyPr>
          <a:lstStyle/>
          <a:p>
            <a:r>
              <a:rPr lang="en-US" altLang="zh-CN" sz="8000" i="1" dirty="0">
                <a:solidFill>
                  <a:schemeClr val="bg1">
                    <a:lumMod val="95000"/>
                  </a:schemeClr>
                </a:solidFill>
              </a:rPr>
              <a:t>Our team</a:t>
            </a:r>
            <a:endParaRPr lang="zh-CN" altLang="en-US" sz="8000" i="1" dirty="0">
              <a:solidFill>
                <a:schemeClr val="bg1">
                  <a:lumMod val="95000"/>
                </a:schemeClr>
              </a:solidFill>
            </a:endParaRPr>
          </a:p>
        </p:txBody>
      </p:sp>
      <p:sp>
        <p:nvSpPr>
          <p:cNvPr id="1049027" name="图片占位符 31"/>
          <p:cNvSpPr>
            <a:spLocks noGrp="1"/>
          </p:cNvSpPr>
          <p:nvPr>
            <p:ph type="pic" sz="quarter" idx="31"/>
          </p:nvPr>
        </p:nvSpPr>
        <p:spPr>
          <a:xfrm>
            <a:off x="5792230"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104902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grpSp>
        <p:nvGrpSpPr>
          <p:cNvPr id="176" name="组合 8"/>
          <p:cNvGrpSpPr/>
          <p:nvPr userDrawn="1"/>
        </p:nvGrpSpPr>
        <p:grpSpPr>
          <a:xfrm>
            <a:off x="660400" y="344681"/>
            <a:ext cx="384771" cy="384771"/>
            <a:chOff x="669869" y="597306"/>
            <a:chExt cx="409972" cy="409973"/>
          </a:xfrm>
        </p:grpSpPr>
        <p:sp>
          <p:nvSpPr>
            <p:cNvPr id="1049029"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30"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31"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049032"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033" name="灯片编号占位符 7"/>
          <p:cNvSpPr>
            <a:spLocks noGrp="1"/>
          </p:cNvSpPr>
          <p:nvPr>
            <p:ph type="sldNum" sz="quarter" idx="28"/>
          </p:nvPr>
        </p:nvSpPr>
        <p:spPr>
          <a:xfrm>
            <a:off x="8775700" y="6235702"/>
            <a:ext cx="2743200" cy="365125"/>
          </a:xfrm>
        </p:spPr>
        <p:txBody>
          <a:bodyPr/>
          <a:lstStyle/>
          <a:p>
            <a:fld id="{C79ECAFE-A460-4E13-ABCB-32CAE6136244}" type="slidenum">
              <a:rPr lang="zh-CN" altLang="en-US" smtClean="0"/>
              <a:t>‹#›</a:t>
            </a:fld>
            <a:endParaRPr lang="zh-CN" altLang="en-US" dirty="0"/>
          </a:p>
        </p:txBody>
      </p:sp>
      <p:sp>
        <p:nvSpPr>
          <p:cNvPr id="1049034" name="文本占位符 26"/>
          <p:cNvSpPr>
            <a:spLocks noGrp="1"/>
          </p:cNvSpPr>
          <p:nvPr>
            <p:ph type="body" sz="quarter" idx="29" hasCustomPrompt="1"/>
          </p:nvPr>
        </p:nvSpPr>
        <p:spPr>
          <a:xfrm>
            <a:off x="1019067" y="2170482"/>
            <a:ext cx="3982720" cy="584775"/>
          </a:xfrm>
        </p:spPr>
        <p:txBody>
          <a:bodyPr lIns="0">
            <a:spAutoFit/>
          </a:bodyPr>
          <a:lstStyle>
            <a:lvl1pPr marL="0" indent="0">
              <a:lnSpc>
                <a:spcPct val="100000"/>
              </a:lnSpc>
              <a:buNone/>
              <a:defRPr sz="3200" b="1">
                <a:solidFill>
                  <a:schemeClr val="accent1"/>
                </a:solidFill>
              </a:defRPr>
            </a:lvl1pPr>
          </a:lstStyle>
          <a:p>
            <a:pPr lvl="0"/>
            <a:r>
              <a:rPr lang="zh-CN" altLang="en-US" dirty="0"/>
              <a:t>请输入你的团队名</a:t>
            </a:r>
          </a:p>
        </p:txBody>
      </p:sp>
      <p:sp>
        <p:nvSpPr>
          <p:cNvPr id="1049035" name="文本占位符 28"/>
          <p:cNvSpPr>
            <a:spLocks noGrp="1"/>
          </p:cNvSpPr>
          <p:nvPr>
            <p:ph type="body" sz="quarter" idx="30" hasCustomPrompt="1"/>
          </p:nvPr>
        </p:nvSpPr>
        <p:spPr>
          <a:xfrm>
            <a:off x="1019067" y="3119036"/>
            <a:ext cx="3982720" cy="1706963"/>
          </a:xfrm>
        </p:spPr>
        <p:txBody>
          <a:bodyPr wrap="square" lIns="0">
            <a:noAutofit/>
          </a:bodyPr>
          <a:lstStyle>
            <a:lvl1pPr marL="0" indent="0">
              <a:buNone/>
              <a:defRPr sz="1800"/>
            </a:lvl1pPr>
          </a:lstStyle>
          <a:p>
            <a:pPr lvl="0"/>
            <a:r>
              <a:rPr lang="zh-CN" altLang="en-US" dirty="0"/>
              <a:t>请输入你的团队介绍</a:t>
            </a:r>
          </a:p>
        </p:txBody>
      </p:sp>
      <p:sp>
        <p:nvSpPr>
          <p:cNvPr id="1049036" name="图片占位符 32"/>
          <p:cNvSpPr>
            <a:spLocks noGrp="1"/>
          </p:cNvSpPr>
          <p:nvPr>
            <p:ph type="pic" sz="quarter" idx="32"/>
          </p:nvPr>
        </p:nvSpPr>
        <p:spPr>
          <a:xfrm>
            <a:off x="7700964"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1049037" name="图片占位符 33"/>
          <p:cNvSpPr>
            <a:spLocks noGrp="1"/>
          </p:cNvSpPr>
          <p:nvPr>
            <p:ph type="pic" sz="quarter" idx="33"/>
          </p:nvPr>
        </p:nvSpPr>
        <p:spPr>
          <a:xfrm>
            <a:off x="9609697"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1049038" name="文本占位符 11"/>
          <p:cNvSpPr>
            <a:spLocks noGrp="1"/>
          </p:cNvSpPr>
          <p:nvPr>
            <p:ph type="body" sz="quarter" idx="22" hasCustomPrompt="1"/>
          </p:nvPr>
        </p:nvSpPr>
        <p:spPr>
          <a:xfrm>
            <a:off x="5792309"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1049039" name="文本占位符 11"/>
          <p:cNvSpPr>
            <a:spLocks noGrp="1"/>
          </p:cNvSpPr>
          <p:nvPr>
            <p:ph type="body" sz="quarter" idx="34" hasCustomPrompt="1"/>
          </p:nvPr>
        </p:nvSpPr>
        <p:spPr>
          <a:xfrm>
            <a:off x="7700964"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1049040" name="文本占位符 11"/>
          <p:cNvSpPr>
            <a:spLocks noGrp="1"/>
          </p:cNvSpPr>
          <p:nvPr>
            <p:ph type="body" sz="quarter" idx="35" hasCustomPrompt="1"/>
          </p:nvPr>
        </p:nvSpPr>
        <p:spPr>
          <a:xfrm>
            <a:off x="9609619"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1049041" name="文本占位符 11"/>
          <p:cNvSpPr>
            <a:spLocks noGrp="1"/>
          </p:cNvSpPr>
          <p:nvPr>
            <p:ph type="body" sz="quarter" idx="36" hasCustomPrompt="1"/>
          </p:nvPr>
        </p:nvSpPr>
        <p:spPr>
          <a:xfrm>
            <a:off x="5792387"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1</a:t>
            </a:r>
            <a:endParaRPr lang="zh-CN" altLang="en-US" dirty="0"/>
          </a:p>
        </p:txBody>
      </p:sp>
      <p:sp>
        <p:nvSpPr>
          <p:cNvPr id="1049042" name="文本占位符 11"/>
          <p:cNvSpPr>
            <a:spLocks noGrp="1"/>
          </p:cNvSpPr>
          <p:nvPr>
            <p:ph type="body" sz="quarter" idx="37" hasCustomPrompt="1"/>
          </p:nvPr>
        </p:nvSpPr>
        <p:spPr>
          <a:xfrm>
            <a:off x="7700808"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2</a:t>
            </a:r>
            <a:endParaRPr lang="zh-CN" altLang="en-US" dirty="0"/>
          </a:p>
        </p:txBody>
      </p:sp>
      <p:sp>
        <p:nvSpPr>
          <p:cNvPr id="1049043" name="文本占位符 11"/>
          <p:cNvSpPr>
            <a:spLocks noGrp="1"/>
          </p:cNvSpPr>
          <p:nvPr>
            <p:ph type="body" sz="quarter" idx="38" hasCustomPrompt="1"/>
          </p:nvPr>
        </p:nvSpPr>
        <p:spPr>
          <a:xfrm>
            <a:off x="9609229"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3</a:t>
            </a:r>
            <a:endParaRPr lang="zh-CN" altLang="en-US" dirty="0"/>
          </a:p>
        </p:txBody>
      </p:sp>
      <p:cxnSp>
        <p:nvCxnSpPr>
          <p:cNvPr id="3145748" name="直接连接符 23"/>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243" name="图片 36"/>
          <p:cNvPicPr>
            <a:picLocks noChangeAspect="1"/>
          </p:cNvPicPr>
          <p:nvPr userDrawn="1"/>
        </p:nvPicPr>
        <p:blipFill>
          <a:blip r:embed="rId3" cstate="print"/>
          <a:stretch>
            <a:fillRect/>
          </a:stretch>
        </p:blipFill>
        <p:spPr>
          <a:xfrm>
            <a:off x="10136962" y="292375"/>
            <a:ext cx="1375700" cy="43728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介绍内容拓展-2">
    <p:spTree>
      <p:nvGrpSpPr>
        <p:cNvPr id="1" name=""/>
        <p:cNvGrpSpPr/>
        <p:nvPr/>
      </p:nvGrpSpPr>
      <p:grpSpPr>
        <a:xfrm>
          <a:off x="0" y="0"/>
          <a:ext cx="0" cy="0"/>
          <a:chOff x="0" y="0"/>
          <a:chExt cx="0" cy="0"/>
        </a:xfrm>
      </p:grpSpPr>
      <p:pic>
        <p:nvPicPr>
          <p:cNvPr id="2097252" name="图片 57"/>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sp>
        <p:nvSpPr>
          <p:cNvPr id="1049090" name="图片占位符 47"/>
          <p:cNvSpPr>
            <a:spLocks noGrp="1"/>
          </p:cNvSpPr>
          <p:nvPr>
            <p:ph type="pic" sz="quarter" idx="31"/>
          </p:nvPr>
        </p:nvSpPr>
        <p:spPr>
          <a:xfrm>
            <a:off x="669868"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1049091"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grpSp>
        <p:nvGrpSpPr>
          <p:cNvPr id="187" name="组合 8"/>
          <p:cNvGrpSpPr/>
          <p:nvPr userDrawn="1"/>
        </p:nvGrpSpPr>
        <p:grpSpPr>
          <a:xfrm>
            <a:off x="660400" y="344681"/>
            <a:ext cx="384771" cy="384771"/>
            <a:chOff x="669869" y="597306"/>
            <a:chExt cx="409972" cy="409973"/>
          </a:xfrm>
        </p:grpSpPr>
        <p:sp>
          <p:nvSpPr>
            <p:cNvPr id="1049092"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93"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94"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049095"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096" name="灯片编号占位符 7"/>
          <p:cNvSpPr>
            <a:spLocks noGrp="1"/>
          </p:cNvSpPr>
          <p:nvPr>
            <p:ph type="sldNum" sz="quarter" idx="28"/>
          </p:nvPr>
        </p:nvSpPr>
        <p:spPr>
          <a:xfrm>
            <a:off x="8775700" y="6235702"/>
            <a:ext cx="2743200" cy="365125"/>
          </a:xfrm>
        </p:spPr>
        <p:txBody>
          <a:bodyPr/>
          <a:lstStyle/>
          <a:p>
            <a:fld id="{C79ECAFE-A460-4E13-ABCB-32CAE6136244}" type="slidenum">
              <a:rPr lang="zh-CN" altLang="en-US" smtClean="0"/>
              <a:t>‹#›</a:t>
            </a:fld>
            <a:endParaRPr lang="zh-CN" altLang="en-US" dirty="0"/>
          </a:p>
        </p:txBody>
      </p:sp>
      <p:sp>
        <p:nvSpPr>
          <p:cNvPr id="1049097" name="文本框 14"/>
          <p:cNvSpPr txBox="1"/>
          <p:nvPr userDrawn="1"/>
        </p:nvSpPr>
        <p:spPr>
          <a:xfrm>
            <a:off x="4104640" y="852965"/>
            <a:ext cx="3982720" cy="1107996"/>
          </a:xfrm>
          <a:prstGeom prst="rect">
            <a:avLst/>
          </a:prstGeom>
          <a:noFill/>
        </p:spPr>
        <p:txBody>
          <a:bodyPr wrap="square" lIns="90000" rtlCol="0">
            <a:spAutoFit/>
          </a:bodyPr>
          <a:lstStyle/>
          <a:p>
            <a:pPr algn="ctr"/>
            <a:r>
              <a:rPr lang="en-US" altLang="zh-CN" sz="6600" i="1" dirty="0">
                <a:solidFill>
                  <a:schemeClr val="bg1">
                    <a:lumMod val="95000"/>
                  </a:schemeClr>
                </a:solidFill>
              </a:rPr>
              <a:t>Our team</a:t>
            </a:r>
            <a:endParaRPr lang="zh-CN" altLang="en-US" sz="6600" i="1" dirty="0">
              <a:solidFill>
                <a:schemeClr val="bg1">
                  <a:lumMod val="95000"/>
                </a:schemeClr>
              </a:solidFill>
            </a:endParaRPr>
          </a:p>
        </p:txBody>
      </p:sp>
      <p:sp>
        <p:nvSpPr>
          <p:cNvPr id="1049098" name="文本占位符 26"/>
          <p:cNvSpPr>
            <a:spLocks noGrp="1"/>
          </p:cNvSpPr>
          <p:nvPr>
            <p:ph type="body" sz="quarter" idx="29" hasCustomPrompt="1"/>
          </p:nvPr>
        </p:nvSpPr>
        <p:spPr>
          <a:xfrm>
            <a:off x="4104640" y="1593828"/>
            <a:ext cx="3982720" cy="584775"/>
          </a:xfrm>
        </p:spPr>
        <p:txBody>
          <a:bodyPr lIns="90000">
            <a:spAutoFit/>
          </a:bodyPr>
          <a:lstStyle>
            <a:lvl1pPr marL="0" indent="0" algn="ctr">
              <a:lnSpc>
                <a:spcPct val="100000"/>
              </a:lnSpc>
              <a:buNone/>
              <a:defRPr sz="3200" b="1">
                <a:solidFill>
                  <a:schemeClr val="accent1"/>
                </a:solidFill>
              </a:defRPr>
            </a:lvl1pPr>
          </a:lstStyle>
          <a:p>
            <a:pPr lvl="0"/>
            <a:r>
              <a:rPr lang="zh-CN" altLang="en-US" dirty="0"/>
              <a:t>请输入你的团队名</a:t>
            </a:r>
          </a:p>
        </p:txBody>
      </p:sp>
      <p:sp>
        <p:nvSpPr>
          <p:cNvPr id="1049099" name="文本占位符 28"/>
          <p:cNvSpPr>
            <a:spLocks noGrp="1"/>
          </p:cNvSpPr>
          <p:nvPr>
            <p:ph type="body" sz="quarter" idx="30" hasCustomPrompt="1"/>
          </p:nvPr>
        </p:nvSpPr>
        <p:spPr>
          <a:xfrm>
            <a:off x="682883" y="2295279"/>
            <a:ext cx="10826234" cy="425698"/>
          </a:xfrm>
        </p:spPr>
        <p:txBody>
          <a:bodyPr wrap="square" lIns="90000">
            <a:normAutofit/>
          </a:bodyPr>
          <a:lstStyle>
            <a:lvl1pPr marL="0" indent="0" algn="ctr">
              <a:buNone/>
              <a:defRPr sz="1800"/>
            </a:lvl1pPr>
          </a:lstStyle>
          <a:p>
            <a:pPr lvl="0"/>
            <a:r>
              <a:rPr lang="zh-CN" altLang="en-US" dirty="0"/>
              <a:t>请输入你的团队介绍</a:t>
            </a:r>
          </a:p>
        </p:txBody>
      </p:sp>
      <p:sp>
        <p:nvSpPr>
          <p:cNvPr id="1049100" name="文本占位符 11"/>
          <p:cNvSpPr>
            <a:spLocks noGrp="1"/>
          </p:cNvSpPr>
          <p:nvPr>
            <p:ph type="body" sz="quarter" idx="22" hasCustomPrompt="1"/>
          </p:nvPr>
        </p:nvSpPr>
        <p:spPr>
          <a:xfrm>
            <a:off x="660322" y="5732617"/>
            <a:ext cx="2712258" cy="400110"/>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1049101" name="文本占位符 11"/>
          <p:cNvSpPr>
            <a:spLocks noGrp="1"/>
          </p:cNvSpPr>
          <p:nvPr>
            <p:ph type="body" sz="quarter" idx="36" hasCustomPrompt="1"/>
          </p:nvPr>
        </p:nvSpPr>
        <p:spPr>
          <a:xfrm>
            <a:off x="660400"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1</a:t>
            </a:r>
            <a:endParaRPr lang="zh-CN" altLang="en-US" dirty="0"/>
          </a:p>
        </p:txBody>
      </p:sp>
      <p:sp>
        <p:nvSpPr>
          <p:cNvPr id="1049102" name="文本占位符 11"/>
          <p:cNvSpPr>
            <a:spLocks noGrp="1"/>
          </p:cNvSpPr>
          <p:nvPr>
            <p:ph type="body" sz="quarter" idx="37" hasCustomPrompt="1"/>
          </p:nvPr>
        </p:nvSpPr>
        <p:spPr>
          <a:xfrm>
            <a:off x="3382047" y="5732616"/>
            <a:ext cx="2712258" cy="401484"/>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1049103" name="文本占位符 11"/>
          <p:cNvSpPr>
            <a:spLocks noGrp="1"/>
          </p:cNvSpPr>
          <p:nvPr>
            <p:ph type="body" sz="quarter" idx="38" hasCustomPrompt="1"/>
          </p:nvPr>
        </p:nvSpPr>
        <p:spPr>
          <a:xfrm>
            <a:off x="3382125"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2</a:t>
            </a:r>
            <a:endParaRPr lang="zh-CN" altLang="en-US" dirty="0"/>
          </a:p>
        </p:txBody>
      </p:sp>
      <p:sp>
        <p:nvSpPr>
          <p:cNvPr id="1049104" name="文本占位符 11"/>
          <p:cNvSpPr>
            <a:spLocks noGrp="1"/>
          </p:cNvSpPr>
          <p:nvPr>
            <p:ph type="body" sz="quarter" idx="39" hasCustomPrompt="1"/>
          </p:nvPr>
        </p:nvSpPr>
        <p:spPr>
          <a:xfrm>
            <a:off x="6103772" y="5732616"/>
            <a:ext cx="2712258" cy="401484"/>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1049105" name="文本占位符 11"/>
          <p:cNvSpPr>
            <a:spLocks noGrp="1"/>
          </p:cNvSpPr>
          <p:nvPr>
            <p:ph type="body" sz="quarter" idx="40" hasCustomPrompt="1"/>
          </p:nvPr>
        </p:nvSpPr>
        <p:spPr>
          <a:xfrm>
            <a:off x="6103850"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3</a:t>
            </a:r>
            <a:endParaRPr lang="zh-CN" altLang="en-US" dirty="0"/>
          </a:p>
        </p:txBody>
      </p:sp>
      <p:sp>
        <p:nvSpPr>
          <p:cNvPr id="1049106" name="文本占位符 11"/>
          <p:cNvSpPr>
            <a:spLocks noGrp="1"/>
          </p:cNvSpPr>
          <p:nvPr>
            <p:ph type="body" sz="quarter" idx="41" hasCustomPrompt="1"/>
          </p:nvPr>
        </p:nvSpPr>
        <p:spPr>
          <a:xfrm>
            <a:off x="8825497" y="5732616"/>
            <a:ext cx="2693323" cy="400110"/>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1049107" name="文本占位符 11"/>
          <p:cNvSpPr>
            <a:spLocks noGrp="1"/>
          </p:cNvSpPr>
          <p:nvPr>
            <p:ph type="body" sz="quarter" idx="42" hasCustomPrompt="1"/>
          </p:nvPr>
        </p:nvSpPr>
        <p:spPr>
          <a:xfrm>
            <a:off x="8825575" y="5327590"/>
            <a:ext cx="2693323"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4</a:t>
            </a:r>
            <a:endParaRPr lang="zh-CN" altLang="en-US" dirty="0"/>
          </a:p>
        </p:txBody>
      </p:sp>
      <p:sp>
        <p:nvSpPr>
          <p:cNvPr id="1049108" name="图片占位符 54"/>
          <p:cNvSpPr>
            <a:spLocks noGrp="1"/>
          </p:cNvSpPr>
          <p:nvPr>
            <p:ph type="pic" sz="quarter" idx="43"/>
          </p:nvPr>
        </p:nvSpPr>
        <p:spPr>
          <a:xfrm>
            <a:off x="3382047"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1049109" name="图片占位符 55"/>
          <p:cNvSpPr>
            <a:spLocks noGrp="1"/>
          </p:cNvSpPr>
          <p:nvPr>
            <p:ph type="pic" sz="quarter" idx="44"/>
          </p:nvPr>
        </p:nvSpPr>
        <p:spPr>
          <a:xfrm>
            <a:off x="6094226"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1049110" name="图片占位符 56"/>
          <p:cNvSpPr>
            <a:spLocks noGrp="1"/>
          </p:cNvSpPr>
          <p:nvPr>
            <p:ph type="pic" sz="quarter" idx="45"/>
          </p:nvPr>
        </p:nvSpPr>
        <p:spPr>
          <a:xfrm>
            <a:off x="8806405"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cxnSp>
        <p:nvCxnSpPr>
          <p:cNvPr id="3145754" name="直接连接符 26"/>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253" name="图片 27"/>
          <p:cNvPicPr>
            <a:picLocks noChangeAspect="1"/>
          </p:cNvPicPr>
          <p:nvPr userDrawn="1"/>
        </p:nvPicPr>
        <p:blipFill>
          <a:blip r:embed="rId3" cstate="print"/>
          <a:stretch>
            <a:fillRect/>
          </a:stretch>
        </p:blipFill>
        <p:spPr>
          <a:xfrm>
            <a:off x="10136962" y="292375"/>
            <a:ext cx="1375700" cy="43728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主副标题）">
    <p:spTree>
      <p:nvGrpSpPr>
        <p:cNvPr id="1" name=""/>
        <p:cNvGrpSpPr/>
        <p:nvPr/>
      </p:nvGrpSpPr>
      <p:grpSpPr>
        <a:xfrm>
          <a:off x="0" y="0"/>
          <a:ext cx="0" cy="0"/>
          <a:chOff x="0" y="0"/>
          <a:chExt cx="0" cy="0"/>
        </a:xfrm>
      </p:grpSpPr>
      <p:pic>
        <p:nvPicPr>
          <p:cNvPr id="2097156" name="图片 12"/>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sp>
        <p:nvSpPr>
          <p:cNvPr id="1048592"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sp>
        <p:nvSpPr>
          <p:cNvPr id="1048593" name="文本占位符 67"/>
          <p:cNvSpPr>
            <a:spLocks noGrp="1"/>
          </p:cNvSpPr>
          <p:nvPr>
            <p:ph type="body" sz="quarter" idx="12" hasCustomPrompt="1"/>
          </p:nvPr>
        </p:nvSpPr>
        <p:spPr>
          <a:xfrm>
            <a:off x="3950574" y="1119503"/>
            <a:ext cx="4290852" cy="585866"/>
          </a:xfrm>
          <a:prstGeom prst="rect">
            <a:avLst/>
          </a:prstGeom>
        </p:spPr>
        <p:txBody>
          <a:bodyPr lIns="90000" bIns="46800">
            <a:spAutoFit/>
          </a:bodyPr>
          <a:lstStyle>
            <a:lvl1pPr marL="0" indent="0" algn="ctr">
              <a:lnSpc>
                <a:spcPct val="100000"/>
              </a:lnSpc>
              <a:buNone/>
              <a:defRPr sz="3200" b="1">
                <a:solidFill>
                  <a:schemeClr val="accent1"/>
                </a:solidFill>
                <a:latin typeface="+mj-ea"/>
                <a:ea typeface="+mj-ea"/>
              </a:defRPr>
            </a:lvl1pPr>
          </a:lstStyle>
          <a:p>
            <a:pPr lvl="0"/>
            <a:r>
              <a:rPr lang="zh-CN" altLang="en-US" dirty="0"/>
              <a:t>请输入你的主标题</a:t>
            </a:r>
          </a:p>
        </p:txBody>
      </p:sp>
      <p:sp>
        <p:nvSpPr>
          <p:cNvPr id="1048594" name="文本占位符 67"/>
          <p:cNvSpPr>
            <a:spLocks noGrp="1"/>
          </p:cNvSpPr>
          <p:nvPr>
            <p:ph type="body" sz="quarter" idx="13" hasCustomPrompt="1"/>
          </p:nvPr>
        </p:nvSpPr>
        <p:spPr>
          <a:xfrm>
            <a:off x="3950574" y="1740158"/>
            <a:ext cx="4290852" cy="462755"/>
          </a:xfrm>
          <a:prstGeom prst="rect">
            <a:avLst/>
          </a:prstGeom>
        </p:spPr>
        <p:txBody>
          <a:bodyPr lIns="90000" bIns="46800">
            <a:spAutoFit/>
          </a:bodyPr>
          <a:lstStyle>
            <a:lvl1pPr marL="0" indent="0" algn="ctr">
              <a:lnSpc>
                <a:spcPct val="100000"/>
              </a:lnSpc>
              <a:buNone/>
              <a:defRPr sz="2400" b="1">
                <a:solidFill>
                  <a:schemeClr val="accent1"/>
                </a:solidFill>
                <a:latin typeface="+mj-ea"/>
                <a:ea typeface="+mj-ea"/>
              </a:defRPr>
            </a:lvl1pPr>
          </a:lstStyle>
          <a:p>
            <a:pPr lvl="0"/>
            <a:r>
              <a:rPr lang="zh-CN" altLang="en-US" dirty="0"/>
              <a:t>请输入你的副标题</a:t>
            </a:r>
          </a:p>
        </p:txBody>
      </p:sp>
      <p:sp>
        <p:nvSpPr>
          <p:cNvPr id="1048595" name="日期占位符 2"/>
          <p:cNvSpPr>
            <a:spLocks noGrp="1"/>
          </p:cNvSpPr>
          <p:nvPr>
            <p:ph type="dt" sz="half" idx="14"/>
          </p:nvPr>
        </p:nvSpPr>
        <p:spPr>
          <a:xfrm>
            <a:off x="660400" y="6385331"/>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8596" name="灯片编号占位符 4"/>
          <p:cNvSpPr>
            <a:spLocks noGrp="1"/>
          </p:cNvSpPr>
          <p:nvPr>
            <p:ph type="sldNum" sz="quarter" idx="16"/>
          </p:nvPr>
        </p:nvSpPr>
        <p:spPr>
          <a:xfrm>
            <a:off x="8775700" y="6385331"/>
            <a:ext cx="2743200" cy="365125"/>
          </a:xfrm>
        </p:spPr>
        <p:txBody>
          <a:bodyPr/>
          <a:lstStyle/>
          <a:p>
            <a:fld id="{C79ECAFE-A460-4E13-ABCB-32CAE6136244}" type="slidenum">
              <a:rPr lang="zh-CN" altLang="en-US" smtClean="0"/>
              <a:t>‹#›</a:t>
            </a:fld>
            <a:endParaRPr lang="zh-CN" altLang="en-US" dirty="0"/>
          </a:p>
        </p:txBody>
      </p:sp>
      <p:grpSp>
        <p:nvGrpSpPr>
          <p:cNvPr id="53" name="组合 17"/>
          <p:cNvGrpSpPr/>
          <p:nvPr userDrawn="1"/>
        </p:nvGrpSpPr>
        <p:grpSpPr>
          <a:xfrm>
            <a:off x="660400" y="344681"/>
            <a:ext cx="384771" cy="384771"/>
            <a:chOff x="669869" y="597306"/>
            <a:chExt cx="409972" cy="409973"/>
          </a:xfrm>
        </p:grpSpPr>
        <p:sp>
          <p:nvSpPr>
            <p:cNvPr id="1048597"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8598"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8599"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3145728" name="直接连接符 13"/>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157" name="图片 14"/>
          <p:cNvPicPr>
            <a:picLocks noChangeAspect="1"/>
          </p:cNvPicPr>
          <p:nvPr userDrawn="1"/>
        </p:nvPicPr>
        <p:blipFill>
          <a:blip r:embed="rId3" cstate="print"/>
          <a:stretch>
            <a:fillRect/>
          </a:stretch>
        </p:blipFill>
        <p:spPr>
          <a:xfrm>
            <a:off x="10136962" y="292375"/>
            <a:ext cx="1375700" cy="43728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标题（无主副标题）">
    <p:spTree>
      <p:nvGrpSpPr>
        <p:cNvPr id="1" name=""/>
        <p:cNvGrpSpPr/>
        <p:nvPr/>
      </p:nvGrpSpPr>
      <p:grpSpPr>
        <a:xfrm>
          <a:off x="0" y="0"/>
          <a:ext cx="0" cy="0"/>
          <a:chOff x="0" y="0"/>
          <a:chExt cx="0" cy="0"/>
        </a:xfrm>
      </p:grpSpPr>
      <p:pic>
        <p:nvPicPr>
          <p:cNvPr id="2097248" name="图片 10"/>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sp>
        <p:nvSpPr>
          <p:cNvPr id="1049071"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grpSp>
        <p:nvGrpSpPr>
          <p:cNvPr id="182" name="组合 15"/>
          <p:cNvGrpSpPr/>
          <p:nvPr userDrawn="1"/>
        </p:nvGrpSpPr>
        <p:grpSpPr>
          <a:xfrm>
            <a:off x="660400" y="344681"/>
            <a:ext cx="384771" cy="384771"/>
            <a:chOff x="669869" y="597306"/>
            <a:chExt cx="409972" cy="409973"/>
          </a:xfrm>
        </p:grpSpPr>
        <p:sp>
          <p:nvSpPr>
            <p:cNvPr id="1049072"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73"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74"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049075" name="日期占位符 3"/>
          <p:cNvSpPr>
            <a:spLocks noGrp="1"/>
          </p:cNvSpPr>
          <p:nvPr>
            <p:ph type="dt" sz="half" idx="12"/>
          </p:nvPr>
        </p:nvSpPr>
        <p:spPr>
          <a:xfrm>
            <a:off x="660400" y="6410275"/>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076" name="灯片编号占位符 6"/>
          <p:cNvSpPr>
            <a:spLocks noGrp="1"/>
          </p:cNvSpPr>
          <p:nvPr>
            <p:ph type="sldNum" sz="quarter" idx="14"/>
          </p:nvPr>
        </p:nvSpPr>
        <p:spPr>
          <a:xfrm>
            <a:off x="8775700" y="6410275"/>
            <a:ext cx="2743200" cy="365125"/>
          </a:xfrm>
        </p:spPr>
        <p:txBody>
          <a:bodyPr/>
          <a:lstStyle/>
          <a:p>
            <a:fld id="{C79ECAFE-A460-4E13-ABCB-32CAE6136244}" type="slidenum">
              <a:rPr lang="zh-CN" altLang="en-US" smtClean="0"/>
              <a:t>‹#›</a:t>
            </a:fld>
            <a:endParaRPr lang="zh-CN" altLang="en-US" dirty="0"/>
          </a:p>
        </p:txBody>
      </p:sp>
      <p:cxnSp>
        <p:nvCxnSpPr>
          <p:cNvPr id="3145752" name="直接连接符 11"/>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249" name="图片 12"/>
          <p:cNvPicPr>
            <a:picLocks noChangeAspect="1"/>
          </p:cNvPicPr>
          <p:nvPr userDrawn="1"/>
        </p:nvPicPr>
        <p:blipFill>
          <a:blip r:embed="rId3" cstate="print"/>
          <a:stretch>
            <a:fillRect/>
          </a:stretch>
        </p:blipFill>
        <p:spPr>
          <a:xfrm>
            <a:off x="10136962" y="292375"/>
            <a:ext cx="1375700" cy="43728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图文-1）">
    <p:spTree>
      <p:nvGrpSpPr>
        <p:cNvPr id="1" name=""/>
        <p:cNvGrpSpPr/>
        <p:nvPr/>
      </p:nvGrpSpPr>
      <p:grpSpPr>
        <a:xfrm>
          <a:off x="0" y="0"/>
          <a:ext cx="0" cy="0"/>
          <a:chOff x="0" y="0"/>
          <a:chExt cx="0" cy="0"/>
        </a:xfrm>
      </p:grpSpPr>
      <p:pic>
        <p:nvPicPr>
          <p:cNvPr id="2097256" name="图片 27"/>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sp>
        <p:nvSpPr>
          <p:cNvPr id="1049135" name="椭圆 60"/>
          <p:cNvSpPr/>
          <p:nvPr userDrawn="1"/>
        </p:nvSpPr>
        <p:spPr>
          <a:xfrm>
            <a:off x="5194921"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36" name="椭圆 61"/>
          <p:cNvSpPr/>
          <p:nvPr userDrawn="1"/>
        </p:nvSpPr>
        <p:spPr>
          <a:xfrm>
            <a:off x="8999857"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37" name="椭圆 29"/>
          <p:cNvSpPr/>
          <p:nvPr userDrawn="1"/>
        </p:nvSpPr>
        <p:spPr>
          <a:xfrm>
            <a:off x="1389985"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38" name="图片占位符 53"/>
          <p:cNvSpPr>
            <a:spLocks noGrp="1"/>
          </p:cNvSpPr>
          <p:nvPr>
            <p:ph type="pic" sz="quarter" idx="12"/>
          </p:nvPr>
        </p:nvSpPr>
        <p:spPr>
          <a:xfrm>
            <a:off x="1437869"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lstStyle>
          <a:p>
            <a:endParaRPr lang="zh-CN" altLang="en-US" dirty="0"/>
          </a:p>
        </p:txBody>
      </p:sp>
      <p:sp>
        <p:nvSpPr>
          <p:cNvPr id="1049139"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sp>
        <p:nvSpPr>
          <p:cNvPr id="1049140" name="矩形 28"/>
          <p:cNvSpPr/>
          <p:nvPr userDrawn="1"/>
        </p:nvSpPr>
        <p:spPr>
          <a:xfrm>
            <a:off x="660400"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41" name="矩形 31"/>
          <p:cNvSpPr/>
          <p:nvPr userDrawn="1"/>
        </p:nvSpPr>
        <p:spPr>
          <a:xfrm>
            <a:off x="8270272"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42" name="矩形 40"/>
          <p:cNvSpPr/>
          <p:nvPr userDrawn="1"/>
        </p:nvSpPr>
        <p:spPr>
          <a:xfrm>
            <a:off x="4465336"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43" name="图片占位符 58"/>
          <p:cNvSpPr>
            <a:spLocks noGrp="1"/>
          </p:cNvSpPr>
          <p:nvPr>
            <p:ph type="pic" sz="quarter" idx="13"/>
          </p:nvPr>
        </p:nvSpPr>
        <p:spPr>
          <a:xfrm>
            <a:off x="5242805"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lstStyle>
          <a:p>
            <a:endParaRPr lang="zh-CN" altLang="en-US" dirty="0"/>
          </a:p>
        </p:txBody>
      </p:sp>
      <p:sp>
        <p:nvSpPr>
          <p:cNvPr id="1049144" name="图片占位符 59"/>
          <p:cNvSpPr>
            <a:spLocks noGrp="1"/>
          </p:cNvSpPr>
          <p:nvPr>
            <p:ph type="pic" sz="quarter" idx="14"/>
          </p:nvPr>
        </p:nvSpPr>
        <p:spPr>
          <a:xfrm>
            <a:off x="9047741"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lstStyle>
          <a:p>
            <a:endParaRPr lang="zh-CN" altLang="en-US"/>
          </a:p>
        </p:txBody>
      </p:sp>
      <p:sp>
        <p:nvSpPr>
          <p:cNvPr id="1049145" name="文本占位符 8"/>
          <p:cNvSpPr>
            <a:spLocks noGrp="1"/>
          </p:cNvSpPr>
          <p:nvPr>
            <p:ph type="body" sz="quarter" idx="15" hasCustomPrompt="1"/>
          </p:nvPr>
        </p:nvSpPr>
        <p:spPr>
          <a:xfrm>
            <a:off x="943753"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p>
        </p:txBody>
      </p:sp>
      <p:sp>
        <p:nvSpPr>
          <p:cNvPr id="1049146" name="文本占位符 11"/>
          <p:cNvSpPr>
            <a:spLocks noGrp="1"/>
          </p:cNvSpPr>
          <p:nvPr>
            <p:ph type="body" sz="quarter" idx="16" hasCustomPrompt="1"/>
          </p:nvPr>
        </p:nvSpPr>
        <p:spPr>
          <a:xfrm>
            <a:off x="822334"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p>
        </p:txBody>
      </p:sp>
      <p:sp>
        <p:nvSpPr>
          <p:cNvPr id="1049147" name="文本占位符 8"/>
          <p:cNvSpPr>
            <a:spLocks noGrp="1"/>
          </p:cNvSpPr>
          <p:nvPr>
            <p:ph type="body" sz="quarter" idx="17" hasCustomPrompt="1"/>
          </p:nvPr>
        </p:nvSpPr>
        <p:spPr>
          <a:xfrm>
            <a:off x="4748689"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p>
        </p:txBody>
      </p:sp>
      <p:sp>
        <p:nvSpPr>
          <p:cNvPr id="1049148" name="文本占位符 11"/>
          <p:cNvSpPr>
            <a:spLocks noGrp="1"/>
          </p:cNvSpPr>
          <p:nvPr>
            <p:ph type="body" sz="quarter" idx="18" hasCustomPrompt="1"/>
          </p:nvPr>
        </p:nvSpPr>
        <p:spPr>
          <a:xfrm>
            <a:off x="4627270"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p>
        </p:txBody>
      </p:sp>
      <p:sp>
        <p:nvSpPr>
          <p:cNvPr id="1049149" name="文本占位符 8"/>
          <p:cNvSpPr>
            <a:spLocks noGrp="1"/>
          </p:cNvSpPr>
          <p:nvPr>
            <p:ph type="body" sz="quarter" idx="19" hasCustomPrompt="1"/>
          </p:nvPr>
        </p:nvSpPr>
        <p:spPr>
          <a:xfrm>
            <a:off x="8553625"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p>
        </p:txBody>
      </p:sp>
      <p:sp>
        <p:nvSpPr>
          <p:cNvPr id="1049150" name="文本占位符 11"/>
          <p:cNvSpPr>
            <a:spLocks noGrp="1"/>
          </p:cNvSpPr>
          <p:nvPr>
            <p:ph type="body" sz="quarter" idx="20" hasCustomPrompt="1"/>
          </p:nvPr>
        </p:nvSpPr>
        <p:spPr>
          <a:xfrm>
            <a:off x="8432206"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p>
        </p:txBody>
      </p:sp>
      <p:sp>
        <p:nvSpPr>
          <p:cNvPr id="1049151" name="日期占位符 2"/>
          <p:cNvSpPr>
            <a:spLocks noGrp="1"/>
          </p:cNvSpPr>
          <p:nvPr>
            <p:ph type="dt" sz="half" idx="21"/>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152" name="灯片编号占位符 4"/>
          <p:cNvSpPr>
            <a:spLocks noGrp="1"/>
          </p:cNvSpPr>
          <p:nvPr>
            <p:ph type="sldNum" sz="quarter" idx="23"/>
          </p:nvPr>
        </p:nvSpPr>
        <p:spPr/>
        <p:txBody>
          <a:bodyPr/>
          <a:lstStyle/>
          <a:p>
            <a:fld id="{C79ECAFE-A460-4E13-ABCB-32CAE6136244}" type="slidenum">
              <a:rPr lang="zh-CN" altLang="en-US" smtClean="0"/>
              <a:t>‹#›</a:t>
            </a:fld>
            <a:endParaRPr lang="zh-CN" altLang="en-US" dirty="0"/>
          </a:p>
        </p:txBody>
      </p:sp>
      <p:grpSp>
        <p:nvGrpSpPr>
          <p:cNvPr id="192" name="组合 34"/>
          <p:cNvGrpSpPr/>
          <p:nvPr userDrawn="1"/>
        </p:nvGrpSpPr>
        <p:grpSpPr>
          <a:xfrm>
            <a:off x="660400" y="344681"/>
            <a:ext cx="384771" cy="384771"/>
            <a:chOff x="669869" y="597306"/>
            <a:chExt cx="409972" cy="409973"/>
          </a:xfrm>
        </p:grpSpPr>
        <p:sp>
          <p:nvSpPr>
            <p:cNvPr id="104915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5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55"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3145756" name="直接连接符 26"/>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257" name="图片 30"/>
          <p:cNvPicPr>
            <a:picLocks noChangeAspect="1"/>
          </p:cNvPicPr>
          <p:nvPr userDrawn="1"/>
        </p:nvPicPr>
        <p:blipFill>
          <a:blip r:embed="rId3" cstate="print"/>
          <a:stretch>
            <a:fillRect/>
          </a:stretch>
        </p:blipFill>
        <p:spPr>
          <a:xfrm>
            <a:off x="10136962" y="292375"/>
            <a:ext cx="1375700" cy="43728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图文-2）">
    <p:spTree>
      <p:nvGrpSpPr>
        <p:cNvPr id="1" name=""/>
        <p:cNvGrpSpPr/>
        <p:nvPr/>
      </p:nvGrpSpPr>
      <p:grpSpPr>
        <a:xfrm>
          <a:off x="0" y="0"/>
          <a:ext cx="0" cy="0"/>
          <a:chOff x="0" y="0"/>
          <a:chExt cx="0" cy="0"/>
        </a:xfrm>
      </p:grpSpPr>
      <p:pic>
        <p:nvPicPr>
          <p:cNvPr id="2097246" name="图片 28"/>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sp>
        <p:nvSpPr>
          <p:cNvPr id="1049057"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cxnSp>
        <p:nvCxnSpPr>
          <p:cNvPr id="3145750" name="直接连接符 27"/>
          <p:cNvCxnSpPr>
            <a:cxnSpLocks/>
          </p:cNvCxnSpPr>
          <p:nvPr userDrawn="1"/>
        </p:nvCxnSpPr>
        <p:spPr>
          <a:xfrm>
            <a:off x="669228" y="3632200"/>
            <a:ext cx="10858500" cy="0"/>
          </a:xfrm>
          <a:prstGeom prst="line">
            <a:avLst/>
          </a:prstGeom>
          <a:ln w="25400" cap="flat">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49058" name="矩形 34"/>
          <p:cNvSpPr/>
          <p:nvPr userDrawn="1"/>
        </p:nvSpPr>
        <p:spPr>
          <a:xfrm>
            <a:off x="669228" y="1496583"/>
            <a:ext cx="2124544" cy="1785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059" name="矩形 39"/>
          <p:cNvSpPr/>
          <p:nvPr userDrawn="1"/>
        </p:nvSpPr>
        <p:spPr>
          <a:xfrm>
            <a:off x="9394356" y="3984612"/>
            <a:ext cx="2124544" cy="1785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060" name="图片占位符 42"/>
          <p:cNvSpPr>
            <a:spLocks noGrp="1"/>
          </p:cNvSpPr>
          <p:nvPr>
            <p:ph type="pic" sz="quarter" idx="12"/>
          </p:nvPr>
        </p:nvSpPr>
        <p:spPr>
          <a:xfrm>
            <a:off x="726750" y="1536731"/>
            <a:ext cx="2009500" cy="1689041"/>
          </a:xfrm>
          <a:custGeom>
            <a:avLst/>
            <a:gdLst>
              <a:gd name="connsiteX0" fmla="*/ 0 w 2009500"/>
              <a:gd name="connsiteY0" fmla="*/ 0 h 1689041"/>
              <a:gd name="connsiteX1" fmla="*/ 2009500 w 2009500"/>
              <a:gd name="connsiteY1" fmla="*/ 0 h 1689041"/>
              <a:gd name="connsiteX2" fmla="*/ 2009500 w 2009500"/>
              <a:gd name="connsiteY2" fmla="*/ 1689041 h 1689041"/>
              <a:gd name="connsiteX3" fmla="*/ 0 w 2009500"/>
              <a:gd name="connsiteY3" fmla="*/ 1689041 h 1689041"/>
            </a:gdLst>
            <a:ahLst/>
            <a:cxnLst>
              <a:cxn ang="0">
                <a:pos x="connsiteX0" y="connsiteY0"/>
              </a:cxn>
              <a:cxn ang="0">
                <a:pos x="connsiteX1" y="connsiteY1"/>
              </a:cxn>
              <a:cxn ang="0">
                <a:pos x="connsiteX2" y="connsiteY2"/>
              </a:cxn>
              <a:cxn ang="0">
                <a:pos x="connsiteX3" y="connsiteY3"/>
              </a:cxn>
            </a:cxnLst>
            <a:rect l="l" t="t" r="r" b="b"/>
            <a:pathLst>
              <a:path w="2009500" h="1689041">
                <a:moveTo>
                  <a:pt x="0" y="0"/>
                </a:moveTo>
                <a:lnTo>
                  <a:pt x="2009500" y="0"/>
                </a:lnTo>
                <a:lnTo>
                  <a:pt x="2009500" y="1689041"/>
                </a:lnTo>
                <a:lnTo>
                  <a:pt x="0" y="1689041"/>
                </a:lnTo>
                <a:close/>
              </a:path>
            </a:pathLst>
          </a:custGeom>
        </p:spPr>
        <p:txBody>
          <a:bodyPr wrap="square">
            <a:noAutofit/>
          </a:bodyPr>
          <a:lstStyle/>
          <a:p>
            <a:endParaRPr lang="zh-CN" altLang="en-US" dirty="0"/>
          </a:p>
        </p:txBody>
      </p:sp>
      <p:sp>
        <p:nvSpPr>
          <p:cNvPr id="1049061" name="图片占位符 43"/>
          <p:cNvSpPr>
            <a:spLocks noGrp="1"/>
          </p:cNvSpPr>
          <p:nvPr>
            <p:ph type="pic" sz="quarter" idx="13"/>
          </p:nvPr>
        </p:nvSpPr>
        <p:spPr>
          <a:xfrm>
            <a:off x="9451878" y="4032961"/>
            <a:ext cx="2009500" cy="1689041"/>
          </a:xfrm>
          <a:custGeom>
            <a:avLst/>
            <a:gdLst>
              <a:gd name="connsiteX0" fmla="*/ 0 w 2009500"/>
              <a:gd name="connsiteY0" fmla="*/ 0 h 1689041"/>
              <a:gd name="connsiteX1" fmla="*/ 2009500 w 2009500"/>
              <a:gd name="connsiteY1" fmla="*/ 0 h 1689041"/>
              <a:gd name="connsiteX2" fmla="*/ 2009500 w 2009500"/>
              <a:gd name="connsiteY2" fmla="*/ 1689041 h 1689041"/>
              <a:gd name="connsiteX3" fmla="*/ 0 w 2009500"/>
              <a:gd name="connsiteY3" fmla="*/ 1689041 h 1689041"/>
            </a:gdLst>
            <a:ahLst/>
            <a:cxnLst>
              <a:cxn ang="0">
                <a:pos x="connsiteX0" y="connsiteY0"/>
              </a:cxn>
              <a:cxn ang="0">
                <a:pos x="connsiteX1" y="connsiteY1"/>
              </a:cxn>
              <a:cxn ang="0">
                <a:pos x="connsiteX2" y="connsiteY2"/>
              </a:cxn>
              <a:cxn ang="0">
                <a:pos x="connsiteX3" y="connsiteY3"/>
              </a:cxn>
            </a:cxnLst>
            <a:rect l="l" t="t" r="r" b="b"/>
            <a:pathLst>
              <a:path w="2009500" h="1689041">
                <a:moveTo>
                  <a:pt x="0" y="0"/>
                </a:moveTo>
                <a:lnTo>
                  <a:pt x="2009500" y="0"/>
                </a:lnTo>
                <a:lnTo>
                  <a:pt x="2009500" y="1689041"/>
                </a:lnTo>
                <a:lnTo>
                  <a:pt x="0" y="1689041"/>
                </a:lnTo>
                <a:close/>
              </a:path>
            </a:pathLst>
          </a:custGeom>
        </p:spPr>
        <p:txBody>
          <a:bodyPr wrap="square">
            <a:noAutofit/>
          </a:bodyPr>
          <a:lstStyle/>
          <a:p>
            <a:endParaRPr lang="zh-CN" altLang="en-US" dirty="0"/>
          </a:p>
        </p:txBody>
      </p:sp>
      <p:sp>
        <p:nvSpPr>
          <p:cNvPr id="1049062" name="文本占位符 4"/>
          <p:cNvSpPr>
            <a:spLocks noGrp="1"/>
          </p:cNvSpPr>
          <p:nvPr>
            <p:ph type="body" sz="quarter" idx="14" hasCustomPrompt="1"/>
          </p:nvPr>
        </p:nvSpPr>
        <p:spPr>
          <a:xfrm>
            <a:off x="3246271" y="1535879"/>
            <a:ext cx="2793341" cy="461962"/>
          </a:xfrm>
          <a:prstGeom prst="rect">
            <a:avLst/>
          </a:prstGeom>
        </p:spPr>
        <p:txBody>
          <a:bodyPr lIns="0">
            <a:normAutofit/>
          </a:bodyPr>
          <a:lstStyle>
            <a:lvl1pPr marL="0" indent="0">
              <a:lnSpc>
                <a:spcPct val="100000"/>
              </a:lnSpc>
              <a:buNone/>
              <a:defRPr sz="2400" b="1">
                <a:solidFill>
                  <a:schemeClr val="accent1"/>
                </a:solidFill>
              </a:defRPr>
            </a:lvl1pPr>
          </a:lstStyle>
          <a:p>
            <a:pPr lvl="0"/>
            <a:r>
              <a:rPr lang="zh-CN" altLang="en-US" dirty="0"/>
              <a:t>请输入你的标题</a:t>
            </a:r>
          </a:p>
        </p:txBody>
      </p:sp>
      <p:sp>
        <p:nvSpPr>
          <p:cNvPr id="1049063" name="文本占位符 4"/>
          <p:cNvSpPr>
            <a:spLocks noGrp="1"/>
          </p:cNvSpPr>
          <p:nvPr>
            <p:ph type="body" sz="quarter" idx="15" hasCustomPrompt="1"/>
          </p:nvPr>
        </p:nvSpPr>
        <p:spPr>
          <a:xfrm>
            <a:off x="6148516" y="4025048"/>
            <a:ext cx="2793341" cy="461962"/>
          </a:xfrm>
          <a:prstGeom prst="rect">
            <a:avLst/>
          </a:prstGeom>
        </p:spPr>
        <p:txBody>
          <a:bodyPr lIns="90000" rIns="0">
            <a:normAutofit/>
          </a:bodyPr>
          <a:lstStyle>
            <a:lvl1pPr marL="0" indent="0" algn="r">
              <a:lnSpc>
                <a:spcPct val="100000"/>
              </a:lnSpc>
              <a:buNone/>
              <a:defRPr sz="2400" b="1">
                <a:solidFill>
                  <a:schemeClr val="accent1"/>
                </a:solidFill>
              </a:defRPr>
            </a:lvl1pPr>
          </a:lstStyle>
          <a:p>
            <a:pPr lvl="0"/>
            <a:r>
              <a:rPr lang="zh-CN" altLang="en-US" dirty="0"/>
              <a:t>请输入你的标题</a:t>
            </a:r>
          </a:p>
        </p:txBody>
      </p:sp>
      <p:sp>
        <p:nvSpPr>
          <p:cNvPr id="1049064" name="文本占位符 11"/>
          <p:cNvSpPr>
            <a:spLocks noGrp="1"/>
          </p:cNvSpPr>
          <p:nvPr>
            <p:ph type="body" sz="quarter" idx="18" hasCustomPrompt="1"/>
          </p:nvPr>
        </p:nvSpPr>
        <p:spPr>
          <a:xfrm>
            <a:off x="3246271" y="2153813"/>
            <a:ext cx="8272629" cy="646331"/>
          </a:xfrm>
          <a:prstGeom prst="rect">
            <a:avLst/>
          </a:prstGeom>
        </p:spPr>
        <p:txBody>
          <a:bodyPr lIns="0">
            <a:noAutofit/>
          </a:bodyPr>
          <a:lstStyle>
            <a:lvl1pPr marL="0" indent="0" algn="l">
              <a:lnSpc>
                <a:spcPct val="130000"/>
              </a:lnSpc>
              <a:buNone/>
              <a:defRPr sz="1800"/>
            </a:lvl1pPr>
          </a:lstStyle>
          <a:p>
            <a:pPr lvl="0"/>
            <a:r>
              <a:rPr lang="zh-CN" altLang="en-US" dirty="0"/>
              <a:t>请输入你的内容</a:t>
            </a:r>
          </a:p>
        </p:txBody>
      </p:sp>
      <p:sp>
        <p:nvSpPr>
          <p:cNvPr id="1049065" name="文本占位符 11"/>
          <p:cNvSpPr>
            <a:spLocks noGrp="1"/>
          </p:cNvSpPr>
          <p:nvPr>
            <p:ph type="body" sz="quarter" idx="19" hasCustomPrompt="1"/>
          </p:nvPr>
        </p:nvSpPr>
        <p:spPr>
          <a:xfrm>
            <a:off x="669228" y="4619089"/>
            <a:ext cx="8272629" cy="646331"/>
          </a:xfrm>
          <a:prstGeom prst="rect">
            <a:avLst/>
          </a:prstGeom>
        </p:spPr>
        <p:txBody>
          <a:bodyPr lIns="90000" rIns="0">
            <a:noAutofit/>
          </a:bodyPr>
          <a:lstStyle>
            <a:lvl1pPr marL="0" indent="0" algn="r">
              <a:lnSpc>
                <a:spcPct val="130000"/>
              </a:lnSpc>
              <a:buNone/>
              <a:defRPr sz="1800"/>
            </a:lvl1pPr>
          </a:lstStyle>
          <a:p>
            <a:pPr lvl="0"/>
            <a:r>
              <a:rPr lang="zh-CN" altLang="en-US" dirty="0"/>
              <a:t>请输入你的内容</a:t>
            </a:r>
          </a:p>
        </p:txBody>
      </p:sp>
      <p:sp>
        <p:nvSpPr>
          <p:cNvPr id="1049066" name="日期占位符 2"/>
          <p:cNvSpPr>
            <a:spLocks noGrp="1"/>
          </p:cNvSpPr>
          <p:nvPr>
            <p:ph type="dt" sz="half" idx="20"/>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067" name="灯片编号占位符 5"/>
          <p:cNvSpPr>
            <a:spLocks noGrp="1"/>
          </p:cNvSpPr>
          <p:nvPr>
            <p:ph type="sldNum" sz="quarter" idx="22"/>
          </p:nvPr>
        </p:nvSpPr>
        <p:spPr/>
        <p:txBody>
          <a:bodyPr/>
          <a:lstStyle/>
          <a:p>
            <a:fld id="{C79ECAFE-A460-4E13-ABCB-32CAE6136244}" type="slidenum">
              <a:rPr lang="zh-CN" altLang="en-US" smtClean="0"/>
              <a:t>‹#›</a:t>
            </a:fld>
            <a:endParaRPr lang="zh-CN" altLang="en-US" dirty="0"/>
          </a:p>
        </p:txBody>
      </p:sp>
      <p:grpSp>
        <p:nvGrpSpPr>
          <p:cNvPr id="180" name="组合 31"/>
          <p:cNvGrpSpPr/>
          <p:nvPr userDrawn="1"/>
        </p:nvGrpSpPr>
        <p:grpSpPr>
          <a:xfrm>
            <a:off x="660400" y="344681"/>
            <a:ext cx="384771" cy="384771"/>
            <a:chOff x="669869" y="597306"/>
            <a:chExt cx="409972" cy="409973"/>
          </a:xfrm>
        </p:grpSpPr>
        <p:sp>
          <p:nvSpPr>
            <p:cNvPr id="1049068"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69"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70"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3145751" name="直接连接符 20"/>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247" name="图片 21"/>
          <p:cNvPicPr>
            <a:picLocks noChangeAspect="1"/>
          </p:cNvPicPr>
          <p:nvPr userDrawn="1"/>
        </p:nvPicPr>
        <p:blipFill>
          <a:blip r:embed="rId3" cstate="print"/>
          <a:stretch>
            <a:fillRect/>
          </a:stretch>
        </p:blipFill>
        <p:spPr>
          <a:xfrm>
            <a:off x="10136962" y="292375"/>
            <a:ext cx="1375700" cy="43728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图文-3）">
    <p:spTree>
      <p:nvGrpSpPr>
        <p:cNvPr id="1" name=""/>
        <p:cNvGrpSpPr/>
        <p:nvPr/>
      </p:nvGrpSpPr>
      <p:grpSpPr>
        <a:xfrm>
          <a:off x="0" y="0"/>
          <a:ext cx="0" cy="0"/>
          <a:chOff x="0" y="0"/>
          <a:chExt cx="0" cy="0"/>
        </a:xfrm>
      </p:grpSpPr>
      <p:pic>
        <p:nvPicPr>
          <p:cNvPr id="2097254" name="图片 28"/>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sp>
        <p:nvSpPr>
          <p:cNvPr id="1049115" name="图片占位符 13"/>
          <p:cNvSpPr>
            <a:spLocks noGrp="1"/>
          </p:cNvSpPr>
          <p:nvPr>
            <p:ph type="pic" sz="quarter" idx="12"/>
          </p:nvPr>
        </p:nvSpPr>
        <p:spPr>
          <a:xfrm>
            <a:off x="660402" y="2447962"/>
            <a:ext cx="4420885" cy="3686138"/>
          </a:xfrm>
          <a:custGeom>
            <a:avLst/>
            <a:gdLst>
              <a:gd name="connsiteX0" fmla="*/ 0 w 4420885"/>
              <a:gd name="connsiteY0" fmla="*/ 0 h 3686138"/>
              <a:gd name="connsiteX1" fmla="*/ 4420885 w 4420885"/>
              <a:gd name="connsiteY1" fmla="*/ 0 h 3686138"/>
              <a:gd name="connsiteX2" fmla="*/ 4420885 w 4420885"/>
              <a:gd name="connsiteY2" fmla="*/ 3686138 h 3686138"/>
              <a:gd name="connsiteX3" fmla="*/ 0 w 4420885"/>
              <a:gd name="connsiteY3" fmla="*/ 3686138 h 3686138"/>
            </a:gdLst>
            <a:ahLst/>
            <a:cxnLst>
              <a:cxn ang="0">
                <a:pos x="connsiteX0" y="connsiteY0"/>
              </a:cxn>
              <a:cxn ang="0">
                <a:pos x="connsiteX1" y="connsiteY1"/>
              </a:cxn>
              <a:cxn ang="0">
                <a:pos x="connsiteX2" y="connsiteY2"/>
              </a:cxn>
              <a:cxn ang="0">
                <a:pos x="connsiteX3" y="connsiteY3"/>
              </a:cxn>
            </a:cxnLst>
            <a:rect l="l" t="t" r="r" b="b"/>
            <a:pathLst>
              <a:path w="4420885" h="3686138">
                <a:moveTo>
                  <a:pt x="0" y="0"/>
                </a:moveTo>
                <a:lnTo>
                  <a:pt x="4420885" y="0"/>
                </a:lnTo>
                <a:lnTo>
                  <a:pt x="4420885" y="3686138"/>
                </a:lnTo>
                <a:lnTo>
                  <a:pt x="0" y="3686138"/>
                </a:lnTo>
                <a:close/>
              </a:path>
            </a:pathLst>
          </a:custGeom>
        </p:spPr>
        <p:txBody>
          <a:bodyPr wrap="square">
            <a:noAutofit/>
          </a:bodyPr>
          <a:lstStyle/>
          <a:p>
            <a:endParaRPr lang="zh-CN" altLang="en-US"/>
          </a:p>
        </p:txBody>
      </p:sp>
      <p:sp>
        <p:nvSpPr>
          <p:cNvPr id="1049116"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sp>
        <p:nvSpPr>
          <p:cNvPr id="1049117" name="任意多边形: 形状 15"/>
          <p:cNvSpPr/>
          <p:nvPr userDrawn="1"/>
        </p:nvSpPr>
        <p:spPr>
          <a:xfrm>
            <a:off x="5162118" y="2447964"/>
            <a:ext cx="3154730" cy="1802652"/>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118" name="任意多边形: 形状 16"/>
          <p:cNvSpPr/>
          <p:nvPr userDrawn="1"/>
        </p:nvSpPr>
        <p:spPr>
          <a:xfrm>
            <a:off x="8397680" y="2447964"/>
            <a:ext cx="3154731" cy="1802652"/>
          </a:xfrm>
          <a:custGeom>
            <a:avLst/>
            <a:gdLst>
              <a:gd name="connsiteX0" fmla="*/ 0 w 3154731"/>
              <a:gd name="connsiteY0" fmla="*/ 0 h 1829349"/>
              <a:gd name="connsiteX1" fmla="*/ 3154731 w 3154731"/>
              <a:gd name="connsiteY1" fmla="*/ 0 h 1829349"/>
              <a:gd name="connsiteX2" fmla="*/ 3154731 w 3154731"/>
              <a:gd name="connsiteY2" fmla="*/ 1829349 h 1829349"/>
              <a:gd name="connsiteX3" fmla="*/ 0 w 3154731"/>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1" h="1829349">
                <a:moveTo>
                  <a:pt x="0" y="0"/>
                </a:moveTo>
                <a:lnTo>
                  <a:pt x="3154731" y="0"/>
                </a:lnTo>
                <a:lnTo>
                  <a:pt x="3154731"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119" name="任意多边形: 形状 17"/>
          <p:cNvSpPr/>
          <p:nvPr userDrawn="1"/>
        </p:nvSpPr>
        <p:spPr>
          <a:xfrm>
            <a:off x="5162118" y="4331447"/>
            <a:ext cx="3154730" cy="1802654"/>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1049120" name="任意多边形: 形状 27"/>
          <p:cNvSpPr/>
          <p:nvPr userDrawn="1"/>
        </p:nvSpPr>
        <p:spPr>
          <a:xfrm>
            <a:off x="8397680" y="4331447"/>
            <a:ext cx="3154731" cy="1802654"/>
          </a:xfrm>
          <a:custGeom>
            <a:avLst/>
            <a:gdLst>
              <a:gd name="connsiteX0" fmla="*/ 0 w 3154731"/>
              <a:gd name="connsiteY0" fmla="*/ 0 h 1829349"/>
              <a:gd name="connsiteX1" fmla="*/ 3154731 w 3154731"/>
              <a:gd name="connsiteY1" fmla="*/ 0 h 1829349"/>
              <a:gd name="connsiteX2" fmla="*/ 3154731 w 3154731"/>
              <a:gd name="connsiteY2" fmla="*/ 1829349 h 1829349"/>
              <a:gd name="connsiteX3" fmla="*/ 0 w 3154731"/>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1" h="1829349">
                <a:moveTo>
                  <a:pt x="0" y="0"/>
                </a:moveTo>
                <a:lnTo>
                  <a:pt x="3154731" y="0"/>
                </a:lnTo>
                <a:lnTo>
                  <a:pt x="3154731"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121" name="文本占位符 8"/>
          <p:cNvSpPr>
            <a:spLocks noGrp="1"/>
          </p:cNvSpPr>
          <p:nvPr>
            <p:ph type="body" sz="quarter" idx="13" hasCustomPrompt="1"/>
          </p:nvPr>
        </p:nvSpPr>
        <p:spPr>
          <a:xfrm>
            <a:off x="5398522" y="2612248"/>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p>
        </p:txBody>
      </p:sp>
      <p:sp>
        <p:nvSpPr>
          <p:cNvPr id="1049122" name="文本占位符 11"/>
          <p:cNvSpPr>
            <a:spLocks noGrp="1"/>
          </p:cNvSpPr>
          <p:nvPr>
            <p:ph type="body" sz="quarter" idx="14" hasCustomPrompt="1"/>
          </p:nvPr>
        </p:nvSpPr>
        <p:spPr>
          <a:xfrm>
            <a:off x="5277103" y="3336053"/>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p>
        </p:txBody>
      </p:sp>
      <p:sp>
        <p:nvSpPr>
          <p:cNvPr id="1049123" name="文本占位符 8"/>
          <p:cNvSpPr>
            <a:spLocks noGrp="1"/>
          </p:cNvSpPr>
          <p:nvPr>
            <p:ph type="body" sz="quarter" idx="15" hasCustomPrompt="1"/>
          </p:nvPr>
        </p:nvSpPr>
        <p:spPr>
          <a:xfrm>
            <a:off x="8634084" y="2612248"/>
            <a:ext cx="2681922" cy="461665"/>
          </a:xfrm>
          <a:prstGeom prst="rect">
            <a:avLst/>
          </a:prstGeom>
        </p:spPr>
        <p:txBody>
          <a:bodyPr wrap="square">
            <a:spAutoFit/>
          </a:bodyPr>
          <a:lstStyle>
            <a:lvl1pPr marL="0" indent="0" algn="ctr">
              <a:lnSpc>
                <a:spcPct val="100000"/>
              </a:lnSpc>
              <a:buNone/>
              <a:defRPr sz="2400" b="1">
                <a:solidFill>
                  <a:schemeClr val="accent1"/>
                </a:solidFill>
              </a:defRPr>
            </a:lvl1pPr>
          </a:lstStyle>
          <a:p>
            <a:pPr lvl="0"/>
            <a:r>
              <a:rPr lang="zh-CN" altLang="en-US" dirty="0"/>
              <a:t>请输入你的标题</a:t>
            </a:r>
          </a:p>
        </p:txBody>
      </p:sp>
      <p:sp>
        <p:nvSpPr>
          <p:cNvPr id="1049124" name="文本占位符 11"/>
          <p:cNvSpPr>
            <a:spLocks noGrp="1"/>
          </p:cNvSpPr>
          <p:nvPr>
            <p:ph type="body" sz="quarter" idx="16" hasCustomPrompt="1"/>
          </p:nvPr>
        </p:nvSpPr>
        <p:spPr>
          <a:xfrm>
            <a:off x="8512665" y="3336053"/>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p>
        </p:txBody>
      </p:sp>
      <p:sp>
        <p:nvSpPr>
          <p:cNvPr id="1049125" name="文本占位符 8"/>
          <p:cNvSpPr>
            <a:spLocks noGrp="1"/>
          </p:cNvSpPr>
          <p:nvPr>
            <p:ph type="body" sz="quarter" idx="17" hasCustomPrompt="1"/>
          </p:nvPr>
        </p:nvSpPr>
        <p:spPr>
          <a:xfrm>
            <a:off x="8634084" y="4499120"/>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p>
        </p:txBody>
      </p:sp>
      <p:sp>
        <p:nvSpPr>
          <p:cNvPr id="1049126" name="文本占位符 11"/>
          <p:cNvSpPr>
            <a:spLocks noGrp="1"/>
          </p:cNvSpPr>
          <p:nvPr>
            <p:ph type="body" sz="quarter" idx="18" hasCustomPrompt="1"/>
          </p:nvPr>
        </p:nvSpPr>
        <p:spPr>
          <a:xfrm>
            <a:off x="8512665" y="5222925"/>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p>
        </p:txBody>
      </p:sp>
      <p:sp>
        <p:nvSpPr>
          <p:cNvPr id="1049127" name="文本占位符 8"/>
          <p:cNvSpPr>
            <a:spLocks noGrp="1"/>
          </p:cNvSpPr>
          <p:nvPr>
            <p:ph type="body" sz="quarter" idx="19" hasCustomPrompt="1"/>
          </p:nvPr>
        </p:nvSpPr>
        <p:spPr>
          <a:xfrm>
            <a:off x="5398522" y="4499120"/>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p>
        </p:txBody>
      </p:sp>
      <p:sp>
        <p:nvSpPr>
          <p:cNvPr id="1049128" name="文本占位符 11"/>
          <p:cNvSpPr>
            <a:spLocks noGrp="1"/>
          </p:cNvSpPr>
          <p:nvPr>
            <p:ph type="body" sz="quarter" idx="20" hasCustomPrompt="1"/>
          </p:nvPr>
        </p:nvSpPr>
        <p:spPr>
          <a:xfrm>
            <a:off x="5277103" y="5222925"/>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p>
        </p:txBody>
      </p:sp>
      <p:sp>
        <p:nvSpPr>
          <p:cNvPr id="1049129" name="文本占位符 11"/>
          <p:cNvSpPr>
            <a:spLocks noGrp="1"/>
          </p:cNvSpPr>
          <p:nvPr>
            <p:ph type="body" sz="quarter" idx="21" hasCustomPrompt="1"/>
          </p:nvPr>
        </p:nvSpPr>
        <p:spPr>
          <a:xfrm>
            <a:off x="660400" y="1337587"/>
            <a:ext cx="10858500" cy="735563"/>
          </a:xfrm>
          <a:prstGeom prst="rect">
            <a:avLst/>
          </a:prstGeom>
        </p:spPr>
        <p:txBody>
          <a:bodyPr>
            <a:noAutofit/>
          </a:bodyPr>
          <a:lstStyle>
            <a:lvl1pPr marL="0" indent="0" algn="ctr">
              <a:lnSpc>
                <a:spcPct val="130000"/>
              </a:lnSpc>
              <a:buNone/>
              <a:defRPr sz="1800"/>
            </a:lvl1pPr>
          </a:lstStyle>
          <a:p>
            <a:pPr lvl="0"/>
            <a:r>
              <a:rPr lang="zh-CN" altLang="en-US" dirty="0"/>
              <a:t>请输入你的内容</a:t>
            </a:r>
          </a:p>
        </p:txBody>
      </p:sp>
      <p:grpSp>
        <p:nvGrpSpPr>
          <p:cNvPr id="190" name="组合 31"/>
          <p:cNvGrpSpPr/>
          <p:nvPr userDrawn="1"/>
        </p:nvGrpSpPr>
        <p:grpSpPr>
          <a:xfrm>
            <a:off x="660400" y="344681"/>
            <a:ext cx="384771" cy="384771"/>
            <a:chOff x="669869" y="597306"/>
            <a:chExt cx="409972" cy="409973"/>
          </a:xfrm>
        </p:grpSpPr>
        <p:sp>
          <p:nvSpPr>
            <p:cNvPr id="1049130"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31"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32"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049133"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134" name="灯片编号占位符 6"/>
          <p:cNvSpPr>
            <a:spLocks noGrp="1"/>
          </p:cNvSpPr>
          <p:nvPr>
            <p:ph type="sldNum" sz="quarter" idx="24"/>
          </p:nvPr>
        </p:nvSpPr>
        <p:spPr/>
        <p:txBody>
          <a:bodyPr/>
          <a:lstStyle/>
          <a:p>
            <a:fld id="{C79ECAFE-A460-4E13-ABCB-32CAE6136244}" type="slidenum">
              <a:rPr lang="zh-CN" altLang="en-US" smtClean="0"/>
              <a:t>‹#›</a:t>
            </a:fld>
            <a:endParaRPr lang="zh-CN" altLang="en-US" dirty="0"/>
          </a:p>
        </p:txBody>
      </p:sp>
      <p:cxnSp>
        <p:nvCxnSpPr>
          <p:cNvPr id="3145755" name="直接连接符 25"/>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255" name="图片 26"/>
          <p:cNvPicPr>
            <a:picLocks noChangeAspect="1"/>
          </p:cNvPicPr>
          <p:nvPr userDrawn="1"/>
        </p:nvPicPr>
        <p:blipFill>
          <a:blip r:embed="rId3" cstate="print"/>
          <a:stretch>
            <a:fillRect/>
          </a:stretch>
        </p:blipFill>
        <p:spPr>
          <a:xfrm>
            <a:off x="10136962" y="292375"/>
            <a:ext cx="1375700" cy="43728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图文-4）">
    <p:spTree>
      <p:nvGrpSpPr>
        <p:cNvPr id="1" name=""/>
        <p:cNvGrpSpPr/>
        <p:nvPr/>
      </p:nvGrpSpPr>
      <p:grpSpPr>
        <a:xfrm>
          <a:off x="0" y="0"/>
          <a:ext cx="0" cy="0"/>
          <a:chOff x="0" y="0"/>
          <a:chExt cx="0" cy="0"/>
        </a:xfrm>
      </p:grpSpPr>
      <p:pic>
        <p:nvPicPr>
          <p:cNvPr id="2097244" name="图片 28"/>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sp>
        <p:nvSpPr>
          <p:cNvPr id="1049044" name="图片占位符 13"/>
          <p:cNvSpPr>
            <a:spLocks noGrp="1"/>
          </p:cNvSpPr>
          <p:nvPr>
            <p:ph type="pic" sz="quarter" idx="12"/>
          </p:nvPr>
        </p:nvSpPr>
        <p:spPr>
          <a:xfrm>
            <a:off x="660402" y="1585023"/>
            <a:ext cx="5984238" cy="4554593"/>
          </a:xfrm>
          <a:custGeom>
            <a:avLst/>
            <a:gdLst>
              <a:gd name="connsiteX0" fmla="*/ 0 w 4420885"/>
              <a:gd name="connsiteY0" fmla="*/ 0 h 3686138"/>
              <a:gd name="connsiteX1" fmla="*/ 4420885 w 4420885"/>
              <a:gd name="connsiteY1" fmla="*/ 0 h 3686138"/>
              <a:gd name="connsiteX2" fmla="*/ 4420885 w 4420885"/>
              <a:gd name="connsiteY2" fmla="*/ 3686138 h 3686138"/>
              <a:gd name="connsiteX3" fmla="*/ 0 w 4420885"/>
              <a:gd name="connsiteY3" fmla="*/ 3686138 h 3686138"/>
            </a:gdLst>
            <a:ahLst/>
            <a:cxnLst>
              <a:cxn ang="0">
                <a:pos x="connsiteX0" y="connsiteY0"/>
              </a:cxn>
              <a:cxn ang="0">
                <a:pos x="connsiteX1" y="connsiteY1"/>
              </a:cxn>
              <a:cxn ang="0">
                <a:pos x="connsiteX2" y="connsiteY2"/>
              </a:cxn>
              <a:cxn ang="0">
                <a:pos x="connsiteX3" y="connsiteY3"/>
              </a:cxn>
            </a:cxnLst>
            <a:rect l="l" t="t" r="r" b="b"/>
            <a:pathLst>
              <a:path w="4420885" h="3686138">
                <a:moveTo>
                  <a:pt x="0" y="0"/>
                </a:moveTo>
                <a:lnTo>
                  <a:pt x="4420885" y="0"/>
                </a:lnTo>
                <a:lnTo>
                  <a:pt x="4420885" y="3686138"/>
                </a:lnTo>
                <a:lnTo>
                  <a:pt x="0" y="3686138"/>
                </a:lnTo>
                <a:close/>
              </a:path>
            </a:pathLst>
          </a:custGeom>
        </p:spPr>
        <p:txBody>
          <a:bodyPr wrap="square">
            <a:noAutofit/>
          </a:bodyPr>
          <a:lstStyle/>
          <a:p>
            <a:endParaRPr lang="zh-CN" altLang="en-US" dirty="0"/>
          </a:p>
        </p:txBody>
      </p:sp>
      <p:sp>
        <p:nvSpPr>
          <p:cNvPr id="104904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sp>
        <p:nvSpPr>
          <p:cNvPr id="1049046" name="任意多边形: 形状 15"/>
          <p:cNvSpPr/>
          <p:nvPr userDrawn="1"/>
        </p:nvSpPr>
        <p:spPr>
          <a:xfrm>
            <a:off x="6644640" y="1585023"/>
            <a:ext cx="4874260" cy="4554589"/>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047" name="文本占位符 8"/>
          <p:cNvSpPr>
            <a:spLocks noGrp="1"/>
          </p:cNvSpPr>
          <p:nvPr>
            <p:ph type="body" sz="quarter" idx="13" hasCustomPrompt="1"/>
          </p:nvPr>
        </p:nvSpPr>
        <p:spPr>
          <a:xfrm>
            <a:off x="7031469" y="1815023"/>
            <a:ext cx="2969058" cy="461665"/>
          </a:xfrm>
          <a:prstGeom prst="rect">
            <a:avLst/>
          </a:prstGeom>
        </p:spPr>
        <p:txBody>
          <a:bodyPr wrap="square" lIns="0">
            <a:spAutoFit/>
          </a:bodyPr>
          <a:lstStyle>
            <a:lvl1pPr marL="0" indent="0" algn="l">
              <a:lnSpc>
                <a:spcPct val="100000"/>
              </a:lnSpc>
              <a:buNone/>
              <a:defRPr sz="2400" b="1">
                <a:solidFill>
                  <a:schemeClr val="accent1"/>
                </a:solidFill>
              </a:defRPr>
            </a:lvl1pPr>
          </a:lstStyle>
          <a:p>
            <a:pPr lvl="0"/>
            <a:r>
              <a:rPr lang="zh-CN" altLang="en-US" dirty="0"/>
              <a:t>请输入你的标题</a:t>
            </a:r>
          </a:p>
        </p:txBody>
      </p:sp>
      <p:sp>
        <p:nvSpPr>
          <p:cNvPr id="1049048" name="文本占位符 11"/>
          <p:cNvSpPr>
            <a:spLocks noGrp="1"/>
          </p:cNvSpPr>
          <p:nvPr>
            <p:ph type="body" sz="quarter" idx="14" hasCustomPrompt="1"/>
          </p:nvPr>
        </p:nvSpPr>
        <p:spPr>
          <a:xfrm>
            <a:off x="7454095" y="2864776"/>
            <a:ext cx="3773347" cy="859337"/>
          </a:xfrm>
          <a:prstGeom prst="rect">
            <a:avLst/>
          </a:prstGeom>
        </p:spPr>
        <p:txBody>
          <a:bodyPr lIns="0" tIns="0" rIns="90000" bIns="46800">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800"/>
            </a:lvl1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pPr>
            <a:r>
              <a:rPr lang="zh-CN" altLang="en-US" dirty="0"/>
              <a:t>请输入你的内容</a:t>
            </a:r>
          </a:p>
        </p:txBody>
      </p:sp>
      <p:grpSp>
        <p:nvGrpSpPr>
          <p:cNvPr id="178" name="组合 31"/>
          <p:cNvGrpSpPr/>
          <p:nvPr userDrawn="1"/>
        </p:nvGrpSpPr>
        <p:grpSpPr>
          <a:xfrm>
            <a:off x="660400" y="344681"/>
            <a:ext cx="384771" cy="384771"/>
            <a:chOff x="669869" y="597306"/>
            <a:chExt cx="409972" cy="409973"/>
          </a:xfrm>
        </p:grpSpPr>
        <p:sp>
          <p:nvSpPr>
            <p:cNvPr id="1049049"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50"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51"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049052"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053" name="灯片编号占位符 6"/>
          <p:cNvSpPr>
            <a:spLocks noGrp="1"/>
          </p:cNvSpPr>
          <p:nvPr>
            <p:ph type="sldNum" sz="quarter" idx="24"/>
          </p:nvPr>
        </p:nvSpPr>
        <p:spPr/>
        <p:txBody>
          <a:bodyPr/>
          <a:lstStyle/>
          <a:p>
            <a:fld id="{C79ECAFE-A460-4E13-ABCB-32CAE6136244}" type="slidenum">
              <a:rPr lang="zh-CN" altLang="en-US" smtClean="0"/>
              <a:t>‹#›</a:t>
            </a:fld>
            <a:endParaRPr lang="zh-CN" altLang="en-US" dirty="0"/>
          </a:p>
        </p:txBody>
      </p:sp>
      <p:sp>
        <p:nvSpPr>
          <p:cNvPr id="1049054" name="矩形 1"/>
          <p:cNvSpPr/>
          <p:nvPr userDrawn="1"/>
        </p:nvSpPr>
        <p:spPr>
          <a:xfrm>
            <a:off x="7031469" y="2473505"/>
            <a:ext cx="864000" cy="96290"/>
          </a:xfrm>
          <a:prstGeom prst="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9055" name="文本占位符 11"/>
          <p:cNvSpPr>
            <a:spLocks noGrp="1"/>
          </p:cNvSpPr>
          <p:nvPr>
            <p:ph type="body" sz="quarter" idx="25" hasCustomPrompt="1"/>
          </p:nvPr>
        </p:nvSpPr>
        <p:spPr>
          <a:xfrm>
            <a:off x="7454095" y="392434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p>
        </p:txBody>
      </p:sp>
      <p:sp>
        <p:nvSpPr>
          <p:cNvPr id="1049056" name="文本占位符 11"/>
          <p:cNvSpPr>
            <a:spLocks noGrp="1"/>
          </p:cNvSpPr>
          <p:nvPr>
            <p:ph type="body" sz="quarter" idx="26" hasCustomPrompt="1"/>
          </p:nvPr>
        </p:nvSpPr>
        <p:spPr>
          <a:xfrm>
            <a:off x="7454095" y="498391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p>
        </p:txBody>
      </p:sp>
      <p:cxnSp>
        <p:nvCxnSpPr>
          <p:cNvPr id="3145749" name="直接连接符 20"/>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245" name="图片 21"/>
          <p:cNvPicPr>
            <a:picLocks noChangeAspect="1"/>
          </p:cNvPicPr>
          <p:nvPr userDrawn="1"/>
        </p:nvPicPr>
        <p:blipFill>
          <a:blip r:embed="rId3" cstate="print"/>
          <a:stretch>
            <a:fillRect/>
          </a:stretch>
        </p:blipFill>
        <p:spPr>
          <a:xfrm>
            <a:off x="10136962" y="292375"/>
            <a:ext cx="1375700" cy="43728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图文-5）">
    <p:spTree>
      <p:nvGrpSpPr>
        <p:cNvPr id="1" name=""/>
        <p:cNvGrpSpPr/>
        <p:nvPr/>
      </p:nvGrpSpPr>
      <p:grpSpPr>
        <a:xfrm>
          <a:off x="0" y="0"/>
          <a:ext cx="0" cy="0"/>
          <a:chOff x="0" y="0"/>
          <a:chExt cx="0" cy="0"/>
        </a:xfrm>
      </p:grpSpPr>
      <p:sp>
        <p:nvSpPr>
          <p:cNvPr id="1049171" name="图片占位符 62"/>
          <p:cNvSpPr>
            <a:spLocks noGrp="1"/>
          </p:cNvSpPr>
          <p:nvPr>
            <p:ph type="pic" sz="quarter" idx="27"/>
          </p:nvPr>
        </p:nvSpPr>
        <p:spPr>
          <a:xfrm>
            <a:off x="660404" y="1585023"/>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1049172" name="图片占位符 63"/>
          <p:cNvSpPr>
            <a:spLocks noGrp="1"/>
          </p:cNvSpPr>
          <p:nvPr>
            <p:ph type="pic" sz="quarter" idx="28"/>
          </p:nvPr>
        </p:nvSpPr>
        <p:spPr>
          <a:xfrm>
            <a:off x="3696741" y="1585023"/>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1049173" name="图片占位符 64"/>
          <p:cNvSpPr>
            <a:spLocks noGrp="1"/>
          </p:cNvSpPr>
          <p:nvPr>
            <p:ph type="pic" sz="quarter" idx="29"/>
          </p:nvPr>
        </p:nvSpPr>
        <p:spPr>
          <a:xfrm>
            <a:off x="660404" y="3895974"/>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1049174" name="图片占位符 65"/>
          <p:cNvSpPr>
            <a:spLocks noGrp="1"/>
          </p:cNvSpPr>
          <p:nvPr>
            <p:ph type="pic" sz="quarter" idx="30"/>
          </p:nvPr>
        </p:nvSpPr>
        <p:spPr>
          <a:xfrm>
            <a:off x="3696741" y="3895974"/>
            <a:ext cx="2947899"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pic>
        <p:nvPicPr>
          <p:cNvPr id="2097260" name="图片 28"/>
          <p:cNvPicPr>
            <a:picLocks noChangeAspect="1"/>
          </p:cNvPicPr>
          <p:nvPr userDrawn="1"/>
        </p:nvPicPr>
        <p:blipFill rotWithShape="1">
          <a:blip r:embed="rId2">
            <a:alphaModFix amt="5000"/>
          </a:blip>
          <a:srcRect t="7878" b="7878"/>
          <a:stretch>
            <a:fillRect/>
          </a:stretch>
        </p:blipFill>
        <p:spPr>
          <a:xfrm>
            <a:off x="0" y="0"/>
            <a:ext cx="12192000" cy="6858000"/>
          </a:xfrm>
          <a:prstGeom prst="rect">
            <a:avLst/>
          </a:prstGeom>
        </p:spPr>
      </p:pic>
      <p:sp>
        <p:nvSpPr>
          <p:cNvPr id="104917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p>
        </p:txBody>
      </p:sp>
      <p:sp>
        <p:nvSpPr>
          <p:cNvPr id="1049176" name="任意多边形: 形状 15"/>
          <p:cNvSpPr/>
          <p:nvPr userDrawn="1"/>
        </p:nvSpPr>
        <p:spPr>
          <a:xfrm>
            <a:off x="6644640" y="1585023"/>
            <a:ext cx="4874260" cy="4554589"/>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177" name="文本占位符 8"/>
          <p:cNvSpPr>
            <a:spLocks noGrp="1"/>
          </p:cNvSpPr>
          <p:nvPr>
            <p:ph type="body" sz="quarter" idx="13" hasCustomPrompt="1"/>
          </p:nvPr>
        </p:nvSpPr>
        <p:spPr>
          <a:xfrm>
            <a:off x="7031469" y="1815023"/>
            <a:ext cx="2969058" cy="461665"/>
          </a:xfrm>
          <a:prstGeom prst="rect">
            <a:avLst/>
          </a:prstGeom>
        </p:spPr>
        <p:txBody>
          <a:bodyPr wrap="square" lIns="0">
            <a:spAutoFit/>
          </a:bodyPr>
          <a:lstStyle>
            <a:lvl1pPr marL="0" indent="0" algn="l">
              <a:lnSpc>
                <a:spcPct val="100000"/>
              </a:lnSpc>
              <a:buNone/>
              <a:defRPr sz="2400" b="1">
                <a:solidFill>
                  <a:schemeClr val="accent1"/>
                </a:solidFill>
              </a:defRPr>
            </a:lvl1pPr>
          </a:lstStyle>
          <a:p>
            <a:pPr lvl="0"/>
            <a:r>
              <a:rPr lang="zh-CN" altLang="en-US" dirty="0"/>
              <a:t>请输入你的标题</a:t>
            </a:r>
          </a:p>
        </p:txBody>
      </p:sp>
      <p:sp>
        <p:nvSpPr>
          <p:cNvPr id="1049178" name="文本占位符 11"/>
          <p:cNvSpPr>
            <a:spLocks noGrp="1"/>
          </p:cNvSpPr>
          <p:nvPr>
            <p:ph type="body" sz="quarter" idx="14" hasCustomPrompt="1"/>
          </p:nvPr>
        </p:nvSpPr>
        <p:spPr>
          <a:xfrm>
            <a:off x="7454095" y="2864776"/>
            <a:ext cx="3773347" cy="859337"/>
          </a:xfrm>
          <a:prstGeom prst="rect">
            <a:avLst/>
          </a:prstGeom>
        </p:spPr>
        <p:txBody>
          <a:bodyPr lIns="0" tIns="0" rIns="90000" bIns="46800">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800"/>
            </a:lvl1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pPr>
            <a:r>
              <a:rPr lang="zh-CN" altLang="en-US" dirty="0"/>
              <a:t>请输入你的内容</a:t>
            </a:r>
          </a:p>
        </p:txBody>
      </p:sp>
      <p:grpSp>
        <p:nvGrpSpPr>
          <p:cNvPr id="196" name="组合 31"/>
          <p:cNvGrpSpPr/>
          <p:nvPr userDrawn="1"/>
        </p:nvGrpSpPr>
        <p:grpSpPr>
          <a:xfrm>
            <a:off x="660400" y="344681"/>
            <a:ext cx="384771" cy="384771"/>
            <a:chOff x="669869" y="597306"/>
            <a:chExt cx="409972" cy="409973"/>
          </a:xfrm>
        </p:grpSpPr>
        <p:sp>
          <p:nvSpPr>
            <p:cNvPr id="1049179"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80"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181"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049182"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183" name="灯片编号占位符 6"/>
          <p:cNvSpPr>
            <a:spLocks noGrp="1"/>
          </p:cNvSpPr>
          <p:nvPr>
            <p:ph type="sldNum" sz="quarter" idx="24"/>
          </p:nvPr>
        </p:nvSpPr>
        <p:spPr/>
        <p:txBody>
          <a:bodyPr/>
          <a:lstStyle/>
          <a:p>
            <a:fld id="{C79ECAFE-A460-4E13-ABCB-32CAE6136244}" type="slidenum">
              <a:rPr lang="zh-CN" altLang="en-US" smtClean="0"/>
              <a:t>‹#›</a:t>
            </a:fld>
            <a:endParaRPr lang="zh-CN" altLang="en-US" dirty="0"/>
          </a:p>
        </p:txBody>
      </p:sp>
      <p:sp>
        <p:nvSpPr>
          <p:cNvPr id="1049184" name="矩形 1"/>
          <p:cNvSpPr/>
          <p:nvPr userDrawn="1"/>
        </p:nvSpPr>
        <p:spPr>
          <a:xfrm>
            <a:off x="7031469" y="2473505"/>
            <a:ext cx="864000" cy="96290"/>
          </a:xfrm>
          <a:prstGeom prst="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9185" name="文本占位符 11"/>
          <p:cNvSpPr>
            <a:spLocks noGrp="1"/>
          </p:cNvSpPr>
          <p:nvPr>
            <p:ph type="body" sz="quarter" idx="25" hasCustomPrompt="1"/>
          </p:nvPr>
        </p:nvSpPr>
        <p:spPr>
          <a:xfrm>
            <a:off x="7454095" y="392434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p>
        </p:txBody>
      </p:sp>
      <p:sp>
        <p:nvSpPr>
          <p:cNvPr id="1049186" name="文本占位符 11"/>
          <p:cNvSpPr>
            <a:spLocks noGrp="1"/>
          </p:cNvSpPr>
          <p:nvPr>
            <p:ph type="body" sz="quarter" idx="26" hasCustomPrompt="1"/>
          </p:nvPr>
        </p:nvSpPr>
        <p:spPr>
          <a:xfrm>
            <a:off x="7454095" y="498391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p>
        </p:txBody>
      </p:sp>
      <p:cxnSp>
        <p:nvCxnSpPr>
          <p:cNvPr id="3145758" name="直接连接符 21"/>
          <p:cNvCxnSpPr>
            <a:cxnSpLocks/>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97261" name="图片 22"/>
          <p:cNvPicPr>
            <a:picLocks noChangeAspect="1"/>
          </p:cNvPicPr>
          <p:nvPr userDrawn="1"/>
        </p:nvPicPr>
        <p:blipFill>
          <a:blip r:embed="rId3" cstate="print"/>
          <a:stretch>
            <a:fillRect/>
          </a:stretch>
        </p:blipFill>
        <p:spPr>
          <a:xfrm>
            <a:off x="10136962" y="292375"/>
            <a:ext cx="1375700" cy="43728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2097236" name="图片 17" descr="图片包含 树, 户外, 建筑物, 道路  自动生成的说明"/>
          <p:cNvPicPr>
            <a:picLocks noChangeAspect="1"/>
          </p:cNvPicPr>
          <p:nvPr userDrawn="1"/>
        </p:nvPicPr>
        <p:blipFill rotWithShape="1">
          <a:blip r:embed="rId2">
            <a:alphaModFix amt="15000"/>
          </a:blip>
          <a:srcRect t="7878" r="35125" b="7878"/>
          <a:stretch>
            <a:fillRect/>
          </a:stretch>
        </p:blipFill>
        <p:spPr>
          <a:xfrm>
            <a:off x="4282440" y="0"/>
            <a:ext cx="7909560" cy="6858000"/>
          </a:xfrm>
          <a:prstGeom prst="rect">
            <a:avLst/>
          </a:prstGeom>
        </p:spPr>
      </p:pic>
      <p:sp>
        <p:nvSpPr>
          <p:cNvPr id="1048997" name="矩形 18"/>
          <p:cNvSpPr/>
          <p:nvPr userDrawn="1"/>
        </p:nvSpPr>
        <p:spPr>
          <a:xfrm>
            <a:off x="0" y="0"/>
            <a:ext cx="12192000" cy="6858000"/>
          </a:xfrm>
          <a:prstGeom prst="rect">
            <a:avLst/>
          </a:prstGeom>
          <a:gradFill flip="none" rotWithShape="1">
            <a:gsLst>
              <a:gs pos="32000">
                <a:schemeClr val="bg1"/>
              </a:gs>
              <a:gs pos="100000">
                <a:schemeClr val="bg1">
                  <a:alpha val="0"/>
                </a:schemeClr>
              </a:gs>
            </a:gsLst>
            <a:lin ang="0" scaled="1"/>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48998" name="矩形 22"/>
          <p:cNvSpPr/>
          <p:nvPr userDrawn="1"/>
        </p:nvSpPr>
        <p:spPr>
          <a:xfrm>
            <a:off x="0" y="0"/>
            <a:ext cx="12192000" cy="6858000"/>
          </a:xfrm>
          <a:prstGeom prst="rect">
            <a:avLst/>
          </a:prstGeom>
          <a:blipFill dpi="0" rotWithShape="1">
            <a:blip r:embed="rId3">
              <a:alphaModFix amt="5000"/>
            </a:blip>
            <a:srcRect/>
            <a:tile tx="0" ty="0" sx="100000" sy="100000" flip="none" algn="tl"/>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97237" name="图片 48" descr="图片包含 树, 户外, 建筑物, 道路  自动生成的说明"/>
          <p:cNvPicPr>
            <a:picLocks noChangeAspect="1"/>
          </p:cNvPicPr>
          <p:nvPr userDrawn="1"/>
        </p:nvPicPr>
        <p:blipFill rotWithShape="1">
          <a:blip r:embed="rId2"/>
          <a:srcRect l="7353" t="7878" r="35125" b="7878"/>
          <a:stretch>
            <a:fillRect/>
          </a:stretch>
        </p:blipFill>
        <p:spPr>
          <a:xfrm>
            <a:off x="5178924" y="0"/>
            <a:ext cx="7013076" cy="6858000"/>
          </a:xfrm>
          <a:custGeom>
            <a:avLst/>
            <a:gdLst>
              <a:gd name="connsiteX0" fmla="*/ 3877363 w 7013076"/>
              <a:gd name="connsiteY0" fmla="*/ 0 h 6858000"/>
              <a:gd name="connsiteX1" fmla="*/ 7013076 w 7013076"/>
              <a:gd name="connsiteY1" fmla="*/ 0 h 6858000"/>
              <a:gd name="connsiteX2" fmla="*/ 7013076 w 7013076"/>
              <a:gd name="connsiteY2" fmla="*/ 692654 h 6858000"/>
              <a:gd name="connsiteX3" fmla="*/ 3527325 w 7013076"/>
              <a:gd name="connsiteY3" fmla="*/ 6858000 h 6858000"/>
              <a:gd name="connsiteX4" fmla="*/ 0 w 701307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076" h="6858000">
                <a:moveTo>
                  <a:pt x="3877363" y="0"/>
                </a:moveTo>
                <a:lnTo>
                  <a:pt x="7013076" y="0"/>
                </a:lnTo>
                <a:lnTo>
                  <a:pt x="7013076" y="692654"/>
                </a:lnTo>
                <a:lnTo>
                  <a:pt x="3527325" y="6858000"/>
                </a:lnTo>
                <a:lnTo>
                  <a:pt x="0" y="6858000"/>
                </a:lnTo>
                <a:close/>
              </a:path>
            </a:pathLst>
          </a:custGeom>
        </p:spPr>
      </p:pic>
      <p:sp>
        <p:nvSpPr>
          <p:cNvPr id="1048999" name="任意多边形: 形状 51"/>
          <p:cNvSpPr/>
          <p:nvPr userDrawn="1"/>
        </p:nvSpPr>
        <p:spPr>
          <a:xfrm rot="1759603">
            <a:off x="5759550" y="3287609"/>
            <a:ext cx="326672" cy="3900322"/>
          </a:xfrm>
          <a:custGeom>
            <a:avLst/>
            <a:gdLst>
              <a:gd name="connsiteX0" fmla="*/ 0 w 326672"/>
              <a:gd name="connsiteY0" fmla="*/ 0 h 3900322"/>
              <a:gd name="connsiteX1" fmla="*/ 326672 w 326672"/>
              <a:gd name="connsiteY1" fmla="*/ 0 h 3900322"/>
              <a:gd name="connsiteX2" fmla="*/ 326672 w 326672"/>
              <a:gd name="connsiteY2" fmla="*/ 3716802 h 3900322"/>
              <a:gd name="connsiteX3" fmla="*/ 0 w 326672"/>
              <a:gd name="connsiteY3" fmla="*/ 3900322 h 3900322"/>
            </a:gdLst>
            <a:ahLst/>
            <a:cxnLst>
              <a:cxn ang="0">
                <a:pos x="connsiteX0" y="connsiteY0"/>
              </a:cxn>
              <a:cxn ang="0">
                <a:pos x="connsiteX1" y="connsiteY1"/>
              </a:cxn>
              <a:cxn ang="0">
                <a:pos x="connsiteX2" y="connsiteY2"/>
              </a:cxn>
              <a:cxn ang="0">
                <a:pos x="connsiteX3" y="connsiteY3"/>
              </a:cxn>
            </a:cxnLst>
            <a:rect l="l" t="t" r="r" b="b"/>
            <a:pathLst>
              <a:path w="326672" h="3900322">
                <a:moveTo>
                  <a:pt x="0" y="0"/>
                </a:moveTo>
                <a:lnTo>
                  <a:pt x="326672" y="0"/>
                </a:lnTo>
                <a:lnTo>
                  <a:pt x="326672" y="3716802"/>
                </a:lnTo>
                <a:lnTo>
                  <a:pt x="0" y="390032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00" name="任意多边形: 形状 43"/>
          <p:cNvSpPr/>
          <p:nvPr userDrawn="1"/>
        </p:nvSpPr>
        <p:spPr>
          <a:xfrm rot="1759603">
            <a:off x="8280302" y="-201925"/>
            <a:ext cx="170609" cy="2499133"/>
          </a:xfrm>
          <a:custGeom>
            <a:avLst/>
            <a:gdLst>
              <a:gd name="connsiteX0" fmla="*/ 0 w 170609"/>
              <a:gd name="connsiteY0" fmla="*/ 95846 h 2499133"/>
              <a:gd name="connsiteX1" fmla="*/ 170609 w 170609"/>
              <a:gd name="connsiteY1" fmla="*/ 0 h 2499133"/>
              <a:gd name="connsiteX2" fmla="*/ 170609 w 170609"/>
              <a:gd name="connsiteY2" fmla="*/ 2499133 h 2499133"/>
              <a:gd name="connsiteX3" fmla="*/ 0 w 170609"/>
              <a:gd name="connsiteY3" fmla="*/ 2499133 h 2499133"/>
            </a:gdLst>
            <a:ahLst/>
            <a:cxnLst>
              <a:cxn ang="0">
                <a:pos x="connsiteX0" y="connsiteY0"/>
              </a:cxn>
              <a:cxn ang="0">
                <a:pos x="connsiteX1" y="connsiteY1"/>
              </a:cxn>
              <a:cxn ang="0">
                <a:pos x="connsiteX2" y="connsiteY2"/>
              </a:cxn>
              <a:cxn ang="0">
                <a:pos x="connsiteX3" y="connsiteY3"/>
              </a:cxn>
            </a:cxnLst>
            <a:rect l="l" t="t" r="r" b="b"/>
            <a:pathLst>
              <a:path w="170609" h="2499133">
                <a:moveTo>
                  <a:pt x="0" y="95846"/>
                </a:moveTo>
                <a:lnTo>
                  <a:pt x="170609" y="0"/>
                </a:lnTo>
                <a:lnTo>
                  <a:pt x="170609" y="2499133"/>
                </a:lnTo>
                <a:lnTo>
                  <a:pt x="0" y="249913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01" name="任意多边形: 形状 21"/>
          <p:cNvSpPr/>
          <p:nvPr userDrawn="1"/>
        </p:nvSpPr>
        <p:spPr>
          <a:xfrm rot="1759603">
            <a:off x="11257062" y="-144084"/>
            <a:ext cx="326672" cy="3732241"/>
          </a:xfrm>
          <a:custGeom>
            <a:avLst/>
            <a:gdLst>
              <a:gd name="connsiteX0" fmla="*/ 0 w 326672"/>
              <a:gd name="connsiteY0" fmla="*/ 0 h 3732241"/>
              <a:gd name="connsiteX1" fmla="*/ 326672 w 326672"/>
              <a:gd name="connsiteY1" fmla="*/ 581488 h 3732241"/>
              <a:gd name="connsiteX2" fmla="*/ 326672 w 326672"/>
              <a:gd name="connsiteY2" fmla="*/ 3732241 h 3732241"/>
              <a:gd name="connsiteX3" fmla="*/ 0 w 326672"/>
              <a:gd name="connsiteY3" fmla="*/ 3732241 h 3732241"/>
            </a:gdLst>
            <a:ahLst/>
            <a:cxnLst>
              <a:cxn ang="0">
                <a:pos x="connsiteX0" y="connsiteY0"/>
              </a:cxn>
              <a:cxn ang="0">
                <a:pos x="connsiteX1" y="connsiteY1"/>
              </a:cxn>
              <a:cxn ang="0">
                <a:pos x="connsiteX2" y="connsiteY2"/>
              </a:cxn>
              <a:cxn ang="0">
                <a:pos x="connsiteX3" y="connsiteY3"/>
              </a:cxn>
            </a:cxnLst>
            <a:rect l="l" t="t" r="r" b="b"/>
            <a:pathLst>
              <a:path w="326672" h="3732241">
                <a:moveTo>
                  <a:pt x="0" y="0"/>
                </a:moveTo>
                <a:lnTo>
                  <a:pt x="326672" y="581488"/>
                </a:lnTo>
                <a:lnTo>
                  <a:pt x="326672" y="3732241"/>
                </a:lnTo>
                <a:lnTo>
                  <a:pt x="0" y="373224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02" name="任意多边形: 形状 52"/>
          <p:cNvSpPr/>
          <p:nvPr userDrawn="1"/>
        </p:nvSpPr>
        <p:spPr>
          <a:xfrm rot="1759603">
            <a:off x="9271255" y="4019758"/>
            <a:ext cx="170609" cy="3077209"/>
          </a:xfrm>
          <a:custGeom>
            <a:avLst/>
            <a:gdLst>
              <a:gd name="connsiteX0" fmla="*/ 0 w 170609"/>
              <a:gd name="connsiteY0" fmla="*/ 0 h 3077209"/>
              <a:gd name="connsiteX1" fmla="*/ 170609 w 170609"/>
              <a:gd name="connsiteY1" fmla="*/ 0 h 3077209"/>
              <a:gd name="connsiteX2" fmla="*/ 170609 w 170609"/>
              <a:gd name="connsiteY2" fmla="*/ 2981364 h 3077209"/>
              <a:gd name="connsiteX3" fmla="*/ 0 w 170609"/>
              <a:gd name="connsiteY3" fmla="*/ 3077209 h 3077209"/>
            </a:gdLst>
            <a:ahLst/>
            <a:cxnLst>
              <a:cxn ang="0">
                <a:pos x="connsiteX0" y="connsiteY0"/>
              </a:cxn>
              <a:cxn ang="0">
                <a:pos x="connsiteX1" y="connsiteY1"/>
              </a:cxn>
              <a:cxn ang="0">
                <a:pos x="connsiteX2" y="connsiteY2"/>
              </a:cxn>
              <a:cxn ang="0">
                <a:pos x="connsiteX3" y="connsiteY3"/>
              </a:cxn>
            </a:cxnLst>
            <a:rect l="l" t="t" r="r" b="b"/>
            <a:pathLst>
              <a:path w="170609" h="3077209">
                <a:moveTo>
                  <a:pt x="0" y="0"/>
                </a:moveTo>
                <a:lnTo>
                  <a:pt x="170609" y="0"/>
                </a:lnTo>
                <a:lnTo>
                  <a:pt x="170609" y="2981364"/>
                </a:lnTo>
                <a:lnTo>
                  <a:pt x="0" y="307720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049003" name="文本占位符 25"/>
          <p:cNvSpPr>
            <a:spLocks noGrp="1"/>
          </p:cNvSpPr>
          <p:nvPr>
            <p:ph type="body" sz="quarter" idx="11" hasCustomPrompt="1"/>
          </p:nvPr>
        </p:nvSpPr>
        <p:spPr>
          <a:xfrm>
            <a:off x="667503" y="2749690"/>
            <a:ext cx="5798382" cy="878840"/>
          </a:xfrm>
          <a:prstGeom prst="rect">
            <a:avLst/>
          </a:prstGeom>
        </p:spPr>
        <p:txBody>
          <a:bodyPr lIns="0">
            <a:noAutofit/>
          </a:bodyPr>
          <a:lstStyle>
            <a:lvl1pPr marL="0" indent="0">
              <a:lnSpc>
                <a:spcPct val="100000"/>
              </a:lnSpc>
              <a:buNone/>
              <a:defRPr sz="5400" b="1" spc="100" baseline="0">
                <a:solidFill>
                  <a:schemeClr val="accent1"/>
                </a:solidFill>
                <a:latin typeface="+mj-ea"/>
                <a:ea typeface="+mj-ea"/>
              </a:defRPr>
            </a:lvl1pPr>
          </a:lstStyle>
          <a:p>
            <a:pPr lvl="0"/>
            <a:r>
              <a:rPr lang="zh-CN" altLang="en-US" dirty="0"/>
              <a:t>请输入你的大标题</a:t>
            </a:r>
            <a:endParaRPr lang="en-US" altLang="zh-CN" dirty="0"/>
          </a:p>
        </p:txBody>
      </p:sp>
      <p:sp>
        <p:nvSpPr>
          <p:cNvPr id="1049004" name="文本占位符 25"/>
          <p:cNvSpPr>
            <a:spLocks noGrp="1"/>
          </p:cNvSpPr>
          <p:nvPr>
            <p:ph type="body" sz="quarter" idx="12" hasCustomPrompt="1"/>
          </p:nvPr>
        </p:nvSpPr>
        <p:spPr>
          <a:xfrm>
            <a:off x="667503" y="1869834"/>
            <a:ext cx="5798382" cy="878840"/>
          </a:xfrm>
          <a:prstGeom prst="rect">
            <a:avLst/>
          </a:prstGeom>
        </p:spPr>
        <p:txBody>
          <a:bodyPr lIns="0">
            <a:noAutofit/>
          </a:bodyPr>
          <a:lstStyle>
            <a:lvl1pPr marL="0" indent="0">
              <a:lnSpc>
                <a:spcPct val="100000"/>
              </a:lnSpc>
              <a:buNone/>
              <a:defRPr sz="5400" b="0" spc="100" baseline="0">
                <a:latin typeface="+mj-ea"/>
                <a:ea typeface="+mj-ea"/>
              </a:defRPr>
            </a:lvl1pPr>
          </a:lstStyle>
          <a:p>
            <a:pPr lvl="0"/>
            <a:r>
              <a:rPr lang="zh-CN" altLang="en-US" dirty="0"/>
              <a:t>请输入答辩类型</a:t>
            </a:r>
            <a:endParaRPr lang="en-US" altLang="zh-CN" dirty="0"/>
          </a:p>
        </p:txBody>
      </p:sp>
      <p:cxnSp>
        <p:nvCxnSpPr>
          <p:cNvPr id="3145747" name="直接连接符 38"/>
          <p:cNvCxnSpPr>
            <a:cxnSpLocks/>
          </p:cNvCxnSpPr>
          <p:nvPr userDrawn="1"/>
        </p:nvCxnSpPr>
        <p:spPr>
          <a:xfrm>
            <a:off x="667503" y="4839800"/>
            <a:ext cx="493268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9005" name="日期占位符 4"/>
          <p:cNvSpPr>
            <a:spLocks noGrp="1"/>
          </p:cNvSpPr>
          <p:nvPr>
            <p:ph type="dt" sz="half" idx="1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2097238" name="图片 20"/>
          <p:cNvPicPr>
            <a:picLocks noChangeAspect="1"/>
          </p:cNvPicPr>
          <p:nvPr userDrawn="1"/>
        </p:nvPicPr>
        <p:blipFill>
          <a:blip r:embed="rId4" cstate="print"/>
          <a:stretch>
            <a:fillRect/>
          </a:stretch>
        </p:blipFill>
        <p:spPr>
          <a:xfrm>
            <a:off x="660400" y="312015"/>
            <a:ext cx="1375700" cy="437285"/>
          </a:xfrm>
          <a:prstGeom prst="rect">
            <a:avLst/>
          </a:prstGeom>
        </p:spPr>
      </p:pic>
      <p:sp>
        <p:nvSpPr>
          <p:cNvPr id="1049006" name="文本占位符 28"/>
          <p:cNvSpPr>
            <a:spLocks noGrp="1"/>
          </p:cNvSpPr>
          <p:nvPr>
            <p:ph type="body" sz="quarter" idx="17" hasCustomPrompt="1"/>
          </p:nvPr>
        </p:nvSpPr>
        <p:spPr>
          <a:xfrm>
            <a:off x="667503" y="3641672"/>
            <a:ext cx="5798382" cy="286232"/>
          </a:xfrm>
          <a:prstGeom prst="rect">
            <a:avLst/>
          </a:prstGeom>
        </p:spPr>
        <p:txBody>
          <a:bodyPr lIns="0">
            <a:spAutoFit/>
          </a:bodyPr>
          <a:lstStyle>
            <a:lvl1pPr marL="0" indent="0">
              <a:lnSpc>
                <a:spcPct val="100000"/>
              </a:lnSpc>
              <a:buNone/>
              <a:defRPr sz="1200" spc="550" baseline="0">
                <a:solidFill>
                  <a:schemeClr val="bg1">
                    <a:lumMod val="75000"/>
                  </a:schemeClr>
                </a:solidFill>
                <a:latin typeface="+mj-lt"/>
              </a:defRPr>
            </a:lvl1pPr>
          </a:lstStyle>
          <a:p>
            <a:pPr lvl="0"/>
            <a:r>
              <a:rPr lang="en-US" altLang="zh-CN" dirty="0"/>
              <a:t>Supporting Your Text Here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9111"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1049112"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2026/4/22</a:t>
            </a:fld>
            <a:endParaRPr lang="zh-CN" altLang="en-US"/>
          </a:p>
        </p:txBody>
      </p:sp>
      <p:sp>
        <p:nvSpPr>
          <p:cNvPr id="1049113" name="页脚占位符 3"/>
          <p:cNvSpPr>
            <a:spLocks noGrp="1"/>
          </p:cNvSpPr>
          <p:nvPr>
            <p:ph type="ftr" sz="quarter" idx="11"/>
            <p:custDataLst>
              <p:tags r:id="rId3"/>
            </p:custDataLst>
          </p:nvPr>
        </p:nvSpPr>
        <p:spPr/>
        <p:txBody>
          <a:bodyPr/>
          <a:lstStyle/>
          <a:p>
            <a:endParaRPr lang="zh-CN" altLang="en-US"/>
          </a:p>
        </p:txBody>
      </p:sp>
      <p:sp>
        <p:nvSpPr>
          <p:cNvPr id="1049114"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2097239" name="图片 2"/>
          <p:cNvPicPr>
            <a:picLocks noChangeAspect="1"/>
          </p:cNvPicPr>
          <p:nvPr userDrawn="1"/>
        </p:nvPicPr>
        <p:blipFill rotWithShape="1">
          <a:blip r:embed="rId2">
            <a:duotone>
              <a:schemeClr val="bg2">
                <a:shade val="45000"/>
                <a:satMod val="135000"/>
              </a:schemeClr>
              <a:prstClr val="white"/>
            </a:duotone>
          </a:blip>
          <a:srcRect r="27993"/>
          <a:stretch>
            <a:fillRect/>
          </a:stretch>
        </p:blipFill>
        <p:spPr>
          <a:xfrm>
            <a:off x="1" y="-5557"/>
            <a:ext cx="12192000" cy="6863557"/>
          </a:xfrm>
          <a:prstGeom prst="rect">
            <a:avLst/>
          </a:prstGeom>
        </p:spPr>
      </p:pic>
      <p:sp>
        <p:nvSpPr>
          <p:cNvPr id="1049012" name="矩形 3"/>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49013" name="矩形 4"/>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49014" name="矩形 5"/>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49015" name="文本框 6"/>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pP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本</a:t>
            </a:r>
            <a:r>
              <a:rPr kumimoji="0" lang="en-US" altLang="zh-CN"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模板正参与</a:t>
            </a: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049016" name="矩形 7"/>
          <p:cNvSpPr/>
          <p:nvPr userDrawn="1"/>
        </p:nvSpPr>
        <p:spPr>
          <a:xfrm>
            <a:off x="3602350" y="2482543"/>
            <a:ext cx="4987300" cy="400109"/>
          </a:xfrm>
          <a:prstGeom prst="rect">
            <a:avLst/>
          </a:prstGeom>
          <a:gradFill flip="none" rotWithShape="1">
            <a:gsLst>
              <a:gs pos="0">
                <a:srgbClr val="CB9B53">
                  <a:alpha val="70000"/>
                </a:srgbClr>
              </a:gs>
              <a:gs pos="100000">
                <a:srgbClr val="CB9B53">
                  <a:alpha val="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2400" b="1" i="0" u="none" strike="noStrike" kern="1200" cap="none" spc="0" normalizeH="0" baseline="0" noProof="0">
              <a:ln>
                <a:noFill/>
              </a:ln>
              <a:solidFill>
                <a:srgbClr val="0E5177"/>
              </a:solidFill>
              <a:effectLst/>
              <a:uLnTx/>
              <a:uFillTx/>
              <a:latin typeface="Segoe UI" panose="020B0502040204020203"/>
              <a:ea typeface="微软雅黑" panose="020B0503020204020204" charset="-122"/>
              <a:cs typeface="+mn-cs"/>
            </a:endParaRPr>
          </a:p>
        </p:txBody>
      </p:sp>
      <p:sp>
        <p:nvSpPr>
          <p:cNvPr id="1049017" name="文本框 8"/>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pP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 </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模板设计大赛 </a:t>
            </a:r>
            <a:endParaRPr kumimoji="0" 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049018" name="文本框 10"/>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097240" name="图片 11"/>
          <p:cNvPicPr>
            <a:picLocks noChangeAspect="1"/>
          </p:cNvPicPr>
          <p:nvPr userDrawn="1"/>
        </p:nvPicPr>
        <p:blipFill>
          <a:blip r:embed="rId3"/>
          <a:stretch>
            <a:fillRect/>
          </a:stretch>
        </p:blipFill>
        <p:spPr>
          <a:xfrm>
            <a:off x="-615419" y="3771974"/>
            <a:ext cx="13817069" cy="3996426"/>
          </a:xfrm>
          <a:prstGeom prst="rect">
            <a:avLst/>
          </a:prstGeom>
        </p:spPr>
      </p:pic>
      <p:pic>
        <p:nvPicPr>
          <p:cNvPr id="2097241" name="图片 12"/>
          <p:cNvPicPr>
            <a:picLocks noChangeAspect="1"/>
          </p:cNvPicPr>
          <p:nvPr userDrawn="1"/>
        </p:nvPicPr>
        <p:blipFill>
          <a:blip r:embed="rId4"/>
          <a:stretch>
            <a:fillRect/>
          </a:stretch>
        </p:blipFill>
        <p:spPr>
          <a:xfrm>
            <a:off x="1683657" y="716939"/>
            <a:ext cx="8824686" cy="1844708"/>
          </a:xfrm>
          <a:prstGeom prst="rect">
            <a:avLst/>
          </a:prstGeom>
        </p:spPr>
      </p:pic>
      <p:sp>
        <p:nvSpPr>
          <p:cNvPr id="1049019" name="文本框 13"/>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049020" name="文本框 14"/>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049021" name="矩形 15"/>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1049022" name="矩形 5"/>
          <p:cNvSpPr/>
          <p:nvPr userDrawn="1"/>
        </p:nvSpPr>
        <p:spPr>
          <a:xfrm>
            <a:off x="440603" y="759873"/>
            <a:ext cx="646331" cy="369332"/>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pPr>
            <a:r>
              <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标注</a:t>
            </a:r>
            <a:endParaRPr kumimoji="0" lang="zh-CN" altLang="en-US" sz="18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049023" name="矩形 10"/>
          <p:cNvSpPr/>
          <p:nvPr userDrawn="1"/>
        </p:nvSpPr>
        <p:spPr>
          <a:xfrm>
            <a:off x="2572589" y="759873"/>
            <a:ext cx="1402001" cy="2025170"/>
          </a:xfrm>
          <a:prstGeom prst="rect">
            <a:avLst/>
          </a:prstGeom>
        </p:spPr>
        <p:txBody>
          <a:bodyPr wrap="square">
            <a:spAutoFit/>
          </a:bodyPr>
          <a:lstStyle/>
          <a:p>
            <a:pPr marL="0" marR="0" lvl="0" indent="0" defTabSz="609600" eaLnBrk="1" fontAlgn="auto" latinLnBrk="0" hangingPunct="1">
              <a:lnSpc>
                <a:spcPct val="130000"/>
              </a:lnSpc>
              <a:spcBef>
                <a:spcPts val="0"/>
              </a:spcBef>
              <a:spcAft>
                <a:spcPts val="0"/>
              </a:spcAft>
              <a:buClrTx/>
              <a:buSzTx/>
              <a:buFontTx/>
              <a:buNone/>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使用说明 </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声明</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049024"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914400" eaLnBrk="1" fontAlgn="auto" latinLnBrk="0" hangingPunct="1">
              <a:lnSpc>
                <a:spcPct val="130000"/>
              </a:lnSpc>
              <a:spcBef>
                <a:spcPts val="0"/>
              </a:spcBef>
              <a:spcAft>
                <a:spcPts val="0"/>
              </a:spcAft>
              <a:buClrTx/>
              <a:buSzTx/>
              <a:buFontTx/>
              <a:buNone/>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拥有对本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049025" name="矩形 12"/>
          <p:cNvSpPr/>
          <p:nvPr userDrawn="1"/>
        </p:nvSpPr>
        <p:spPr>
          <a:xfrm>
            <a:off x="440603" y="182445"/>
            <a:ext cx="777777" cy="246221"/>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pPr>
            <a:r>
              <a:rPr kumimoji="1" lang="en-US" altLang="zh-CN"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rPr>
              <a:t>OfficePLUS</a:t>
            </a:r>
            <a:endParaRPr kumimoji="0" lang="zh-CN" altLang="en-US"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669869" y="1"/>
            <a:ext cx="10849030" cy="749299"/>
          </a:xfrm>
          <a:prstGeom prst="rect">
            <a:avLst/>
          </a:prstGeom>
        </p:spPr>
        <p:txBody>
          <a:bodyPr vert="horz" lIns="0" tIns="0" rIns="0" bIns="0" rtlCol="0" anchor="b" anchorCtr="0">
            <a:noAutofit/>
          </a:bodyPr>
          <a:lstStyle/>
          <a:p>
            <a:r>
              <a:rPr lang="zh-CN" altLang="en-US" dirty="0"/>
              <a:t>单击此处编辑母版标题样式</a:t>
            </a:r>
          </a:p>
        </p:txBody>
      </p:sp>
      <p:sp>
        <p:nvSpPr>
          <p:cNvPr id="1048577" name="文本占位符 2"/>
          <p:cNvSpPr>
            <a:spLocks noGrp="1"/>
          </p:cNvSpPr>
          <p:nvPr>
            <p:ph type="body" idx="1"/>
          </p:nvPr>
        </p:nvSpPr>
        <p:spPr>
          <a:xfrm>
            <a:off x="669869" y="850901"/>
            <a:ext cx="10849031" cy="5283200"/>
          </a:xfrm>
          <a:prstGeom prst="rect">
            <a:avLst/>
          </a:prstGeom>
        </p:spPr>
        <p:txBody>
          <a:bodyPr vert="horz" lIns="91440" tIns="45720" rIns="91440" bIns="45720" rtlCol="0">
            <a:no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578" name="日期占位符 3"/>
          <p:cNvSpPr>
            <a:spLocks noGrp="1"/>
          </p:cNvSpPr>
          <p:nvPr>
            <p:ph type="dt" sz="half" idx="2"/>
          </p:nvPr>
        </p:nvSpPr>
        <p:spPr>
          <a:xfrm>
            <a:off x="660400" y="6235702"/>
            <a:ext cx="3342640" cy="365125"/>
          </a:xfrm>
          <a:prstGeom prst="rect">
            <a:avLst/>
          </a:prstGeom>
        </p:spPr>
        <p:txBody>
          <a:bodyPr vert="horz" lIns="0" tIns="45720" rIns="91440" bIns="45720" rtlCol="0" anchor="ctr"/>
          <a:lstStyle>
            <a:lvl1pPr marL="0" marR="0" indent="0" algn="l" defTabSz="914400" rtl="0" eaLnBrk="1" fontAlgn="auto" latinLnBrk="0" hangingPunct="1">
              <a:lnSpc>
                <a:spcPct val="100000"/>
              </a:lnSpc>
              <a:spcBef>
                <a:spcPts val="0"/>
              </a:spcBef>
              <a:spcAft>
                <a:spcPts val="0"/>
              </a:spcAft>
              <a:buClrTx/>
              <a:buSzTx/>
              <a:buFontTx/>
              <a:buNone/>
              <a:defRPr sz="1400" spc="100" baseline="0">
                <a:solidFill>
                  <a:schemeClr val="tx1">
                    <a:tint val="75000"/>
                  </a:schemeClr>
                </a:solidFill>
              </a:defRPr>
            </a:lvl1p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1048579" name="页脚占位符 4"/>
          <p:cNvSpPr>
            <a:spLocks noGrp="1"/>
          </p:cNvSpPr>
          <p:nvPr>
            <p:ph type="ftr" sz="quarter" idx="3"/>
          </p:nvPr>
        </p:nvSpPr>
        <p:spPr>
          <a:xfrm>
            <a:off x="4622800" y="6235702"/>
            <a:ext cx="2946400" cy="365125"/>
          </a:xfrm>
          <a:prstGeom prst="rect">
            <a:avLst/>
          </a:prstGeom>
        </p:spPr>
        <p:txBody>
          <a:bodyPr vert="horz" lIns="91440" tIns="45720" rIns="91440" bIns="45720" rtlCol="0" anchor="ctr"/>
          <a:lstStyle>
            <a:lvl1pPr algn="ctr">
              <a:defRPr sz="1400" i="0" spc="300" baseline="0">
                <a:solidFill>
                  <a:schemeClr val="accent1"/>
                </a:solidFill>
              </a:defRPr>
            </a:lvl1pPr>
          </a:lstStyle>
          <a:p>
            <a:endParaRPr lang="zh-CN" altLang="en-US" dirty="0"/>
          </a:p>
        </p:txBody>
      </p:sp>
      <p:sp>
        <p:nvSpPr>
          <p:cNvPr id="1048580" name="灯片编号占位符 3"/>
          <p:cNvSpPr>
            <a:spLocks noGrp="1"/>
          </p:cNvSpPr>
          <p:nvPr>
            <p:ph type="sldNum" sz="quarter" idx="4"/>
          </p:nvPr>
        </p:nvSpPr>
        <p:spPr>
          <a:xfrm>
            <a:off x="8775700" y="6235702"/>
            <a:ext cx="2743200" cy="365125"/>
          </a:xfrm>
          <a:prstGeom prst="rect">
            <a:avLst/>
          </a:prstGeom>
        </p:spPr>
        <p:txBody>
          <a:bodyPr vert="horz" lIns="91440" tIns="45720" rIns="0" bIns="45720" rtlCol="0" anchor="ctr"/>
          <a:lstStyle>
            <a:lvl1pPr algn="r">
              <a:defRPr sz="1400">
                <a:solidFill>
                  <a:schemeClr val="bg1">
                    <a:lumMod val="75000"/>
                  </a:schemeClr>
                </a:solidFill>
              </a:defRPr>
            </a:lvl1pPr>
          </a:lstStyle>
          <a:p>
            <a:fld id="{C79ECAFE-A460-4E13-ABCB-32CAE6136244}"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hdr="0" ftr="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1"/>
    <p:sldLayoutId id="214748366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文本占位符 2"/>
          <p:cNvSpPr>
            <a:spLocks noGrp="1"/>
          </p:cNvSpPr>
          <p:nvPr>
            <p:ph type="body" sz="quarter" idx="10"/>
          </p:nvPr>
        </p:nvSpPr>
        <p:spPr>
          <a:xfrm>
            <a:off x="327167" y="2611257"/>
            <a:ext cx="6809903" cy="1040410"/>
          </a:xfrm>
        </p:spPr>
        <p:txBody>
          <a:bodyPr/>
          <a:lstStyle/>
          <a:p>
            <a:r>
              <a:rPr lang="zh-CN" altLang="zh-CN" sz="3200" dirty="0">
                <a:ea typeface="+mn-ea"/>
                <a:cs typeface="+mn-ea"/>
              </a:rPr>
              <a:t>边缘场景下容器化分布式推理任务的细粒度资源感知调度机制研究与实现 </a:t>
            </a:r>
          </a:p>
          <a:p>
            <a:r>
              <a:rPr lang="en-US" altLang="zh-CN" sz="4800" dirty="0"/>
              <a:t> </a:t>
            </a:r>
            <a:endParaRPr lang="zh-CN" altLang="zh-CN" sz="4800" dirty="0"/>
          </a:p>
          <a:p>
            <a:r>
              <a:rPr lang="en-US" altLang="zh-CN" sz="4800" dirty="0"/>
              <a:t> </a:t>
            </a:r>
            <a:endParaRPr lang="zh-CN" altLang="zh-CN" sz="4800" dirty="0"/>
          </a:p>
          <a:p>
            <a:pPr algn="ctr"/>
            <a:endParaRPr lang="zh-CN" altLang="en-US" sz="3200" dirty="0">
              <a:ea typeface="+mn-ea"/>
              <a:cs typeface="+mn-ea"/>
            </a:endParaRPr>
          </a:p>
        </p:txBody>
      </p:sp>
      <p:sp>
        <p:nvSpPr>
          <p:cNvPr id="1048689" name="文本占位符 3"/>
          <p:cNvSpPr>
            <a:spLocks noGrp="1"/>
          </p:cNvSpPr>
          <p:nvPr>
            <p:ph type="body" sz="quarter" idx="11"/>
          </p:nvPr>
        </p:nvSpPr>
        <p:spPr>
          <a:xfrm>
            <a:off x="667503" y="799791"/>
            <a:ext cx="3742369" cy="493949"/>
          </a:xfrm>
        </p:spPr>
        <p:txBody>
          <a:bodyPr/>
          <a:lstStyle/>
          <a:p>
            <a:r>
              <a:rPr lang="zh-CN" altLang="en-US" sz="2400" b="1" dirty="0">
                <a:solidFill>
                  <a:schemeClr val="tx1">
                    <a:lumMod val="75000"/>
                    <a:lumOff val="25000"/>
                  </a:schemeClr>
                </a:solidFill>
                <a:latin typeface="+mn-lt"/>
                <a:ea typeface="+mn-ea"/>
              </a:rPr>
              <a:t>硕士学位论文开题答辩</a:t>
            </a:r>
            <a:endParaRPr lang="en-US" altLang="zh-CN" sz="2400" b="1" dirty="0">
              <a:solidFill>
                <a:schemeClr val="tx1">
                  <a:lumMod val="75000"/>
                  <a:lumOff val="25000"/>
                </a:schemeClr>
              </a:solidFill>
              <a:latin typeface="+mn-lt"/>
              <a:ea typeface="+mn-ea"/>
            </a:endParaRPr>
          </a:p>
        </p:txBody>
      </p:sp>
      <p:sp>
        <p:nvSpPr>
          <p:cNvPr id="1048690" name="日期占位符 1"/>
          <p:cNvSpPr>
            <a:spLocks noGrp="1"/>
          </p:cNvSpPr>
          <p:nvPr>
            <p:ph type="dt" sz="half" idx="16"/>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1048691" name="矩形 11"/>
          <p:cNvSpPr/>
          <p:nvPr/>
        </p:nvSpPr>
        <p:spPr>
          <a:xfrm>
            <a:off x="652958" y="4379642"/>
            <a:ext cx="2506802" cy="40011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rPr>
              <a:t>答辩人：</a:t>
            </a:r>
            <a:r>
              <a:rPr lang="zh-CN" altLang="en-US" sz="2000" dirty="0">
                <a:solidFill>
                  <a:schemeClr val="accent2"/>
                </a:solidFill>
                <a:latin typeface="Arial" panose="020B0604020202020204"/>
                <a:cs typeface="+mn-ea"/>
              </a:rPr>
              <a:t>李雅扉</a:t>
            </a:r>
            <a:endPar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endParaRPr>
          </a:p>
        </p:txBody>
      </p:sp>
      <p:sp>
        <p:nvSpPr>
          <p:cNvPr id="1048692" name="矩形 13"/>
          <p:cNvSpPr/>
          <p:nvPr/>
        </p:nvSpPr>
        <p:spPr>
          <a:xfrm>
            <a:off x="667504" y="4899847"/>
            <a:ext cx="3680976" cy="40011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答辩日期：</a:t>
            </a:r>
            <a:r>
              <a:rPr lang="en-US" altLang="zh-CN" sz="2000" dirty="0">
                <a:solidFill>
                  <a:schemeClr val="accent1"/>
                </a:solidFill>
                <a:latin typeface="Arial" panose="020B0604020202020204"/>
                <a:cs typeface="+mn-ea"/>
              </a:rPr>
              <a:t>2026</a:t>
            </a:r>
            <a:r>
              <a:rPr kumimoji="0" lang="en-US" altLang="zh-CN" sz="2000" i="0" u="none" strike="noStrike" kern="1200" cap="none" spc="0" normalizeH="0" baseline="0" noProof="0" dirty="0">
                <a:ln>
                  <a:noFill/>
                </a:ln>
                <a:solidFill>
                  <a:schemeClr val="accent1"/>
                </a:solidFill>
                <a:effectLst/>
                <a:uLnTx/>
                <a:uFillTx/>
                <a:latin typeface="Arial" panose="020B0604020202020204"/>
                <a:cs typeface="+mn-ea"/>
              </a:rPr>
              <a:t>/4/22</a:t>
            </a:r>
            <a:endPar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日期占位符 5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ea"/>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ea"/>
            </a:endParaRPr>
          </a:p>
        </p:txBody>
      </p:sp>
      <p:grpSp>
        <p:nvGrpSpPr>
          <p:cNvPr id="59" name="组合 61"/>
          <p:cNvGrpSpPr/>
          <p:nvPr/>
        </p:nvGrpSpPr>
        <p:grpSpPr>
          <a:xfrm>
            <a:off x="6237602" y="1758101"/>
            <a:ext cx="495959" cy="495959"/>
            <a:chOff x="6932134" y="1758101"/>
            <a:chExt cx="495959" cy="495959"/>
          </a:xfrm>
        </p:grpSpPr>
        <p:sp>
          <p:nvSpPr>
            <p:cNvPr id="1048618" name="íṥļîḓê"/>
            <p:cNvSpPr/>
            <p:nvPr/>
          </p:nvSpPr>
          <p:spPr>
            <a:xfrm>
              <a:off x="6932134" y="175810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19" name="íṥlíḓê"/>
            <p:cNvSpPr/>
            <p:nvPr/>
          </p:nvSpPr>
          <p:spPr>
            <a:xfrm>
              <a:off x="6977987" y="180395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20" name="ïśļiḑé"/>
            <p:cNvSpPr/>
            <p:nvPr/>
          </p:nvSpPr>
          <p:spPr>
            <a:xfrm>
              <a:off x="7055794" y="1924242"/>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60" name="组合 65"/>
          <p:cNvGrpSpPr/>
          <p:nvPr/>
        </p:nvGrpSpPr>
        <p:grpSpPr>
          <a:xfrm>
            <a:off x="6418415" y="2706714"/>
            <a:ext cx="495959" cy="495959"/>
            <a:chOff x="7112947" y="2706714"/>
            <a:chExt cx="495959" cy="495959"/>
          </a:xfrm>
        </p:grpSpPr>
        <p:sp>
          <p:nvSpPr>
            <p:cNvPr id="1048621" name="íṥļîḓê"/>
            <p:cNvSpPr/>
            <p:nvPr/>
          </p:nvSpPr>
          <p:spPr>
            <a:xfrm>
              <a:off x="7112947" y="2706714"/>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22" name="íṥlíḓê"/>
            <p:cNvSpPr/>
            <p:nvPr/>
          </p:nvSpPr>
          <p:spPr>
            <a:xfrm>
              <a:off x="7158800" y="2752567"/>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23" name="ïśļiḑé"/>
            <p:cNvSpPr/>
            <p:nvPr/>
          </p:nvSpPr>
          <p:spPr>
            <a:xfrm>
              <a:off x="7236607" y="2872855"/>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sp>
        <p:nvSpPr>
          <p:cNvPr id="1048624" name="íṥļîḓê"/>
          <p:cNvSpPr/>
          <p:nvPr/>
        </p:nvSpPr>
        <p:spPr>
          <a:xfrm>
            <a:off x="6418415" y="3655328"/>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25" name="íṥlíḓê"/>
          <p:cNvSpPr/>
          <p:nvPr/>
        </p:nvSpPr>
        <p:spPr>
          <a:xfrm>
            <a:off x="6464268" y="3701181"/>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26" name="ïśļiḑé"/>
          <p:cNvSpPr/>
          <p:nvPr/>
        </p:nvSpPr>
        <p:spPr>
          <a:xfrm>
            <a:off x="6542075" y="3821469"/>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nvGrpSpPr>
          <p:cNvPr id="61" name="组合 72"/>
          <p:cNvGrpSpPr/>
          <p:nvPr/>
        </p:nvGrpSpPr>
        <p:grpSpPr>
          <a:xfrm>
            <a:off x="6237602" y="4603941"/>
            <a:ext cx="495959" cy="495959"/>
            <a:chOff x="6932134" y="4603941"/>
            <a:chExt cx="495959" cy="495959"/>
          </a:xfrm>
        </p:grpSpPr>
        <p:sp>
          <p:nvSpPr>
            <p:cNvPr id="1048627" name="íṥļîḓê"/>
            <p:cNvSpPr/>
            <p:nvPr/>
          </p:nvSpPr>
          <p:spPr>
            <a:xfrm>
              <a:off x="6932134" y="460394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28" name="íṥlíḓê"/>
            <p:cNvSpPr/>
            <p:nvPr/>
          </p:nvSpPr>
          <p:spPr>
            <a:xfrm>
              <a:off x="6977987" y="464979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29" name="ïśļiḑé"/>
            <p:cNvSpPr/>
            <p:nvPr/>
          </p:nvSpPr>
          <p:spPr>
            <a:xfrm>
              <a:off x="7055794" y="4770082"/>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62" name="组合 76"/>
          <p:cNvGrpSpPr/>
          <p:nvPr/>
        </p:nvGrpSpPr>
        <p:grpSpPr>
          <a:xfrm>
            <a:off x="5835053" y="5555991"/>
            <a:ext cx="495959" cy="495959"/>
            <a:chOff x="6529585" y="5555991"/>
            <a:chExt cx="495959" cy="495959"/>
          </a:xfrm>
        </p:grpSpPr>
        <p:sp>
          <p:nvSpPr>
            <p:cNvPr id="1048630" name="íṥļîḓê"/>
            <p:cNvSpPr/>
            <p:nvPr/>
          </p:nvSpPr>
          <p:spPr>
            <a:xfrm>
              <a:off x="6529585" y="555599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31" name="íṥlíḓê"/>
            <p:cNvSpPr/>
            <p:nvPr/>
          </p:nvSpPr>
          <p:spPr>
            <a:xfrm>
              <a:off x="6575438" y="560184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32" name="ïśļiḑé"/>
            <p:cNvSpPr/>
            <p:nvPr/>
          </p:nvSpPr>
          <p:spPr>
            <a:xfrm>
              <a:off x="6653245" y="5722132"/>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63" name="组合 80"/>
          <p:cNvGrpSpPr/>
          <p:nvPr/>
        </p:nvGrpSpPr>
        <p:grpSpPr>
          <a:xfrm>
            <a:off x="5835053" y="809489"/>
            <a:ext cx="495959" cy="495959"/>
            <a:chOff x="6529585" y="809489"/>
            <a:chExt cx="495959" cy="495959"/>
          </a:xfrm>
        </p:grpSpPr>
        <p:sp>
          <p:nvSpPr>
            <p:cNvPr id="1048633" name="íṥļîḓê"/>
            <p:cNvSpPr/>
            <p:nvPr/>
          </p:nvSpPr>
          <p:spPr>
            <a:xfrm>
              <a:off x="6529585" y="809489"/>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34" name="íṥlíḓê"/>
            <p:cNvSpPr/>
            <p:nvPr/>
          </p:nvSpPr>
          <p:spPr>
            <a:xfrm>
              <a:off x="6575438" y="855342"/>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048635" name="ïśļiḑé"/>
            <p:cNvSpPr/>
            <p:nvPr/>
          </p:nvSpPr>
          <p:spPr>
            <a:xfrm>
              <a:off x="6653246" y="975629"/>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64" name="组合 1"/>
          <p:cNvGrpSpPr/>
          <p:nvPr/>
        </p:nvGrpSpPr>
        <p:grpSpPr>
          <a:xfrm>
            <a:off x="6925572" y="1637892"/>
            <a:ext cx="3798000" cy="732782"/>
            <a:chOff x="6823968" y="1637892"/>
            <a:chExt cx="3798000" cy="732782"/>
          </a:xfrm>
        </p:grpSpPr>
        <p:sp>
          <p:nvSpPr>
            <p:cNvPr id="1048636" name="文本框 55"/>
            <p:cNvSpPr txBox="1"/>
            <p:nvPr/>
          </p:nvSpPr>
          <p:spPr>
            <a:xfrm>
              <a:off x="7565044" y="1727327"/>
              <a:ext cx="305692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zh-CN" sz="2800" b="1">
                  <a:solidFill>
                    <a:srgbClr val="445437"/>
                  </a:solidFill>
                  <a:latin typeface="微软雅黑" panose="020B0503020204020204" charset="-122"/>
                  <a:ea typeface="微软雅黑" panose="020B0503020204020204" charset="-122"/>
                  <a:cs typeface="+mn-ea"/>
                </a:rPr>
                <a:t>研究背景与现状</a:t>
              </a:r>
              <a:r>
                <a:rPr lang="en-US" altLang="zh-CN" sz="2800" b="1">
                  <a:solidFill>
                    <a:srgbClr val="445437"/>
                  </a:solidFill>
                  <a:latin typeface="微软雅黑" panose="020B0503020204020204" charset="-122"/>
                  <a:ea typeface="微软雅黑" panose="020B0503020204020204" charset="-122"/>
                  <a:cs typeface="+mn-ea"/>
                </a:rPr>
                <a:t> </a:t>
              </a:r>
              <a:endParaRPr lang="zh-CN" altLang="en-US" sz="2800" b="1" dirty="0">
                <a:solidFill>
                  <a:srgbClr val="445437"/>
                </a:solidFill>
                <a:latin typeface="微软雅黑" panose="020B0503020204020204" charset="-122"/>
                <a:ea typeface="微软雅黑" panose="020B0503020204020204" charset="-122"/>
                <a:cs typeface="+mn-ea"/>
              </a:endParaRPr>
            </a:p>
          </p:txBody>
        </p:sp>
        <p:cxnSp>
          <p:nvCxnSpPr>
            <p:cNvPr id="3145729" name="直接连接符 84"/>
            <p:cNvCxnSpPr>
              <a:cxnSpLocks/>
            </p:cNvCxnSpPr>
            <p:nvPr/>
          </p:nvCxnSpPr>
          <p:spPr>
            <a:xfrm>
              <a:off x="6823968" y="2250547"/>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5" name="组合 90"/>
            <p:cNvGrpSpPr/>
            <p:nvPr/>
          </p:nvGrpSpPr>
          <p:grpSpPr>
            <a:xfrm>
              <a:off x="6880535" y="1637892"/>
              <a:ext cx="817163" cy="732782"/>
              <a:chOff x="7575067" y="723491"/>
              <a:chExt cx="817163" cy="732782"/>
            </a:xfrm>
          </p:grpSpPr>
          <p:sp>
            <p:nvSpPr>
              <p:cNvPr id="1048637" name="文本框 91"/>
              <p:cNvSpPr txBox="1"/>
              <p:nvPr/>
            </p:nvSpPr>
            <p:spPr>
              <a:xfrm>
                <a:off x="7575067" y="748387"/>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01</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1048638" name="文本框 92"/>
              <p:cNvSpPr txBox="1"/>
              <p:nvPr/>
            </p:nvSpPr>
            <p:spPr>
              <a:xfrm>
                <a:off x="7592006" y="723491"/>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01</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grpSp>
        <p:nvGrpSpPr>
          <p:cNvPr id="66" name="组合 2"/>
          <p:cNvGrpSpPr/>
          <p:nvPr/>
        </p:nvGrpSpPr>
        <p:grpSpPr>
          <a:xfrm>
            <a:off x="7170224" y="2582715"/>
            <a:ext cx="4027397" cy="732782"/>
            <a:chOff x="7068620" y="2582715"/>
            <a:chExt cx="4027397" cy="732782"/>
          </a:xfrm>
        </p:grpSpPr>
        <p:sp>
          <p:nvSpPr>
            <p:cNvPr id="1048639" name="文本框 56"/>
            <p:cNvSpPr txBox="1"/>
            <p:nvPr/>
          </p:nvSpPr>
          <p:spPr>
            <a:xfrm>
              <a:off x="7870493" y="2675940"/>
              <a:ext cx="322552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zh-CN" sz="2800" b="1">
                  <a:solidFill>
                    <a:srgbClr val="445437"/>
                  </a:solidFill>
                  <a:latin typeface="微软雅黑" panose="020B0503020204020204" charset="-122"/>
                  <a:ea typeface="微软雅黑" panose="020B0503020204020204" charset="-122"/>
                  <a:cs typeface="+mn-ea"/>
                </a:rPr>
                <a:t>研究目标与内容</a:t>
              </a:r>
              <a:endParaRPr lang="zh-CN" altLang="en-US" sz="2800" b="1" dirty="0">
                <a:solidFill>
                  <a:srgbClr val="445437"/>
                </a:solidFill>
                <a:latin typeface="微软雅黑" panose="020B0503020204020204" charset="-122"/>
                <a:ea typeface="微软雅黑" panose="020B0503020204020204" charset="-122"/>
                <a:cs typeface="+mn-ea"/>
              </a:endParaRPr>
            </a:p>
          </p:txBody>
        </p:sp>
        <p:cxnSp>
          <p:nvCxnSpPr>
            <p:cNvPr id="3145730" name="直接连接符 85"/>
            <p:cNvCxnSpPr>
              <a:cxnSpLocks/>
            </p:cNvCxnSpPr>
            <p:nvPr/>
          </p:nvCxnSpPr>
          <p:spPr>
            <a:xfrm>
              <a:off x="7068620" y="3199160"/>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7" name="组合 93"/>
            <p:cNvGrpSpPr/>
            <p:nvPr/>
          </p:nvGrpSpPr>
          <p:grpSpPr>
            <a:xfrm>
              <a:off x="7163048" y="2582715"/>
              <a:ext cx="817163" cy="732782"/>
              <a:chOff x="7857580" y="1668314"/>
              <a:chExt cx="817163" cy="732782"/>
            </a:xfrm>
          </p:grpSpPr>
          <p:sp>
            <p:nvSpPr>
              <p:cNvPr id="1048640" name="文本框 94"/>
              <p:cNvSpPr txBox="1"/>
              <p:nvPr/>
            </p:nvSpPr>
            <p:spPr>
              <a:xfrm>
                <a:off x="7857580" y="1693210"/>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02</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1048641" name="文本框 95"/>
              <p:cNvSpPr txBox="1"/>
              <p:nvPr/>
            </p:nvSpPr>
            <p:spPr>
              <a:xfrm>
                <a:off x="7874519" y="1668314"/>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02</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grpSp>
        <p:nvGrpSpPr>
          <p:cNvPr id="68" name="组合 3"/>
          <p:cNvGrpSpPr/>
          <p:nvPr/>
        </p:nvGrpSpPr>
        <p:grpSpPr>
          <a:xfrm>
            <a:off x="7170224" y="3531868"/>
            <a:ext cx="3798745" cy="732782"/>
            <a:chOff x="7206183" y="3531868"/>
            <a:chExt cx="3798745" cy="732782"/>
          </a:xfrm>
        </p:grpSpPr>
        <p:sp>
          <p:nvSpPr>
            <p:cNvPr id="1048642" name="文本框 57"/>
            <p:cNvSpPr txBox="1"/>
            <p:nvPr/>
          </p:nvSpPr>
          <p:spPr>
            <a:xfrm>
              <a:off x="8136855" y="3624553"/>
              <a:ext cx="2868073" cy="523220"/>
            </a:xfrm>
            <a:prstGeom prst="rect">
              <a:avLst/>
            </a:prstGeom>
            <a:noFill/>
          </p:spPr>
          <p:txBody>
            <a:bodyPr wrap="square" rtlCol="0">
              <a:spAutoFit/>
            </a:bodyPr>
            <a:lstStyle/>
            <a:p>
              <a:r>
                <a:rPr lang="zh-CN" altLang="zh-CN" sz="2800" b="1">
                  <a:solidFill>
                    <a:srgbClr val="445437"/>
                  </a:solidFill>
                  <a:latin typeface="微软雅黑" panose="020B0503020204020204" charset="-122"/>
                  <a:ea typeface="微软雅黑" panose="020B0503020204020204" charset="-122"/>
                  <a:cs typeface="+mn-ea"/>
                </a:rPr>
                <a:t>技术路线与方法</a:t>
              </a:r>
            </a:p>
          </p:txBody>
        </p:sp>
        <p:cxnSp>
          <p:nvCxnSpPr>
            <p:cNvPr id="3145731" name="直接连接符 86"/>
            <p:cNvCxnSpPr>
              <a:cxnSpLocks/>
            </p:cNvCxnSpPr>
            <p:nvPr/>
          </p:nvCxnSpPr>
          <p:spPr>
            <a:xfrm>
              <a:off x="7206183" y="4147773"/>
              <a:ext cx="3798745"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9" name="组合 96"/>
            <p:cNvGrpSpPr/>
            <p:nvPr/>
          </p:nvGrpSpPr>
          <p:grpSpPr>
            <a:xfrm>
              <a:off x="7349460" y="3531868"/>
              <a:ext cx="817163" cy="732782"/>
              <a:chOff x="8043992" y="2617467"/>
              <a:chExt cx="817163" cy="732782"/>
            </a:xfrm>
          </p:grpSpPr>
          <p:sp>
            <p:nvSpPr>
              <p:cNvPr id="1048643" name="文本框 97"/>
              <p:cNvSpPr txBox="1"/>
              <p:nvPr/>
            </p:nvSpPr>
            <p:spPr>
              <a:xfrm>
                <a:off x="8043992" y="2642363"/>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03</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1048644" name="文本框 98"/>
              <p:cNvSpPr txBox="1"/>
              <p:nvPr/>
            </p:nvSpPr>
            <p:spPr>
              <a:xfrm>
                <a:off x="8060931" y="2617467"/>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03</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grpSp>
        <p:nvGrpSpPr>
          <p:cNvPr id="70" name="组合 4"/>
          <p:cNvGrpSpPr/>
          <p:nvPr/>
        </p:nvGrpSpPr>
        <p:grpSpPr>
          <a:xfrm>
            <a:off x="6925572" y="4476820"/>
            <a:ext cx="3798000" cy="732782"/>
            <a:chOff x="7206183" y="4476820"/>
            <a:chExt cx="3798000" cy="732782"/>
          </a:xfrm>
        </p:grpSpPr>
        <p:sp>
          <p:nvSpPr>
            <p:cNvPr id="1048645" name="文本框 58"/>
            <p:cNvSpPr txBox="1"/>
            <p:nvPr/>
          </p:nvSpPr>
          <p:spPr>
            <a:xfrm>
              <a:off x="7844247" y="4573166"/>
              <a:ext cx="3010605" cy="523220"/>
            </a:xfrm>
            <a:prstGeom prst="rect">
              <a:avLst/>
            </a:prstGeom>
            <a:noFill/>
          </p:spPr>
          <p:txBody>
            <a:bodyPr wrap="square" rtlCol="0">
              <a:spAutoFit/>
            </a:bodyPr>
            <a:lstStyle/>
            <a:p>
              <a:pPr marL="266700">
                <a:spcBef>
                  <a:spcPts val="1700"/>
                </a:spcBef>
                <a:spcAft>
                  <a:spcPts val="1650"/>
                </a:spcAft>
              </a:pPr>
              <a:r>
                <a:rPr lang="zh-CN" altLang="zh-CN" sz="2800" b="1">
                  <a:solidFill>
                    <a:srgbClr val="445437"/>
                  </a:solidFill>
                  <a:latin typeface="微软雅黑" panose="020B0503020204020204" charset="-122"/>
                  <a:ea typeface="微软雅黑" panose="020B0503020204020204" charset="-122"/>
                  <a:cs typeface="+mn-ea"/>
                </a:rPr>
                <a:t>预期成果与计划</a:t>
              </a:r>
            </a:p>
          </p:txBody>
        </p:sp>
        <p:cxnSp>
          <p:nvCxnSpPr>
            <p:cNvPr id="3145732" name="直接连接符 89"/>
            <p:cNvCxnSpPr>
              <a:cxnSpLocks/>
            </p:cNvCxnSpPr>
            <p:nvPr/>
          </p:nvCxnSpPr>
          <p:spPr>
            <a:xfrm flipV="1">
              <a:off x="7206183" y="5094136"/>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1" name="组合 99"/>
            <p:cNvGrpSpPr/>
            <p:nvPr/>
          </p:nvGrpSpPr>
          <p:grpSpPr>
            <a:xfrm>
              <a:off x="7349460" y="4476820"/>
              <a:ext cx="817163" cy="732782"/>
              <a:chOff x="8043992" y="3562419"/>
              <a:chExt cx="817163" cy="732782"/>
            </a:xfrm>
          </p:grpSpPr>
          <p:sp>
            <p:nvSpPr>
              <p:cNvPr id="1048646" name="文本框 100"/>
              <p:cNvSpPr txBox="1"/>
              <p:nvPr/>
            </p:nvSpPr>
            <p:spPr>
              <a:xfrm>
                <a:off x="8043992" y="3587315"/>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04</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1048647" name="文本框 101"/>
              <p:cNvSpPr txBox="1"/>
              <p:nvPr/>
            </p:nvSpPr>
            <p:spPr>
              <a:xfrm>
                <a:off x="8060931" y="3562419"/>
                <a:ext cx="800224" cy="707886"/>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04</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文本占位符 1"/>
          <p:cNvSpPr>
            <a:spLocks noGrp="1"/>
          </p:cNvSpPr>
          <p:nvPr>
            <p:ph type="body" sz="quarter" idx="10"/>
          </p:nvPr>
        </p:nvSpPr>
        <p:spPr>
          <a:xfrm>
            <a:off x="-190501" y="4189677"/>
            <a:ext cx="5368944" cy="725488"/>
          </a:xfrm>
        </p:spPr>
        <p:txBody>
          <a:bodyPr/>
          <a:lstStyle/>
          <a:p>
            <a:r>
              <a:rPr lang="zh-CN" altLang="zh-CN">
                <a:ea typeface="+mn-ea"/>
                <a:cs typeface="+mn-ea"/>
              </a:rPr>
              <a:t>研究背景与现状</a:t>
            </a:r>
            <a:r>
              <a:rPr lang="en-US" altLang="zh-CN">
                <a:ea typeface="+mn-ea"/>
                <a:cs typeface="+mn-ea"/>
              </a:rPr>
              <a:t> </a:t>
            </a:r>
            <a:endParaRPr lang="zh-CN" altLang="en-US">
              <a:ea typeface="+mn-ea"/>
              <a:cs typeface="+mn-ea"/>
            </a:endParaRPr>
          </a:p>
          <a:p>
            <a:endParaRPr lang="zh-CN" altLang="en-US" dirty="0">
              <a:ea typeface="+mn-ea"/>
              <a:cs typeface="+mn-ea"/>
            </a:endParaRPr>
          </a:p>
        </p:txBody>
      </p:sp>
      <p:sp>
        <p:nvSpPr>
          <p:cNvPr id="1048588" name="日期占位符 2"/>
          <p:cNvSpPr>
            <a:spLocks noGrp="1"/>
          </p:cNvSpPr>
          <p:nvPr>
            <p:ph type="dt" sz="half" idx="12"/>
          </p:nvPr>
        </p:nvSpPr>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pic>
        <p:nvPicPr>
          <p:cNvPr id="2097155" name="图片 8"/>
          <p:cNvPicPr>
            <a:picLocks noChangeAspect="1"/>
          </p:cNvPicPr>
          <p:nvPr/>
        </p:nvPicPr>
        <p:blipFill>
          <a:blip r:embed="rId3"/>
          <a:srcRect l="22592" t="13433" r="22592" b="26261"/>
          <a:stretch>
            <a:fillRect/>
          </a:stretch>
        </p:blipFill>
        <p:spPr>
          <a:xfrm>
            <a:off x="904820"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文本占位符 6"/>
          <p:cNvSpPr>
            <a:spLocks noGrp="1"/>
          </p:cNvSpPr>
          <p:nvPr>
            <p:ph type="body" sz="quarter" idx="11"/>
          </p:nvPr>
        </p:nvSpPr>
        <p:spPr>
          <a:xfrm>
            <a:off x="1216933" y="347251"/>
            <a:ext cx="10624871" cy="402291"/>
          </a:xfrm>
        </p:spPr>
        <p:txBody>
          <a:bodyPr/>
          <a:lstStyle/>
          <a:p>
            <a:r>
              <a:rPr lang="zh-CN" altLang="zh-CN">
                <a:cs typeface="+mn-ea"/>
              </a:rPr>
              <a:t>研究背景与现状</a:t>
            </a:r>
            <a:r>
              <a:rPr lang="en-US" altLang="zh-CN">
                <a:cs typeface="+mn-ea"/>
              </a:rPr>
              <a:t>      </a:t>
            </a:r>
            <a:r>
              <a:rPr lang="zh-CN" altLang="zh-CN" b="0">
                <a:cs typeface="+mn-ea"/>
              </a:rPr>
              <a:t>研究目标与内容</a:t>
            </a:r>
            <a:r>
              <a:rPr lang="en-US" altLang="zh-CN" b="0">
                <a:cs typeface="+mn-ea"/>
              </a:rPr>
              <a:t>      </a:t>
            </a:r>
            <a:r>
              <a:rPr lang="zh-CN" altLang="zh-CN" b="0">
                <a:cs typeface="+mn-ea"/>
              </a:rPr>
              <a:t>技术路线与方法</a:t>
            </a:r>
            <a:r>
              <a:rPr lang="en-US" altLang="zh-CN" b="0">
                <a:cs typeface="+mn-ea"/>
              </a:rPr>
              <a:t>      </a:t>
            </a:r>
            <a:r>
              <a:rPr lang="zh-CN" altLang="zh-CN" b="0">
                <a:cs typeface="+mn-ea"/>
              </a:rPr>
              <a:t>预期成果与计划</a:t>
            </a:r>
            <a:endParaRPr lang="en-US" altLang="zh-CN" b="0" dirty="0">
              <a:cs typeface="+mn-ea"/>
            </a:endParaRPr>
          </a:p>
        </p:txBody>
      </p:sp>
      <p:sp>
        <p:nvSpPr>
          <p:cNvPr id="1048601" name="日期占位符 1"/>
          <p:cNvSpPr>
            <a:spLocks noGrp="1"/>
          </p:cNvSpPr>
          <p:nvPr>
            <p:ph type="dt" sz="half" idx="14"/>
          </p:nvPr>
        </p:nvSpPr>
        <p:spPr>
          <a:xfrm>
            <a:off x="799057" y="6113189"/>
            <a:ext cx="3342640" cy="365125"/>
          </a:xfrm>
        </p:spPr>
        <p:txBody>
          <a:bodyPr/>
          <a:lstStyle/>
          <a:p>
            <a:r>
              <a:rPr lang="zh-CN" altLang="en-US" i="1" spc="300" dirty="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1048602" name="灯片编号占位符 2"/>
          <p:cNvSpPr>
            <a:spLocks noGrp="1"/>
          </p:cNvSpPr>
          <p:nvPr>
            <p:ph type="sldNum" sz="quarter" idx="16"/>
          </p:nvPr>
        </p:nvSpPr>
        <p:spPr/>
        <p:txBody>
          <a:bodyPr/>
          <a:lstStyle/>
          <a:p>
            <a:fld id="{C79ECAFE-A460-4E13-ABCB-32CAE6136244}" type="slidenum">
              <a:rPr lang="zh-CN" altLang="en-US" smtClean="0"/>
              <a:t>4</a:t>
            </a:fld>
            <a:endParaRPr lang="zh-CN" altLang="en-US" dirty="0"/>
          </a:p>
        </p:txBody>
      </p:sp>
      <p:sp>
        <p:nvSpPr>
          <p:cNvPr id="1048603" name="文本框 103"/>
          <p:cNvSpPr txBox="1"/>
          <p:nvPr/>
        </p:nvSpPr>
        <p:spPr>
          <a:xfrm>
            <a:off x="6135761" y="5725509"/>
            <a:ext cx="2663138" cy="787075"/>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1600" dirty="0"/>
              <a:t>低时延响应</a:t>
            </a:r>
            <a:endParaRPr lang="en-US" altLang="zh-CN" sz="1600" dirty="0"/>
          </a:p>
          <a:p>
            <a:pPr marL="342900" indent="-342900">
              <a:lnSpc>
                <a:spcPct val="150000"/>
              </a:lnSpc>
              <a:buFont typeface="Wingdings" panose="05000000000000000000" pitchFamily="2" charset="2"/>
              <a:buChar char="ü"/>
            </a:pPr>
            <a:r>
              <a:rPr lang="zh-CN" altLang="en-US" sz="1600" dirty="0"/>
              <a:t>可靠性</a:t>
            </a:r>
            <a:endParaRPr lang="en-US" altLang="zh-CN" sz="1600" dirty="0">
              <a:cs typeface="+mn-ea"/>
            </a:endParaRPr>
          </a:p>
        </p:txBody>
      </p:sp>
      <p:sp>
        <p:nvSpPr>
          <p:cNvPr id="1048604" name="矩形 34"/>
          <p:cNvSpPr/>
          <p:nvPr/>
        </p:nvSpPr>
        <p:spPr>
          <a:xfrm>
            <a:off x="7326534" y="5386623"/>
            <a:ext cx="1826141" cy="417743"/>
          </a:xfrm>
          <a:prstGeom prst="rect">
            <a:avLst/>
          </a:prstGeom>
        </p:spPr>
        <p:txBody>
          <a:bodyPr wrap="none">
            <a:spAutoFit/>
          </a:bodyPr>
          <a:lstStyle/>
          <a:p>
            <a:pPr>
              <a:lnSpc>
                <a:spcPct val="150000"/>
              </a:lnSpc>
            </a:pPr>
            <a:r>
              <a:rPr lang="zh-CN" altLang="en-US" sz="1600" b="1" dirty="0">
                <a:solidFill>
                  <a:schemeClr val="accent1"/>
                </a:solidFill>
                <a:cs typeface="+mn-ea"/>
              </a:rPr>
              <a:t>边缘场景核心优势</a:t>
            </a:r>
          </a:p>
        </p:txBody>
      </p:sp>
      <p:sp>
        <p:nvSpPr>
          <p:cNvPr id="1048605" name="文本框 103"/>
          <p:cNvSpPr txBox="1"/>
          <p:nvPr/>
        </p:nvSpPr>
        <p:spPr>
          <a:xfrm>
            <a:off x="8798899" y="5733777"/>
            <a:ext cx="2056134" cy="787075"/>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zh-CN" altLang="en-US" sz="1600" dirty="0"/>
              <a:t>带宽压力小</a:t>
            </a:r>
            <a:endParaRPr lang="en-US" altLang="zh-CN" sz="1600" dirty="0"/>
          </a:p>
          <a:p>
            <a:pPr marL="342900" indent="-342900">
              <a:lnSpc>
                <a:spcPct val="150000"/>
              </a:lnSpc>
              <a:buFont typeface="Wingdings" panose="05000000000000000000" pitchFamily="2" charset="2"/>
              <a:buChar char="ü"/>
            </a:pPr>
            <a:r>
              <a:rPr lang="zh-CN" altLang="en-US" sz="1600" dirty="0"/>
              <a:t>隐私与安全性</a:t>
            </a:r>
            <a:endParaRPr lang="zh-CN" altLang="zh-CN" sz="1600" dirty="0">
              <a:cs typeface="+mn-ea"/>
            </a:endParaRPr>
          </a:p>
        </p:txBody>
      </p:sp>
      <p:sp>
        <p:nvSpPr>
          <p:cNvPr id="1048606" name="矩形 24"/>
          <p:cNvSpPr/>
          <p:nvPr/>
        </p:nvSpPr>
        <p:spPr>
          <a:xfrm>
            <a:off x="5943600" y="5386623"/>
            <a:ext cx="4911433" cy="1202435"/>
          </a:xfrm>
          <a:prstGeom prst="rect">
            <a:avLst/>
          </a:prstGeom>
          <a:noFill/>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sp>
        <p:nvSpPr>
          <p:cNvPr id="1048607" name="文本框 59"/>
          <p:cNvSpPr txBox="1"/>
          <p:nvPr/>
        </p:nvSpPr>
        <p:spPr>
          <a:xfrm>
            <a:off x="660400" y="1452911"/>
            <a:ext cx="10858500" cy="873957"/>
          </a:xfrm>
          <a:prstGeom prst="rect">
            <a:avLst/>
          </a:prstGeom>
          <a:noFill/>
        </p:spPr>
        <p:txBody>
          <a:bodyPr wrap="square">
            <a:spAutoFit/>
          </a:bodyPr>
          <a:lstStyle/>
          <a:p>
            <a:pPr>
              <a:lnSpc>
                <a:spcPct val="150000"/>
              </a:lnSpc>
            </a:pPr>
            <a:r>
              <a:rPr lang="zh-CN" altLang="en-US" dirty="0">
                <a:solidFill>
                  <a:schemeClr val="tx1">
                    <a:lumMod val="75000"/>
                    <a:lumOff val="25000"/>
                  </a:schemeClr>
                </a:solidFill>
              </a:rPr>
              <a:t>随着智能服务从云端向边缘延伸，大模型在线推理正在成为边缘智能服务的重要计算支撑，但边缘侧资源受限使高性能推理部署面临挑战</a:t>
            </a:r>
          </a:p>
        </p:txBody>
      </p:sp>
      <p:sp>
        <p:nvSpPr>
          <p:cNvPr id="1048608" name="文本占位符 15"/>
          <p:cNvSpPr txBox="1"/>
          <p:nvPr/>
        </p:nvSpPr>
        <p:spPr>
          <a:xfrm>
            <a:off x="660400" y="1022915"/>
            <a:ext cx="10858500" cy="559550"/>
          </a:xfrm>
          <a:prstGeom prst="rect">
            <a:avLst/>
          </a:prstGeom>
          <a:ln>
            <a:noFill/>
          </a:ln>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边缘环境下大模型分布式推理的广泛需求</a:t>
            </a:r>
          </a:p>
        </p:txBody>
      </p:sp>
      <p:pic>
        <p:nvPicPr>
          <p:cNvPr id="7" name="图片 6">
            <a:extLst>
              <a:ext uri="{FF2B5EF4-FFF2-40B4-BE49-F238E27FC236}">
                <a16:creationId xmlns:a16="http://schemas.microsoft.com/office/drawing/2014/main" id="{93E0E3A5-D464-7665-CC9C-DDD7DD3F63EB}"/>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99057" y="2684045"/>
            <a:ext cx="4560362" cy="2294306"/>
          </a:xfrm>
          <a:prstGeom prst="rect">
            <a:avLst/>
          </a:prstGeom>
        </p:spPr>
      </p:pic>
      <p:sp>
        <p:nvSpPr>
          <p:cNvPr id="9" name="AutoShape 4" descr="Nvidia - Wikipedia">
            <a:extLst>
              <a:ext uri="{FF2B5EF4-FFF2-40B4-BE49-F238E27FC236}">
                <a16:creationId xmlns:a16="http://schemas.microsoft.com/office/drawing/2014/main" id="{21B2BEDB-574C-A694-B7D2-1F02084A20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p>
        </p:txBody>
      </p:sp>
      <p:pic>
        <p:nvPicPr>
          <p:cNvPr id="16" name="Picture 8" descr="Consulting &amp; Growth Advisory Services | Fortune Business Insights">
            <a:extLst>
              <a:ext uri="{FF2B5EF4-FFF2-40B4-BE49-F238E27FC236}">
                <a16:creationId xmlns:a16="http://schemas.microsoft.com/office/drawing/2014/main" id="{A298F1DC-970A-5DD1-E687-CECC0BA391B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9057" y="5350751"/>
            <a:ext cx="2379684" cy="453714"/>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822CD2F2-F001-8924-5EEE-0C94B0659BF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498075" y="1887865"/>
            <a:ext cx="5802482" cy="34476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文本占位符 6"/>
          <p:cNvSpPr>
            <a:spLocks noGrp="1"/>
          </p:cNvSpPr>
          <p:nvPr>
            <p:ph type="body" sz="quarter" idx="11"/>
          </p:nvPr>
        </p:nvSpPr>
        <p:spPr>
          <a:xfrm>
            <a:off x="1216933" y="347251"/>
            <a:ext cx="10624871" cy="402291"/>
          </a:xfrm>
        </p:spPr>
        <p:txBody>
          <a:bodyPr/>
          <a:lstStyle/>
          <a:p>
            <a:r>
              <a:rPr lang="zh-CN" altLang="zh-CN">
                <a:cs typeface="+mn-ea"/>
              </a:rPr>
              <a:t>研究背景与现状</a:t>
            </a:r>
            <a:r>
              <a:rPr lang="en-US" altLang="zh-CN">
                <a:cs typeface="+mn-ea"/>
              </a:rPr>
              <a:t>      </a:t>
            </a:r>
            <a:r>
              <a:rPr lang="zh-CN" altLang="zh-CN" b="0">
                <a:cs typeface="+mn-ea"/>
              </a:rPr>
              <a:t>研究目标与内容</a:t>
            </a:r>
            <a:r>
              <a:rPr lang="en-US" altLang="zh-CN" b="0">
                <a:cs typeface="+mn-ea"/>
              </a:rPr>
              <a:t>      </a:t>
            </a:r>
            <a:r>
              <a:rPr lang="zh-CN" altLang="zh-CN" b="0">
                <a:cs typeface="+mn-ea"/>
              </a:rPr>
              <a:t>技术路线与方法</a:t>
            </a:r>
            <a:r>
              <a:rPr lang="en-US" altLang="zh-CN" b="0">
                <a:cs typeface="+mn-ea"/>
              </a:rPr>
              <a:t>      </a:t>
            </a:r>
            <a:r>
              <a:rPr lang="zh-CN" altLang="zh-CN" b="0">
                <a:cs typeface="+mn-ea"/>
              </a:rPr>
              <a:t>预期成果与计划</a:t>
            </a:r>
            <a:endParaRPr lang="en-US" altLang="zh-CN" b="0" dirty="0">
              <a:cs typeface="+mn-ea"/>
            </a:endParaRPr>
          </a:p>
        </p:txBody>
      </p:sp>
      <p:sp>
        <p:nvSpPr>
          <p:cNvPr id="1048652" name="灯片编号占位符 2"/>
          <p:cNvSpPr>
            <a:spLocks noGrp="1"/>
          </p:cNvSpPr>
          <p:nvPr>
            <p:ph type="sldNum" sz="quarter" idx="16"/>
          </p:nvPr>
        </p:nvSpPr>
        <p:spPr>
          <a:xfrm>
            <a:off x="8775700" y="6235702"/>
            <a:ext cx="2743200" cy="365125"/>
          </a:xfrm>
        </p:spPr>
        <p:txBody>
          <a:bodyPr/>
          <a:lstStyle/>
          <a:p>
            <a:fld id="{C79ECAFE-A460-4E13-ABCB-32CAE6136244}" type="slidenum">
              <a:rPr lang="zh-CN" altLang="en-US" smtClean="0"/>
              <a:t>5</a:t>
            </a:fld>
            <a:endParaRPr lang="zh-CN" altLang="en-US" dirty="0"/>
          </a:p>
        </p:txBody>
      </p:sp>
      <p:sp>
        <p:nvSpPr>
          <p:cNvPr id="1048653"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边缘环境下大模型分布式推理调度的瓶颈</a:t>
            </a:r>
          </a:p>
        </p:txBody>
      </p:sp>
      <p:sp>
        <p:nvSpPr>
          <p:cNvPr id="1048672" name="矩形 24"/>
          <p:cNvSpPr/>
          <p:nvPr/>
        </p:nvSpPr>
        <p:spPr>
          <a:xfrm>
            <a:off x="6726183" y="1855838"/>
            <a:ext cx="4792717" cy="4281760"/>
          </a:xfrm>
          <a:prstGeom prst="rect">
            <a:avLst/>
          </a:prstGeom>
          <a:noFill/>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8673" name="文本框 1"/>
          <p:cNvSpPr txBox="1"/>
          <p:nvPr/>
        </p:nvSpPr>
        <p:spPr>
          <a:xfrm>
            <a:off x="6967921" y="2103040"/>
            <a:ext cx="4401063" cy="2823850"/>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b="1" dirty="0">
                <a:solidFill>
                  <a:schemeClr val="accent6">
                    <a:lumMod val="75000"/>
                  </a:schemeClr>
                </a:solidFill>
              </a:rPr>
              <a:t>通信异质</a:t>
            </a:r>
            <a:endParaRPr lang="en-US" altLang="zh-CN" b="1" dirty="0">
              <a:solidFill>
                <a:schemeClr val="accent6">
                  <a:lumMod val="75000"/>
                </a:schemeClr>
              </a:solidFill>
            </a:endParaRPr>
          </a:p>
          <a:p>
            <a:pPr>
              <a:lnSpc>
                <a:spcPct val="150000"/>
              </a:lnSpc>
            </a:pPr>
            <a:r>
              <a:rPr lang="en-US" altLang="zh-CN" sz="1400" b="1" dirty="0">
                <a:latin typeface="+mn-ea"/>
              </a:rPr>
              <a:t>·</a:t>
            </a:r>
            <a:r>
              <a:rPr lang="zh-CN" altLang="en-US" sz="1400" b="1" dirty="0">
                <a:latin typeface="+mn-ea"/>
              </a:rPr>
              <a:t>  </a:t>
            </a:r>
            <a:r>
              <a:rPr lang="zh-CN" altLang="en-US" sz="1400" dirty="0">
                <a:latin typeface="+mn-ea"/>
              </a:rPr>
              <a:t>不同的并行形态涉及不同的通信原语 </a:t>
            </a:r>
            <a:r>
              <a:rPr lang="en-US" altLang="zh-CN" sz="1400" dirty="0">
                <a:latin typeface="+mn-ea"/>
              </a:rPr>
              <a:t>(</a:t>
            </a:r>
            <a:r>
              <a:rPr lang="en-US" altLang="zh-CN" sz="1400" dirty="0" err="1">
                <a:latin typeface="+mn-ea"/>
              </a:rPr>
              <a:t>AllReduce</a:t>
            </a:r>
            <a:r>
              <a:rPr lang="en-US" altLang="zh-CN" sz="1400" dirty="0">
                <a:latin typeface="+mn-ea"/>
              </a:rPr>
              <a:t>/ </a:t>
            </a:r>
            <a:r>
              <a:rPr lang="en-US" altLang="zh-CN" sz="1400" dirty="0" err="1">
                <a:latin typeface="+mn-ea"/>
              </a:rPr>
              <a:t>AllGather</a:t>
            </a:r>
            <a:r>
              <a:rPr lang="en-US" altLang="zh-CN" sz="1400" dirty="0">
                <a:latin typeface="+mn-ea"/>
              </a:rPr>
              <a:t>/Send/</a:t>
            </a:r>
            <a:r>
              <a:rPr lang="en-US" altLang="zh-CN" sz="1400" dirty="0" err="1">
                <a:latin typeface="+mn-ea"/>
              </a:rPr>
              <a:t>Resv</a:t>
            </a:r>
            <a:r>
              <a:rPr lang="en-US" altLang="zh-CN" sz="1400" dirty="0">
                <a:latin typeface="+mn-ea"/>
              </a:rPr>
              <a:t>)</a:t>
            </a:r>
            <a:r>
              <a:rPr lang="zh-CN" altLang="en-US" sz="1400" dirty="0">
                <a:latin typeface="+mn-ea"/>
              </a:rPr>
              <a:t>，导致</a:t>
            </a:r>
            <a:r>
              <a:rPr lang="zh-CN" altLang="en-US" sz="1400" b="1" dirty="0">
                <a:latin typeface="+mn-ea"/>
              </a:rPr>
              <a:t>通信粒度、通信频率</a:t>
            </a:r>
            <a:r>
              <a:rPr lang="zh-CN" altLang="en-US" sz="1400" dirty="0">
                <a:latin typeface="+mn-ea"/>
              </a:rPr>
              <a:t>等有较大差异</a:t>
            </a:r>
            <a:endParaRPr lang="en-US" altLang="zh-CN" sz="1400" dirty="0">
              <a:latin typeface="+mn-ea"/>
            </a:endParaRPr>
          </a:p>
          <a:p>
            <a:pPr marL="342900" indent="-342900">
              <a:lnSpc>
                <a:spcPct val="150000"/>
              </a:lnSpc>
              <a:buFont typeface="Wingdings" panose="05000000000000000000" pitchFamily="2" charset="2"/>
              <a:buChar char="n"/>
            </a:pPr>
            <a:r>
              <a:rPr lang="zh-CN" altLang="en-US" b="1" dirty="0">
                <a:solidFill>
                  <a:schemeClr val="accent6">
                    <a:lumMod val="75000"/>
                  </a:schemeClr>
                </a:solidFill>
              </a:rPr>
              <a:t>资源竞争</a:t>
            </a:r>
            <a:endParaRPr lang="en-US" altLang="zh-CN" b="1" dirty="0">
              <a:solidFill>
                <a:schemeClr val="accent6">
                  <a:lumMod val="75000"/>
                </a:schemeClr>
              </a:solidFill>
            </a:endParaRPr>
          </a:p>
          <a:p>
            <a:pPr>
              <a:lnSpc>
                <a:spcPct val="150000"/>
              </a:lnSpc>
            </a:pPr>
            <a:r>
              <a:rPr lang="en-US" altLang="zh-CN" sz="1400" b="1" dirty="0">
                <a:latin typeface="+mn-ea"/>
              </a:rPr>
              <a:t>·</a:t>
            </a:r>
            <a:r>
              <a:rPr lang="zh-CN" altLang="en-US" sz="1400" b="1" dirty="0">
                <a:latin typeface="+mn-ea"/>
              </a:rPr>
              <a:t>  </a:t>
            </a:r>
            <a:r>
              <a:rPr lang="zh-CN" altLang="en-US" sz="1400" dirty="0">
                <a:latin typeface="+mn-ea"/>
              </a:rPr>
              <a:t>为提升资源利用率，通常采用</a:t>
            </a:r>
            <a:r>
              <a:rPr lang="en-US" altLang="zh-CN" sz="1400" dirty="0">
                <a:latin typeface="+mn-ea"/>
              </a:rPr>
              <a:t>MPS</a:t>
            </a:r>
            <a:r>
              <a:rPr lang="zh-CN" altLang="en-US" sz="1400" dirty="0">
                <a:latin typeface="+mn-ea"/>
              </a:rPr>
              <a:t>模式实现多任务在</a:t>
            </a:r>
            <a:r>
              <a:rPr lang="en-US" altLang="zh-CN" sz="1400" dirty="0">
                <a:latin typeface="+mn-ea"/>
              </a:rPr>
              <a:t>GPU</a:t>
            </a:r>
            <a:r>
              <a:rPr lang="zh-CN" altLang="en-US" sz="1400" dirty="0">
                <a:latin typeface="+mn-ea"/>
              </a:rPr>
              <a:t>上并行执行，需要合理设置不同任务的</a:t>
            </a:r>
            <a:r>
              <a:rPr lang="en-US" altLang="zh-CN" sz="1400" b="1" dirty="0">
                <a:latin typeface="+mn-ea"/>
              </a:rPr>
              <a:t>SM</a:t>
            </a:r>
            <a:r>
              <a:rPr lang="zh-CN" altLang="en-US" sz="1400" b="1" dirty="0">
                <a:latin typeface="+mn-ea"/>
              </a:rPr>
              <a:t>可用比例</a:t>
            </a:r>
            <a:r>
              <a:rPr lang="zh-CN" altLang="en-US" sz="1400" dirty="0">
                <a:latin typeface="+mn-ea"/>
              </a:rPr>
              <a:t>，缓解资源竞争，降低集群总任务时延</a:t>
            </a:r>
            <a:endParaRPr lang="en-US" altLang="zh-CN" dirty="0">
              <a:solidFill>
                <a:schemeClr val="accent6">
                  <a:lumMod val="75000"/>
                </a:schemeClr>
              </a:solidFill>
            </a:endParaRPr>
          </a:p>
        </p:txBody>
      </p:sp>
      <p:sp>
        <p:nvSpPr>
          <p:cNvPr id="1048676" name="文本框 44"/>
          <p:cNvSpPr txBox="1"/>
          <p:nvPr/>
        </p:nvSpPr>
        <p:spPr>
          <a:xfrm>
            <a:off x="7057258" y="5138706"/>
            <a:ext cx="4130566" cy="787075"/>
          </a:xfrm>
          <a:prstGeom prst="rect">
            <a:avLst/>
          </a:prstGeom>
          <a:noFill/>
        </p:spPr>
        <p:txBody>
          <a:bodyPr wrap="square">
            <a:spAutoFit/>
          </a:bodyPr>
          <a:lstStyle/>
          <a:p>
            <a:pPr algn="ctr">
              <a:lnSpc>
                <a:spcPct val="150000"/>
              </a:lnSpc>
            </a:pPr>
            <a:r>
              <a:rPr lang="zh-CN" altLang="en-US" sz="1600" b="1" dirty="0"/>
              <a:t>亟需面向大模型分布式推理任务</a:t>
            </a:r>
            <a:r>
              <a:rPr lang="zh-CN" altLang="en-US" sz="1600" b="1" dirty="0">
                <a:solidFill>
                  <a:srgbClr val="FF0000"/>
                </a:solidFill>
              </a:rPr>
              <a:t>通信模式</a:t>
            </a:r>
            <a:r>
              <a:rPr lang="zh-CN" altLang="en-US" sz="1600" b="1" dirty="0"/>
              <a:t>的</a:t>
            </a:r>
            <a:r>
              <a:rPr lang="zh-CN" altLang="en-US" sz="1600" b="1" dirty="0">
                <a:solidFill>
                  <a:srgbClr val="FF0000"/>
                </a:solidFill>
              </a:rPr>
              <a:t>细粒度资源</a:t>
            </a:r>
            <a:r>
              <a:rPr lang="zh-CN" altLang="en-US" sz="1600" b="1" dirty="0"/>
              <a:t>调度机制</a:t>
            </a:r>
          </a:p>
        </p:txBody>
      </p:sp>
      <p:pic>
        <p:nvPicPr>
          <p:cNvPr id="2" name="图片 1">
            <a:extLst>
              <a:ext uri="{FF2B5EF4-FFF2-40B4-BE49-F238E27FC236}">
                <a16:creationId xmlns:a16="http://schemas.microsoft.com/office/drawing/2014/main" id="{BF997E7F-069B-7B9A-06F6-9773CED7F15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30245" y="1766092"/>
            <a:ext cx="5445295" cy="44696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文本占位符 6"/>
          <p:cNvSpPr>
            <a:spLocks noGrp="1"/>
          </p:cNvSpPr>
          <p:nvPr>
            <p:ph type="body" sz="quarter" idx="11"/>
          </p:nvPr>
        </p:nvSpPr>
        <p:spPr>
          <a:xfrm>
            <a:off x="1216933" y="347251"/>
            <a:ext cx="10624871" cy="402291"/>
          </a:xfrm>
        </p:spPr>
        <p:txBody>
          <a:bodyPr/>
          <a:lstStyle/>
          <a:p>
            <a:r>
              <a:rPr lang="zh-CN" altLang="zh-CN">
                <a:cs typeface="+mn-ea"/>
              </a:rPr>
              <a:t>研究背景与现状</a:t>
            </a:r>
            <a:r>
              <a:rPr lang="en-US" altLang="zh-CN">
                <a:cs typeface="+mn-ea"/>
              </a:rPr>
              <a:t>      </a:t>
            </a:r>
            <a:r>
              <a:rPr lang="zh-CN" altLang="zh-CN" b="0">
                <a:cs typeface="+mn-ea"/>
              </a:rPr>
              <a:t>研究目标与内容</a:t>
            </a:r>
            <a:r>
              <a:rPr lang="en-US" altLang="zh-CN" b="0">
                <a:cs typeface="+mn-ea"/>
              </a:rPr>
              <a:t>      </a:t>
            </a:r>
            <a:r>
              <a:rPr lang="zh-CN" altLang="zh-CN" b="0">
                <a:cs typeface="+mn-ea"/>
              </a:rPr>
              <a:t>技术路线与方法</a:t>
            </a:r>
            <a:r>
              <a:rPr lang="en-US" altLang="zh-CN" b="0">
                <a:cs typeface="+mn-ea"/>
              </a:rPr>
              <a:t>      </a:t>
            </a:r>
            <a:r>
              <a:rPr lang="zh-CN" altLang="zh-CN" b="0">
                <a:cs typeface="+mn-ea"/>
              </a:rPr>
              <a:t>预期成果与计划</a:t>
            </a:r>
            <a:endParaRPr lang="en-US" altLang="zh-CN" b="0" dirty="0">
              <a:cs typeface="+mn-ea"/>
            </a:endParaRPr>
          </a:p>
        </p:txBody>
      </p:sp>
      <p:sp>
        <p:nvSpPr>
          <p:cNvPr id="1048698" name="灯片编号占位符 2"/>
          <p:cNvSpPr>
            <a:spLocks noGrp="1"/>
          </p:cNvSpPr>
          <p:nvPr>
            <p:ph type="sldNum" sz="quarter" idx="16"/>
          </p:nvPr>
        </p:nvSpPr>
        <p:spPr/>
        <p:txBody>
          <a:bodyPr/>
          <a:lstStyle/>
          <a:p>
            <a:fld id="{C79ECAFE-A460-4E13-ABCB-32CAE6136244}" type="slidenum">
              <a:rPr lang="zh-CN" altLang="en-US" smtClean="0"/>
              <a:t>6</a:t>
            </a:fld>
            <a:endParaRPr lang="zh-CN" altLang="en-US" dirty="0"/>
          </a:p>
        </p:txBody>
      </p:sp>
      <p:sp>
        <p:nvSpPr>
          <p:cNvPr id="1048699"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现有推理系统与通用调度机制的局限性</a:t>
            </a:r>
          </a:p>
        </p:txBody>
      </p:sp>
      <p:sp>
        <p:nvSpPr>
          <p:cNvPr id="1048700" name="燕尾形 189"/>
          <p:cNvSpPr/>
          <p:nvPr/>
        </p:nvSpPr>
        <p:spPr>
          <a:xfrm>
            <a:off x="786699" y="3214726"/>
            <a:ext cx="2614054" cy="862965"/>
          </a:xfrm>
          <a:prstGeom prst="chevron">
            <a:avLst/>
          </a:prstGeom>
          <a:gradFill>
            <a:gsLst>
              <a:gs pos="0">
                <a:schemeClr val="accent1">
                  <a:lumMod val="55000"/>
                  <a:lumOff val="45000"/>
                </a:schemeClr>
              </a:gs>
              <a:gs pos="100000">
                <a:schemeClr val="accent1"/>
              </a:gs>
            </a:gsLst>
            <a:lin ang="0" scaled="0"/>
          </a:gradFill>
          <a:ln>
            <a:noFill/>
          </a:ln>
          <a:effectLst>
            <a:outerShdw blurRad="152400" dist="88900" dir="8100000" algn="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21590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cap="all" dirty="0">
                <a:solidFill>
                  <a:srgbClr val="FFFFFF"/>
                </a:solidFill>
                <a:latin typeface="+mn-ea"/>
                <a:cs typeface="+mn-ea"/>
                <a:sym typeface="+mn-ea"/>
              </a:rPr>
              <a:t>推理系统层</a:t>
            </a:r>
          </a:p>
        </p:txBody>
      </p:sp>
      <p:sp>
        <p:nvSpPr>
          <p:cNvPr id="1048704" name="textbox 322"/>
          <p:cNvSpPr/>
          <p:nvPr/>
        </p:nvSpPr>
        <p:spPr>
          <a:xfrm>
            <a:off x="4079073" y="2102976"/>
            <a:ext cx="7326228" cy="3363338"/>
          </a:xfrm>
          <a:prstGeom prst="rect">
            <a:avLst/>
          </a:prstGeom>
          <a:noFill/>
          <a:ln w="0" cap="flat">
            <a:noFill/>
            <a:prstDash val="solid"/>
            <a:miter lim="0"/>
          </a:ln>
        </p:spPr>
        <p:txBody>
          <a:bodyPr vert="horz" wrap="square"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150000"/>
              </a:lnSpc>
            </a:pPr>
            <a:r>
              <a:rPr lang="zh-CN" altLang="en-US" b="1" dirty="0">
                <a:solidFill>
                  <a:srgbClr val="16A34A"/>
                </a:solidFill>
                <a:latin typeface="ui-sans-serif"/>
              </a:rPr>
              <a:t>✓</a:t>
            </a:r>
            <a:r>
              <a:rPr lang="zh-CN" altLang="en-US" dirty="0">
                <a:solidFill>
                  <a:srgbClr val="16A34A"/>
                </a:solidFill>
                <a:latin typeface="ui-sans-serif"/>
              </a:rPr>
              <a:t> </a:t>
            </a:r>
            <a:r>
              <a:rPr lang="en" altLang="zh-CN" b="1" dirty="0" err="1"/>
              <a:t>vLLM</a:t>
            </a:r>
            <a:r>
              <a:rPr lang="zh-CN" altLang="en" dirty="0"/>
              <a:t>：</a:t>
            </a:r>
            <a:r>
              <a:rPr lang="en" altLang="zh-CN" dirty="0"/>
              <a:t>KV Cache / </a:t>
            </a:r>
            <a:r>
              <a:rPr lang="en" altLang="zh-CN" dirty="0" err="1"/>
              <a:t>PagedAttention</a:t>
            </a:r>
            <a:r>
              <a:rPr lang="zh-CN" altLang="en-US" dirty="0"/>
              <a:t>，提升显存利用率和并发推理能力</a:t>
            </a:r>
            <a:endParaRPr lang="en-US" altLang="zh-CN" dirty="0"/>
          </a:p>
          <a:p>
            <a:pPr eaLnBrk="0">
              <a:lnSpc>
                <a:spcPct val="150000"/>
              </a:lnSpc>
            </a:pPr>
            <a:r>
              <a:rPr lang="zh-CN" altLang="en-US" b="1" dirty="0">
                <a:solidFill>
                  <a:srgbClr val="16A34A"/>
                </a:solidFill>
                <a:latin typeface="ui-sans-serif"/>
              </a:rPr>
              <a:t>✓</a:t>
            </a:r>
            <a:r>
              <a:rPr lang="zh-CN" altLang="en-US" dirty="0">
                <a:solidFill>
                  <a:srgbClr val="16A34A"/>
                </a:solidFill>
                <a:latin typeface="ui-sans-serif"/>
              </a:rPr>
              <a:t> </a:t>
            </a:r>
            <a:r>
              <a:rPr lang="en" altLang="zh-CN" b="1" dirty="0" err="1"/>
              <a:t>SGLang</a:t>
            </a:r>
            <a:r>
              <a:rPr lang="zh-CN" altLang="en" dirty="0"/>
              <a:t>：</a:t>
            </a:r>
            <a:r>
              <a:rPr lang="zh-CN" altLang="en-US" dirty="0"/>
              <a:t>结构化提示与执行流程优化，提升复杂推理任务执行效率</a:t>
            </a:r>
            <a:endParaRPr lang="en-US" altLang="zh-CN" dirty="0"/>
          </a:p>
          <a:p>
            <a:pPr eaLnBrk="0">
              <a:lnSpc>
                <a:spcPct val="150000"/>
              </a:lnSpc>
            </a:pPr>
            <a:r>
              <a:rPr lang="en-US" altLang="zh-CN" dirty="0"/>
              <a:t>❌</a:t>
            </a:r>
            <a:r>
              <a:rPr lang="zh-CN" altLang="en-US" dirty="0"/>
              <a:t> 更关注单机或推理执行层优化，缺乏面向容器集群环境的分布式推理任务调度与资源分配。</a:t>
            </a:r>
            <a:endParaRPr lang="en-US" altLang="zh-CN" dirty="0"/>
          </a:p>
          <a:p>
            <a:pPr eaLnBrk="0">
              <a:lnSpc>
                <a:spcPct val="150000"/>
              </a:lnSpc>
            </a:pPr>
            <a:endParaRPr lang="en-US" altLang="zh-CN" dirty="0"/>
          </a:p>
          <a:p>
            <a:pPr eaLnBrk="0">
              <a:lnSpc>
                <a:spcPct val="150000"/>
              </a:lnSpc>
            </a:pPr>
            <a:r>
              <a:rPr lang="zh-CN" altLang="en-US" b="1" dirty="0">
                <a:solidFill>
                  <a:srgbClr val="16A34A"/>
                </a:solidFill>
                <a:latin typeface="ui-sans-serif"/>
              </a:rPr>
              <a:t>✓</a:t>
            </a:r>
            <a:r>
              <a:rPr lang="zh-CN" altLang="en-US" dirty="0">
                <a:solidFill>
                  <a:srgbClr val="16A34A"/>
                </a:solidFill>
                <a:latin typeface="ui-sans-serif"/>
              </a:rPr>
              <a:t> </a:t>
            </a:r>
            <a:r>
              <a:rPr lang="zh-CN" altLang="en-US" dirty="0"/>
              <a:t>现有方法提出 </a:t>
            </a:r>
            <a:r>
              <a:rPr lang="en-US" altLang="zh-CN" b="1" dirty="0"/>
              <a:t>TGS</a:t>
            </a:r>
            <a:r>
              <a:rPr lang="en" altLang="zh-CN" b="1" dirty="0"/>
              <a:t> GPU</a:t>
            </a:r>
            <a:r>
              <a:rPr lang="zh-CN" altLang="en-US" b="1" dirty="0"/>
              <a:t> 共享系统</a:t>
            </a:r>
            <a:r>
              <a:rPr lang="en-US" altLang="zh-CN" baseline="30000" dirty="0"/>
              <a:t>[1]</a:t>
            </a:r>
            <a:r>
              <a:rPr lang="zh-CN" altLang="en-US" b="1" dirty="0"/>
              <a:t>：</a:t>
            </a:r>
            <a:r>
              <a:rPr lang="zh-CN" altLang="en-US" dirty="0"/>
              <a:t>通过自适应速率控制和统一 </a:t>
            </a:r>
            <a:r>
              <a:rPr lang="en" altLang="zh-CN" dirty="0"/>
              <a:t>GPU/</a:t>
            </a:r>
            <a:r>
              <a:rPr lang="zh-CN" altLang="en-US" dirty="0"/>
              <a:t>主机内存管理</a:t>
            </a:r>
            <a:r>
              <a:rPr lang="zh-CN" altLang="en-US" b="1" dirty="0"/>
              <a:t>，</a:t>
            </a:r>
            <a:r>
              <a:rPr lang="zh-CN" altLang="en-US" dirty="0"/>
              <a:t>保证生产任务性能隔离同时提升 </a:t>
            </a:r>
            <a:r>
              <a:rPr lang="en" altLang="zh-CN" dirty="0"/>
              <a:t>GPU </a:t>
            </a:r>
            <a:r>
              <a:rPr lang="zh-CN" altLang="en-US" dirty="0"/>
              <a:t>利用率</a:t>
            </a:r>
            <a:endParaRPr lang="en-US" altLang="zh-CN" dirty="0"/>
          </a:p>
          <a:p>
            <a:pPr eaLnBrk="0">
              <a:lnSpc>
                <a:spcPct val="150000"/>
              </a:lnSpc>
            </a:pPr>
            <a:r>
              <a:rPr lang="en-US" altLang="zh-CN" dirty="0"/>
              <a:t>❌</a:t>
            </a:r>
            <a:r>
              <a:rPr lang="zh-CN" altLang="en-US" dirty="0"/>
              <a:t> 更关注单 </a:t>
            </a:r>
            <a:r>
              <a:rPr lang="en" altLang="zh-CN" dirty="0"/>
              <a:t>GPU</a:t>
            </a:r>
            <a:r>
              <a:rPr lang="zh-CN" altLang="en-US" dirty="0"/>
              <a:t> 共享的容器共置，对分布式推理任务通信行为缺乏感知</a:t>
            </a:r>
            <a:endParaRPr lang="en-US" altLang="zh-CN" dirty="0"/>
          </a:p>
        </p:txBody>
      </p:sp>
      <p:sp>
        <p:nvSpPr>
          <p:cNvPr id="1048705" name="矩形 24"/>
          <p:cNvSpPr/>
          <p:nvPr/>
        </p:nvSpPr>
        <p:spPr>
          <a:xfrm>
            <a:off x="3807912" y="1855838"/>
            <a:ext cx="7710988" cy="3764150"/>
          </a:xfrm>
          <a:prstGeom prst="rect">
            <a:avLst/>
          </a:prstGeom>
          <a:noFill/>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D9A656B-E7F4-5E3F-CE77-888235D3A54F}"/>
              </a:ext>
            </a:extLst>
          </p:cNvPr>
          <p:cNvSpPr txBox="1"/>
          <p:nvPr/>
        </p:nvSpPr>
        <p:spPr>
          <a:xfrm>
            <a:off x="660068" y="6140937"/>
            <a:ext cx="11181736" cy="523220"/>
          </a:xfrm>
          <a:prstGeom prst="rect">
            <a:avLst/>
          </a:prstGeom>
          <a:noFill/>
        </p:spPr>
        <p:txBody>
          <a:bodyPr wrap="square">
            <a:spAutoFit/>
          </a:bodyPr>
          <a:lstStyle/>
          <a:p>
            <a:r>
              <a:rPr lang="en-US" altLang="zh-CN" sz="1400" dirty="0">
                <a:solidFill>
                  <a:schemeClr val="tx1">
                    <a:lumMod val="50000"/>
                    <a:lumOff val="50000"/>
                  </a:schemeClr>
                </a:solidFill>
                <a:latin typeface="Times New Roman" panose="02020603050405020304" pitchFamily="18" charset="0"/>
                <a:cs typeface="Times New Roman" panose="02020603050405020304" pitchFamily="18" charset="0"/>
              </a:rPr>
              <a:t>[1]</a:t>
            </a:r>
            <a:r>
              <a:rPr lang="zh-CN" altLang="en-US" sz="1400"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 altLang="zh-CN" sz="1400" b="0" i="0" dirty="0">
                <a:solidFill>
                  <a:schemeClr val="tx1">
                    <a:lumMod val="50000"/>
                    <a:lumOff val="50000"/>
                  </a:schemeClr>
                </a:solidFill>
                <a:effectLst/>
                <a:latin typeface="Times New Roman" panose="02020603050405020304" pitchFamily="18" charset="0"/>
                <a:cs typeface="Times New Roman" panose="02020603050405020304" pitchFamily="18" charset="0"/>
              </a:rPr>
              <a:t>Wu B, Zhang Z, Bai Z, et al. Transparent {GPU} sharing in container clouds for deep learning workloads[C]//20th USENIX Symposium on Networked Systems Design and Implementation (NSDI 23). 2023: 69-85.</a:t>
            </a:r>
            <a:endParaRPr lang="zh-CN" altLang="en-US" sz="14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941DC-F603-6B01-0FF8-5B84AA3B0816}"/>
            </a:ext>
          </a:extLst>
        </p:cNvPr>
        <p:cNvGrpSpPr/>
        <p:nvPr/>
      </p:nvGrpSpPr>
      <p:grpSpPr>
        <a:xfrm>
          <a:off x="0" y="0"/>
          <a:ext cx="0" cy="0"/>
          <a:chOff x="0" y="0"/>
          <a:chExt cx="0" cy="0"/>
        </a:xfrm>
      </p:grpSpPr>
      <p:sp>
        <p:nvSpPr>
          <p:cNvPr id="2" name="燕尾形 192">
            <a:extLst>
              <a:ext uri="{FF2B5EF4-FFF2-40B4-BE49-F238E27FC236}">
                <a16:creationId xmlns:a16="http://schemas.microsoft.com/office/drawing/2014/main" id="{FD2A53ED-CAC9-5191-1EB8-44E53EE31E84}"/>
              </a:ext>
            </a:extLst>
          </p:cNvPr>
          <p:cNvSpPr/>
          <p:nvPr/>
        </p:nvSpPr>
        <p:spPr>
          <a:xfrm>
            <a:off x="786699" y="3214228"/>
            <a:ext cx="2614054" cy="862965"/>
          </a:xfrm>
          <a:prstGeom prst="chevron">
            <a:avLst/>
          </a:prstGeom>
          <a:gradFill>
            <a:gsLst>
              <a:gs pos="0">
                <a:schemeClr val="accent1">
                  <a:lumMod val="85000"/>
                  <a:lumOff val="15000"/>
                </a:schemeClr>
              </a:gs>
              <a:gs pos="100000">
                <a:schemeClr val="accent1">
                  <a:lumMod val="85000"/>
                </a:schemeClr>
              </a:gs>
            </a:gsLst>
            <a:lin ang="0" scaled="0"/>
          </a:gradFill>
          <a:ln>
            <a:noFill/>
          </a:ln>
          <a:effectLst>
            <a:outerShdw blurRad="152400" dist="88900" dir="8100000" algn="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none" lIns="21590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zh-CN" altLang="en-US" cap="all" dirty="0">
                <a:solidFill>
                  <a:srgbClr val="FFFFFF"/>
                </a:solidFill>
                <a:latin typeface="+mn-ea"/>
                <a:cs typeface="+mn-ea"/>
                <a:sym typeface="+mn-ea"/>
              </a:rPr>
              <a:t>集群调度层</a:t>
            </a:r>
          </a:p>
        </p:txBody>
      </p:sp>
      <p:sp>
        <p:nvSpPr>
          <p:cNvPr id="1048696" name="文本占位符 6">
            <a:extLst>
              <a:ext uri="{FF2B5EF4-FFF2-40B4-BE49-F238E27FC236}">
                <a16:creationId xmlns:a16="http://schemas.microsoft.com/office/drawing/2014/main" id="{79250D8E-6E9E-FD0E-4183-98A6DD4190F3}"/>
              </a:ext>
            </a:extLst>
          </p:cNvPr>
          <p:cNvSpPr>
            <a:spLocks noGrp="1"/>
          </p:cNvSpPr>
          <p:nvPr>
            <p:ph type="body" sz="quarter" idx="11"/>
          </p:nvPr>
        </p:nvSpPr>
        <p:spPr>
          <a:xfrm>
            <a:off x="1216933" y="347251"/>
            <a:ext cx="10624871" cy="402291"/>
          </a:xfrm>
        </p:spPr>
        <p:txBody>
          <a:bodyPr/>
          <a:lstStyle/>
          <a:p>
            <a:r>
              <a:rPr lang="zh-CN" altLang="zh-CN">
                <a:cs typeface="+mn-ea"/>
              </a:rPr>
              <a:t>研究背景与现状</a:t>
            </a:r>
            <a:r>
              <a:rPr lang="en-US" altLang="zh-CN">
                <a:cs typeface="+mn-ea"/>
              </a:rPr>
              <a:t>      </a:t>
            </a:r>
            <a:r>
              <a:rPr lang="zh-CN" altLang="zh-CN" b="0">
                <a:cs typeface="+mn-ea"/>
              </a:rPr>
              <a:t>研究目标与内容</a:t>
            </a:r>
            <a:r>
              <a:rPr lang="en-US" altLang="zh-CN" b="0">
                <a:cs typeface="+mn-ea"/>
              </a:rPr>
              <a:t>      </a:t>
            </a:r>
            <a:r>
              <a:rPr lang="zh-CN" altLang="zh-CN" b="0">
                <a:cs typeface="+mn-ea"/>
              </a:rPr>
              <a:t>技术路线与方法</a:t>
            </a:r>
            <a:r>
              <a:rPr lang="en-US" altLang="zh-CN" b="0">
                <a:cs typeface="+mn-ea"/>
              </a:rPr>
              <a:t>      </a:t>
            </a:r>
            <a:r>
              <a:rPr lang="zh-CN" altLang="zh-CN" b="0">
                <a:cs typeface="+mn-ea"/>
              </a:rPr>
              <a:t>预期成果与计划</a:t>
            </a:r>
            <a:endParaRPr lang="en-US" altLang="zh-CN" b="0" dirty="0">
              <a:cs typeface="+mn-ea"/>
            </a:endParaRPr>
          </a:p>
        </p:txBody>
      </p:sp>
      <p:sp>
        <p:nvSpPr>
          <p:cNvPr id="1048698" name="灯片编号占位符 2">
            <a:extLst>
              <a:ext uri="{FF2B5EF4-FFF2-40B4-BE49-F238E27FC236}">
                <a16:creationId xmlns:a16="http://schemas.microsoft.com/office/drawing/2014/main" id="{F919C540-5BA0-1845-009F-989DC33B1319}"/>
              </a:ext>
            </a:extLst>
          </p:cNvPr>
          <p:cNvSpPr>
            <a:spLocks noGrp="1"/>
          </p:cNvSpPr>
          <p:nvPr>
            <p:ph type="sldNum" sz="quarter" idx="16"/>
          </p:nvPr>
        </p:nvSpPr>
        <p:spPr/>
        <p:txBody>
          <a:bodyPr/>
          <a:lstStyle/>
          <a:p>
            <a:fld id="{C79ECAFE-A460-4E13-ABCB-32CAE6136244}" type="slidenum">
              <a:rPr lang="zh-CN" altLang="en-US" smtClean="0"/>
              <a:t>7</a:t>
            </a:fld>
            <a:endParaRPr lang="zh-CN" altLang="en-US" dirty="0"/>
          </a:p>
        </p:txBody>
      </p:sp>
      <p:sp>
        <p:nvSpPr>
          <p:cNvPr id="1048699" name="文本占位符 15">
            <a:extLst>
              <a:ext uri="{FF2B5EF4-FFF2-40B4-BE49-F238E27FC236}">
                <a16:creationId xmlns:a16="http://schemas.microsoft.com/office/drawing/2014/main" id="{E3BAAAE8-DE34-7A13-94E1-D01E16A68038}"/>
              </a:ext>
            </a:extLst>
          </p:cNvPr>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现有推理系统与通用调度机制的局限性</a:t>
            </a:r>
          </a:p>
        </p:txBody>
      </p:sp>
      <p:sp>
        <p:nvSpPr>
          <p:cNvPr id="1048704" name="textbox 322">
            <a:extLst>
              <a:ext uri="{FF2B5EF4-FFF2-40B4-BE49-F238E27FC236}">
                <a16:creationId xmlns:a16="http://schemas.microsoft.com/office/drawing/2014/main" id="{B4FFF958-E328-F997-4CF1-98CCD597F009}"/>
              </a:ext>
            </a:extLst>
          </p:cNvPr>
          <p:cNvSpPr/>
          <p:nvPr/>
        </p:nvSpPr>
        <p:spPr>
          <a:xfrm>
            <a:off x="4079073" y="2102976"/>
            <a:ext cx="7326228" cy="3761406"/>
          </a:xfrm>
          <a:prstGeom prst="rect">
            <a:avLst/>
          </a:prstGeom>
          <a:noFill/>
          <a:ln w="0" cap="flat">
            <a:noFill/>
            <a:prstDash val="solid"/>
            <a:miter lim="0"/>
          </a:ln>
        </p:spPr>
        <p:txBody>
          <a:bodyPr vert="horz" wrap="square"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150000"/>
              </a:lnSpc>
            </a:pPr>
            <a:r>
              <a:rPr lang="zh-CN" altLang="en-US" b="1" dirty="0">
                <a:solidFill>
                  <a:srgbClr val="16A34A"/>
                </a:solidFill>
                <a:latin typeface="ui-sans-serif"/>
              </a:rPr>
              <a:t>✓</a:t>
            </a:r>
            <a:r>
              <a:rPr lang="zh-CN" altLang="en-US" dirty="0">
                <a:solidFill>
                  <a:srgbClr val="16A34A"/>
                </a:solidFill>
                <a:latin typeface="ui-sans-serif"/>
              </a:rPr>
              <a:t> </a:t>
            </a:r>
            <a:r>
              <a:rPr lang="en-US" altLang="zh-CN" b="1" dirty="0"/>
              <a:t>k3s</a:t>
            </a:r>
            <a:r>
              <a:rPr lang="zh-CN" altLang="en-US" b="1" dirty="0"/>
              <a:t> </a:t>
            </a:r>
            <a:r>
              <a:rPr lang="en-US" altLang="zh-CN" b="1" dirty="0"/>
              <a:t>/</a:t>
            </a:r>
            <a:r>
              <a:rPr lang="zh-CN" altLang="en-US" b="1" dirty="0"/>
              <a:t> </a:t>
            </a:r>
            <a:r>
              <a:rPr lang="en-US" altLang="zh-CN" b="1" dirty="0" err="1"/>
              <a:t>kubernetes</a:t>
            </a:r>
            <a:r>
              <a:rPr lang="zh-CN" altLang="en-US" b="1" dirty="0"/>
              <a:t>：</a:t>
            </a:r>
            <a:r>
              <a:rPr lang="zh-CN" altLang="en-US" dirty="0"/>
              <a:t>提供容器集群中的任务部署、资源管理与服务编排能力</a:t>
            </a:r>
            <a:endParaRPr lang="en-US" altLang="zh-CN" dirty="0"/>
          </a:p>
          <a:p>
            <a:pPr eaLnBrk="0">
              <a:lnSpc>
                <a:spcPct val="150000"/>
              </a:lnSpc>
            </a:pPr>
            <a:r>
              <a:rPr lang="en-US" altLang="zh-CN" dirty="0">
                <a:solidFill>
                  <a:srgbClr val="16A34A"/>
                </a:solidFill>
                <a:latin typeface="ui-sans-serif"/>
              </a:rPr>
              <a:t>❌</a:t>
            </a:r>
            <a:r>
              <a:rPr lang="zh-CN" altLang="en-US" dirty="0">
                <a:solidFill>
                  <a:srgbClr val="16A34A"/>
                </a:solidFill>
                <a:latin typeface="ui-sans-serif"/>
              </a:rPr>
              <a:t> </a:t>
            </a:r>
            <a:r>
              <a:rPr lang="zh-CN" altLang="en-US" dirty="0">
                <a:latin typeface="ui-sans-serif"/>
              </a:rPr>
              <a:t>缺乏</a:t>
            </a:r>
            <a:r>
              <a:rPr lang="zh-CN" altLang="en-US" dirty="0"/>
              <a:t>对推理阶段差异和任务通信依赖的感知以及</a:t>
            </a:r>
            <a:r>
              <a:rPr lang="en" altLang="zh-CN" dirty="0"/>
              <a:t>GPU </a:t>
            </a:r>
            <a:r>
              <a:rPr lang="zh-CN" altLang="en-US" dirty="0"/>
              <a:t>内部资源的细粒度调度能力</a:t>
            </a:r>
            <a:endParaRPr lang="en-US" altLang="zh-CN" dirty="0"/>
          </a:p>
          <a:p>
            <a:pPr eaLnBrk="0">
              <a:lnSpc>
                <a:spcPct val="150000"/>
              </a:lnSpc>
            </a:pPr>
            <a:endParaRPr lang="en-US" altLang="zh-CN" dirty="0"/>
          </a:p>
          <a:p>
            <a:pPr eaLnBrk="0">
              <a:lnSpc>
                <a:spcPct val="150000"/>
              </a:lnSpc>
            </a:pPr>
            <a:r>
              <a:rPr lang="zh-CN" altLang="en-US" b="1" dirty="0">
                <a:solidFill>
                  <a:srgbClr val="16A34A"/>
                </a:solidFill>
                <a:latin typeface="ui-sans-serif"/>
              </a:rPr>
              <a:t>✓</a:t>
            </a:r>
            <a:r>
              <a:rPr lang="zh-CN" altLang="en-US" dirty="0">
                <a:solidFill>
                  <a:srgbClr val="16A34A"/>
                </a:solidFill>
                <a:latin typeface="ui-sans-serif"/>
              </a:rPr>
              <a:t> </a:t>
            </a:r>
            <a:r>
              <a:rPr lang="zh-CN" altLang="en-US" dirty="0"/>
              <a:t>现有方法提出 </a:t>
            </a:r>
            <a:r>
              <a:rPr lang="en-US" altLang="zh-CN" b="1" dirty="0" err="1"/>
              <a:t>Inss</a:t>
            </a:r>
            <a:r>
              <a:rPr lang="en-US" altLang="zh-CN" b="1" dirty="0"/>
              <a:t> </a:t>
            </a:r>
            <a:r>
              <a:rPr lang="zh-CN" altLang="en-US" b="1" dirty="0"/>
              <a:t>智能调度方法</a:t>
            </a:r>
            <a:r>
              <a:rPr lang="en-US" altLang="zh-CN" baseline="30000" dirty="0"/>
              <a:t>[1]</a:t>
            </a:r>
            <a:r>
              <a:rPr lang="zh-CN" altLang="en-US" b="1" dirty="0"/>
              <a:t>：</a:t>
            </a:r>
            <a:r>
              <a:rPr lang="zh-CN" altLang="en-US" dirty="0"/>
              <a:t>通过干扰感知时延分析模型和调度优化提升系统吞吐</a:t>
            </a:r>
            <a:endParaRPr lang="en-US" altLang="zh-CN" dirty="0"/>
          </a:p>
          <a:p>
            <a:pPr eaLnBrk="0">
              <a:lnSpc>
                <a:spcPct val="150000"/>
              </a:lnSpc>
            </a:pPr>
            <a:r>
              <a:rPr lang="en-US" altLang="zh-CN" dirty="0"/>
              <a:t>❌</a:t>
            </a:r>
            <a:r>
              <a:rPr lang="zh-CN" altLang="en-US" dirty="0"/>
              <a:t> 更关注多</a:t>
            </a:r>
            <a:r>
              <a:rPr lang="en" altLang="zh-CN" dirty="0"/>
              <a:t>GPU</a:t>
            </a:r>
            <a:r>
              <a:rPr lang="zh-CN" altLang="en-US" dirty="0"/>
              <a:t>推理服务器内部的共享与调度优化，缺乏对分布式大模型推理的跨节点通信模式和推理阶段差异的感知</a:t>
            </a:r>
            <a:endParaRPr lang="en-US" altLang="zh-CN" dirty="0"/>
          </a:p>
        </p:txBody>
      </p:sp>
      <p:sp>
        <p:nvSpPr>
          <p:cNvPr id="1048705" name="矩形 24">
            <a:extLst>
              <a:ext uri="{FF2B5EF4-FFF2-40B4-BE49-F238E27FC236}">
                <a16:creationId xmlns:a16="http://schemas.microsoft.com/office/drawing/2014/main" id="{F633D063-171F-60A9-28E6-30E574AA2B7A}"/>
              </a:ext>
            </a:extLst>
          </p:cNvPr>
          <p:cNvSpPr/>
          <p:nvPr/>
        </p:nvSpPr>
        <p:spPr>
          <a:xfrm>
            <a:off x="3807912" y="1855837"/>
            <a:ext cx="7710988" cy="3979247"/>
          </a:xfrm>
          <a:prstGeom prst="rect">
            <a:avLst/>
          </a:prstGeom>
          <a:noFill/>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C5313CEB-32D6-C2A1-91DD-121B7119B6A9}"/>
              </a:ext>
            </a:extLst>
          </p:cNvPr>
          <p:cNvSpPr txBox="1"/>
          <p:nvPr/>
        </p:nvSpPr>
        <p:spPr>
          <a:xfrm>
            <a:off x="660068" y="6140937"/>
            <a:ext cx="11181736" cy="523220"/>
          </a:xfrm>
          <a:prstGeom prst="rect">
            <a:avLst/>
          </a:prstGeom>
          <a:noFill/>
        </p:spPr>
        <p:txBody>
          <a:bodyPr wrap="square">
            <a:spAutoFit/>
          </a:bodyPr>
          <a:lstStyle/>
          <a:p>
            <a:r>
              <a:rPr lang="en-US" altLang="zh-CN" sz="1400" dirty="0">
                <a:solidFill>
                  <a:schemeClr val="tx1">
                    <a:lumMod val="50000"/>
                    <a:lumOff val="50000"/>
                  </a:schemeClr>
                </a:solidFill>
                <a:latin typeface="Times New Roman" panose="02020603050405020304" pitchFamily="18" charset="0"/>
                <a:cs typeface="Times New Roman" panose="02020603050405020304" pitchFamily="18" charset="0"/>
              </a:rPr>
              <a:t>[1]</a:t>
            </a:r>
            <a:r>
              <a:rPr lang="en" altLang="zh-CN" sz="1400" b="0" i="0" dirty="0">
                <a:solidFill>
                  <a:schemeClr val="tx1">
                    <a:lumMod val="50000"/>
                    <a:lumOff val="50000"/>
                  </a:schemeClr>
                </a:solidFill>
                <a:effectLst/>
                <a:latin typeface="Times New Roman" panose="02020603050405020304" pitchFamily="18" charset="0"/>
                <a:cs typeface="Times New Roman" panose="02020603050405020304" pitchFamily="18" charset="0"/>
              </a:rPr>
              <a:t> </a:t>
            </a:r>
            <a:r>
              <a:rPr lang="en" altLang="zh-CN" sz="1400" dirty="0">
                <a:solidFill>
                  <a:schemeClr val="tx1">
                    <a:lumMod val="50000"/>
                    <a:lumOff val="50000"/>
                  </a:schemeClr>
                </a:solidFill>
                <a:latin typeface="Times New Roman" panose="02020603050405020304" pitchFamily="18" charset="0"/>
                <a:cs typeface="Times New Roman" panose="02020603050405020304" pitchFamily="18" charset="0"/>
              </a:rPr>
              <a:t>Han Z, Zhou R, Xu C, et al. </a:t>
            </a:r>
            <a:r>
              <a:rPr lang="en" altLang="zh-CN" sz="1400" dirty="0" err="1">
                <a:solidFill>
                  <a:schemeClr val="tx1">
                    <a:lumMod val="50000"/>
                    <a:lumOff val="50000"/>
                  </a:schemeClr>
                </a:solidFill>
                <a:latin typeface="Times New Roman" panose="02020603050405020304" pitchFamily="18" charset="0"/>
                <a:cs typeface="Times New Roman" panose="02020603050405020304" pitchFamily="18" charset="0"/>
              </a:rPr>
              <a:t>Inss</a:t>
            </a:r>
            <a:r>
              <a:rPr lang="en" altLang="zh-CN" sz="1400" dirty="0">
                <a:solidFill>
                  <a:schemeClr val="tx1">
                    <a:lumMod val="50000"/>
                    <a:lumOff val="50000"/>
                  </a:schemeClr>
                </a:solidFill>
                <a:latin typeface="Times New Roman" panose="02020603050405020304" pitchFamily="18" charset="0"/>
                <a:cs typeface="Times New Roman" panose="02020603050405020304" pitchFamily="18" charset="0"/>
              </a:rPr>
              <a:t>: An intelligent scheduling orchestrator for multi-</a:t>
            </a:r>
            <a:r>
              <a:rPr lang="en" altLang="zh-CN" sz="1400" dirty="0" err="1">
                <a:solidFill>
                  <a:schemeClr val="tx1">
                    <a:lumMod val="50000"/>
                    <a:lumOff val="50000"/>
                  </a:schemeClr>
                </a:solidFill>
                <a:latin typeface="Times New Roman" panose="02020603050405020304" pitchFamily="18" charset="0"/>
                <a:cs typeface="Times New Roman" panose="02020603050405020304" pitchFamily="18" charset="0"/>
              </a:rPr>
              <a:t>gpu</a:t>
            </a:r>
            <a:r>
              <a:rPr lang="en" altLang="zh-CN" sz="1400" dirty="0">
                <a:solidFill>
                  <a:schemeClr val="tx1">
                    <a:lumMod val="50000"/>
                    <a:lumOff val="50000"/>
                  </a:schemeClr>
                </a:solidFill>
                <a:latin typeface="Times New Roman" panose="02020603050405020304" pitchFamily="18" charset="0"/>
                <a:cs typeface="Times New Roman" panose="02020603050405020304" pitchFamily="18" charset="0"/>
              </a:rPr>
              <a:t> inference with </a:t>
            </a:r>
            <a:r>
              <a:rPr lang="en" altLang="zh-CN" sz="1400" dirty="0" err="1">
                <a:solidFill>
                  <a:schemeClr val="tx1">
                    <a:lumMod val="50000"/>
                    <a:lumOff val="50000"/>
                  </a:schemeClr>
                </a:solidFill>
                <a:latin typeface="Times New Roman" panose="02020603050405020304" pitchFamily="18" charset="0"/>
                <a:cs typeface="Times New Roman" panose="02020603050405020304" pitchFamily="18" charset="0"/>
              </a:rPr>
              <a:t>spatio</a:t>
            </a:r>
            <a:r>
              <a:rPr lang="en" altLang="zh-CN" sz="1400" dirty="0">
                <a:solidFill>
                  <a:schemeClr val="tx1">
                    <a:lumMod val="50000"/>
                    <a:lumOff val="50000"/>
                  </a:schemeClr>
                </a:solidFill>
                <a:latin typeface="Times New Roman" panose="02020603050405020304" pitchFamily="18" charset="0"/>
                <a:cs typeface="Times New Roman" panose="02020603050405020304" pitchFamily="18" charset="0"/>
              </a:rPr>
              <a:t>-temporal sharing[J]. IEEE Transactions on Parallel and Distributed Systems, 2024, 35(10): 1735-1748.</a:t>
            </a:r>
            <a:endParaRPr lang="zh-CN" altLang="en-US" sz="14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6362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2" name="文本占位符 6"/>
          <p:cNvSpPr>
            <a:spLocks noGrp="1"/>
          </p:cNvSpPr>
          <p:nvPr>
            <p:ph type="body" sz="quarter" idx="11"/>
          </p:nvPr>
        </p:nvSpPr>
        <p:spPr>
          <a:xfrm>
            <a:off x="1216933" y="347251"/>
            <a:ext cx="10624871" cy="402291"/>
          </a:xfrm>
        </p:spPr>
        <p:txBody>
          <a:bodyPr/>
          <a:lstStyle/>
          <a:p>
            <a:r>
              <a:rPr lang="zh-CN" altLang="zh-CN">
                <a:cs typeface="+mn-ea"/>
              </a:rPr>
              <a:t>研究背景与现状</a:t>
            </a:r>
            <a:r>
              <a:rPr lang="en-US" altLang="zh-CN">
                <a:cs typeface="+mn-ea"/>
              </a:rPr>
              <a:t>      </a:t>
            </a:r>
            <a:r>
              <a:rPr lang="zh-CN" altLang="zh-CN" b="0">
                <a:cs typeface="+mn-ea"/>
              </a:rPr>
              <a:t>研究目标与内容</a:t>
            </a:r>
            <a:r>
              <a:rPr lang="en-US" altLang="zh-CN" b="0">
                <a:cs typeface="+mn-ea"/>
              </a:rPr>
              <a:t>      </a:t>
            </a:r>
            <a:r>
              <a:rPr lang="zh-CN" altLang="zh-CN" b="0">
                <a:cs typeface="+mn-ea"/>
              </a:rPr>
              <a:t>技术路线与方法</a:t>
            </a:r>
            <a:r>
              <a:rPr lang="en-US" altLang="zh-CN" b="0">
                <a:cs typeface="+mn-ea"/>
              </a:rPr>
              <a:t>      </a:t>
            </a:r>
            <a:r>
              <a:rPr lang="zh-CN" altLang="zh-CN" b="0">
                <a:cs typeface="+mn-ea"/>
              </a:rPr>
              <a:t>预期成果与计划</a:t>
            </a:r>
            <a:endParaRPr lang="en-US" altLang="zh-CN" b="0" dirty="0">
              <a:cs typeface="+mn-ea"/>
            </a:endParaRPr>
          </a:p>
        </p:txBody>
      </p:sp>
      <p:sp>
        <p:nvSpPr>
          <p:cNvPr id="1048723" name="日期占位符 1"/>
          <p:cNvSpPr>
            <a:spLocks noGrp="1"/>
          </p:cNvSpPr>
          <p:nvPr>
            <p:ph type="dt" sz="half" idx="14"/>
          </p:nvPr>
        </p:nvSpPr>
        <p:spPr>
          <a:xfrm>
            <a:off x="660400" y="6235702"/>
            <a:ext cx="3342640" cy="365125"/>
          </a:xfrm>
        </p:spPr>
        <p:txBody>
          <a:bodyPr/>
          <a:lstStyle/>
          <a:p>
            <a:r>
              <a:rPr lang="zh-CN" altLang="en-US" i="1" spc="300" dirty="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1048724" name="灯片编号占位符 2"/>
          <p:cNvSpPr>
            <a:spLocks noGrp="1"/>
          </p:cNvSpPr>
          <p:nvPr>
            <p:ph type="sldNum" sz="quarter" idx="16"/>
          </p:nvPr>
        </p:nvSpPr>
        <p:spPr>
          <a:xfrm>
            <a:off x="8775700" y="6385331"/>
            <a:ext cx="2743200" cy="365125"/>
          </a:xfrm>
        </p:spPr>
        <p:txBody>
          <a:bodyPr/>
          <a:lstStyle/>
          <a:p>
            <a:fld id="{C79ECAFE-A460-4E13-ABCB-32CAE6136244}" type="slidenum">
              <a:rPr lang="zh-CN" altLang="en-US" smtClean="0"/>
              <a:t>8</a:t>
            </a:fld>
            <a:endParaRPr lang="zh-CN" altLang="en-US" dirty="0"/>
          </a:p>
        </p:txBody>
      </p:sp>
      <p:sp>
        <p:nvSpPr>
          <p:cNvPr id="1048725" name="文本占位符 15"/>
          <p:cNvSpPr txBox="1"/>
          <p:nvPr/>
        </p:nvSpPr>
        <p:spPr>
          <a:xfrm>
            <a:off x="660400" y="1022914"/>
            <a:ext cx="10858500" cy="983157"/>
          </a:xfrm>
          <a:prstGeom prst="rect">
            <a:avLst/>
          </a:prstGeom>
          <a:ln>
            <a:noFill/>
          </a:ln>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分布式推理任务调度在容器化场景下的挑战</a:t>
            </a:r>
            <a:endParaRPr lang="en-US" altLang="zh-CN" sz="2400" b="1" dirty="0">
              <a:solidFill>
                <a:schemeClr val="accent1"/>
              </a:solidFill>
            </a:endParaRPr>
          </a:p>
          <a:p>
            <a:pPr marL="0" indent="0">
              <a:lnSpc>
                <a:spcPct val="150000"/>
              </a:lnSpc>
              <a:buNone/>
            </a:pPr>
            <a:r>
              <a:rPr lang="zh-CN" altLang="en-US" b="1" dirty="0">
                <a:solidFill>
                  <a:schemeClr val="accent1"/>
                </a:solidFill>
              </a:rPr>
              <a:t>  挑战一：</a:t>
            </a:r>
            <a:r>
              <a:rPr lang="zh-CN" altLang="zh-CN" b="1" dirty="0">
                <a:latin typeface="Microsoft YaHei" panose="020B0503020204020204" pitchFamily="34" charset="-122"/>
                <a:ea typeface="Microsoft YaHei" panose="020B0503020204020204" pitchFamily="34" charset="-122"/>
              </a:rPr>
              <a:t>分布式推理任务通信模式感知预测难 </a:t>
            </a:r>
            <a:endParaRPr lang="zh-CN" altLang="en-US" b="1" dirty="0">
              <a:latin typeface="Microsoft YaHei" panose="020B0503020204020204" pitchFamily="34" charset="-122"/>
              <a:ea typeface="Microsoft YaHei" panose="020B0503020204020204" pitchFamily="34" charset="-122"/>
            </a:endParaRPr>
          </a:p>
        </p:txBody>
      </p:sp>
      <p:sp>
        <p:nvSpPr>
          <p:cNvPr id="1048726" name="textbox 290"/>
          <p:cNvSpPr/>
          <p:nvPr/>
        </p:nvSpPr>
        <p:spPr>
          <a:xfrm>
            <a:off x="845723" y="2202700"/>
            <a:ext cx="5601364" cy="1472943"/>
          </a:xfrm>
          <a:prstGeom prst="rect">
            <a:avLst/>
          </a:prstGeom>
          <a:noFill/>
          <a:ln w="0" cap="flat">
            <a:noFill/>
            <a:prstDash val="solid"/>
            <a:miter lim="0"/>
          </a:ln>
        </p:spPr>
        <p:txBody>
          <a:bodyPr vert="horz" wrap="square"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eaLnBrk="0">
              <a:lnSpc>
                <a:spcPct val="150000"/>
              </a:lnSpc>
              <a:buFont typeface="Wingdings" panose="05000000000000000000" pitchFamily="2" charset="2"/>
              <a:buChar char="p"/>
            </a:pPr>
            <a:r>
              <a:rPr lang="zh-CN" altLang="en-US" dirty="0"/>
              <a:t>分布式推理任务在</a:t>
            </a:r>
            <a:r>
              <a:rPr lang="zh-CN" altLang="en-US" b="1" dirty="0"/>
              <a:t>推理阶段、并行方式</a:t>
            </a:r>
            <a:r>
              <a:rPr lang="zh-CN" altLang="en-US" dirty="0"/>
              <a:t>上存在明显差异，导致任务</a:t>
            </a:r>
            <a:r>
              <a:rPr lang="zh-CN" altLang="en-US" b="1" dirty="0">
                <a:latin typeface="+mn-ea"/>
              </a:rPr>
              <a:t>通信粒度、通信频率</a:t>
            </a:r>
            <a:r>
              <a:rPr lang="zh-CN" altLang="en-US" dirty="0">
                <a:latin typeface="+mn-ea"/>
              </a:rPr>
              <a:t>等模式</a:t>
            </a:r>
            <a:r>
              <a:rPr lang="zh-CN" altLang="en-US" dirty="0"/>
              <a:t>复杂多变，调度前难以准确刻画，导致部署后通信开销增大</a:t>
            </a:r>
            <a:endParaRPr lang="en-US" altLang="zh-CN" dirty="0">
              <a:latin typeface="微软雅黑" panose="020B0503020204020204" charset="-122"/>
              <a:ea typeface="微软雅黑" panose="020B0503020204020204" charset="-122"/>
              <a:cs typeface="微软雅黑" panose="020B0503020204020204" charset="-122"/>
            </a:endParaRPr>
          </a:p>
        </p:txBody>
      </p:sp>
      <p:sp>
        <p:nvSpPr>
          <p:cNvPr id="44" name="矩形 24">
            <a:extLst>
              <a:ext uri="{FF2B5EF4-FFF2-40B4-BE49-F238E27FC236}">
                <a16:creationId xmlns:a16="http://schemas.microsoft.com/office/drawing/2014/main" id="{66B7F45D-69C0-CA77-7081-473FD70D31D6}"/>
              </a:ext>
            </a:extLst>
          </p:cNvPr>
          <p:cNvSpPr/>
          <p:nvPr/>
        </p:nvSpPr>
        <p:spPr>
          <a:xfrm>
            <a:off x="1876496" y="3936090"/>
            <a:ext cx="3862808" cy="2449241"/>
          </a:xfrm>
          <a:prstGeom prst="rect">
            <a:avLst/>
          </a:prstGeom>
          <a:noFill/>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文本框 1">
            <a:extLst>
              <a:ext uri="{FF2B5EF4-FFF2-40B4-BE49-F238E27FC236}">
                <a16:creationId xmlns:a16="http://schemas.microsoft.com/office/drawing/2014/main" id="{C1CA2541-7EBB-A705-52F3-74DA9CA41491}"/>
              </a:ext>
            </a:extLst>
          </p:cNvPr>
          <p:cNvSpPr txBox="1"/>
          <p:nvPr/>
        </p:nvSpPr>
        <p:spPr>
          <a:xfrm>
            <a:off x="2299157" y="4052187"/>
            <a:ext cx="3283549" cy="1422377"/>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000" b="1" dirty="0">
                <a:solidFill>
                  <a:schemeClr val="accent6">
                    <a:lumMod val="75000"/>
                  </a:schemeClr>
                </a:solidFill>
              </a:rPr>
              <a:t>阶段差异明显</a:t>
            </a:r>
            <a:endParaRPr lang="en-US" altLang="zh-CN" sz="2000" b="1" dirty="0">
              <a:solidFill>
                <a:schemeClr val="accent6">
                  <a:lumMod val="75000"/>
                </a:schemeClr>
              </a:solidFill>
            </a:endParaRPr>
          </a:p>
          <a:p>
            <a:pPr marL="342900" indent="-342900">
              <a:lnSpc>
                <a:spcPct val="150000"/>
              </a:lnSpc>
              <a:buFont typeface="Wingdings" panose="05000000000000000000" pitchFamily="2" charset="2"/>
              <a:buChar char="n"/>
            </a:pPr>
            <a:r>
              <a:rPr lang="zh-CN" altLang="en-US" sz="2000" b="1" dirty="0">
                <a:solidFill>
                  <a:schemeClr val="accent6">
                    <a:lumMod val="75000"/>
                  </a:schemeClr>
                </a:solidFill>
              </a:rPr>
              <a:t>并行形态多样</a:t>
            </a:r>
            <a:endParaRPr lang="en-US" altLang="zh-CN" sz="2000" b="1" dirty="0">
              <a:solidFill>
                <a:schemeClr val="accent6">
                  <a:lumMod val="75000"/>
                </a:schemeClr>
              </a:solidFill>
            </a:endParaRPr>
          </a:p>
          <a:p>
            <a:pPr marL="342900" indent="-342900">
              <a:lnSpc>
                <a:spcPct val="150000"/>
              </a:lnSpc>
              <a:buFont typeface="Wingdings" panose="05000000000000000000" pitchFamily="2" charset="2"/>
              <a:buChar char="n"/>
            </a:pPr>
            <a:r>
              <a:rPr lang="zh-CN" altLang="en-US" sz="2000" b="1" dirty="0">
                <a:solidFill>
                  <a:schemeClr val="accent6">
                    <a:lumMod val="75000"/>
                  </a:schemeClr>
                </a:solidFill>
              </a:rPr>
              <a:t>通信特征难提前感知</a:t>
            </a:r>
            <a:endParaRPr lang="en-US" altLang="zh-CN" sz="2000" b="1" dirty="0">
              <a:solidFill>
                <a:schemeClr val="accent6">
                  <a:lumMod val="75000"/>
                </a:schemeClr>
              </a:solidFill>
            </a:endParaRPr>
          </a:p>
        </p:txBody>
      </p:sp>
      <p:sp>
        <p:nvSpPr>
          <p:cNvPr id="46" name="文本框 44">
            <a:extLst>
              <a:ext uri="{FF2B5EF4-FFF2-40B4-BE49-F238E27FC236}">
                <a16:creationId xmlns:a16="http://schemas.microsoft.com/office/drawing/2014/main" id="{2D0542B6-F8FA-7330-6B21-E47492686B64}"/>
              </a:ext>
            </a:extLst>
          </p:cNvPr>
          <p:cNvSpPr txBox="1"/>
          <p:nvPr/>
        </p:nvSpPr>
        <p:spPr>
          <a:xfrm>
            <a:off x="1983667" y="5508179"/>
            <a:ext cx="3755637" cy="787075"/>
          </a:xfrm>
          <a:prstGeom prst="rect">
            <a:avLst/>
          </a:prstGeom>
          <a:noFill/>
        </p:spPr>
        <p:txBody>
          <a:bodyPr wrap="square">
            <a:spAutoFit/>
          </a:bodyPr>
          <a:lstStyle/>
          <a:p>
            <a:pPr algn="ctr">
              <a:lnSpc>
                <a:spcPct val="150000"/>
              </a:lnSpc>
            </a:pPr>
            <a:r>
              <a:rPr lang="zh-CN" altLang="en-US" sz="1600" b="1" dirty="0"/>
              <a:t>本质问题：调度前无法</a:t>
            </a:r>
            <a:r>
              <a:rPr lang="zh-CN" altLang="en-US" sz="1600" b="1" dirty="0">
                <a:solidFill>
                  <a:srgbClr val="FF0000"/>
                </a:solidFill>
              </a:rPr>
              <a:t>准确预测</a:t>
            </a:r>
            <a:endParaRPr lang="en-US" altLang="zh-CN" sz="1600" b="1" dirty="0">
              <a:solidFill>
                <a:srgbClr val="FF0000"/>
              </a:solidFill>
            </a:endParaRPr>
          </a:p>
          <a:p>
            <a:pPr algn="ctr">
              <a:lnSpc>
                <a:spcPct val="150000"/>
              </a:lnSpc>
            </a:pPr>
            <a:r>
              <a:rPr lang="zh-CN" altLang="en-US" sz="1600" b="1" dirty="0"/>
              <a:t>任务通信模式</a:t>
            </a:r>
          </a:p>
        </p:txBody>
      </p:sp>
      <p:pic>
        <p:nvPicPr>
          <p:cNvPr id="3" name="图片 2">
            <a:extLst>
              <a:ext uri="{FF2B5EF4-FFF2-40B4-BE49-F238E27FC236}">
                <a16:creationId xmlns:a16="http://schemas.microsoft.com/office/drawing/2014/main" id="{B2B85BB6-B4EB-F843-815C-BEBFB70F8E4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553948" y="1514492"/>
            <a:ext cx="5467142" cy="49874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9" name="文本占位符 6"/>
          <p:cNvSpPr>
            <a:spLocks noGrp="1"/>
          </p:cNvSpPr>
          <p:nvPr>
            <p:ph type="body" sz="quarter" idx="11"/>
          </p:nvPr>
        </p:nvSpPr>
        <p:spPr>
          <a:xfrm>
            <a:off x="1216933" y="347251"/>
            <a:ext cx="10624871" cy="402291"/>
          </a:xfrm>
        </p:spPr>
        <p:txBody>
          <a:bodyPr/>
          <a:lstStyle/>
          <a:p>
            <a:r>
              <a:rPr lang="zh-CN" altLang="zh-CN">
                <a:cs typeface="+mn-ea"/>
              </a:rPr>
              <a:t>研究背景与现状</a:t>
            </a:r>
            <a:r>
              <a:rPr lang="en-US" altLang="zh-CN">
                <a:cs typeface="+mn-ea"/>
              </a:rPr>
              <a:t>      </a:t>
            </a:r>
            <a:r>
              <a:rPr lang="zh-CN" altLang="zh-CN" b="0">
                <a:cs typeface="+mn-ea"/>
              </a:rPr>
              <a:t>研究目标与内容</a:t>
            </a:r>
            <a:r>
              <a:rPr lang="en-US" altLang="zh-CN" b="0">
                <a:cs typeface="+mn-ea"/>
              </a:rPr>
              <a:t>      </a:t>
            </a:r>
            <a:r>
              <a:rPr lang="zh-CN" altLang="zh-CN" b="0">
                <a:cs typeface="+mn-ea"/>
              </a:rPr>
              <a:t>技术路线与方法</a:t>
            </a:r>
            <a:r>
              <a:rPr lang="en-US" altLang="zh-CN" b="0">
                <a:cs typeface="+mn-ea"/>
              </a:rPr>
              <a:t>      </a:t>
            </a:r>
            <a:r>
              <a:rPr lang="zh-CN" altLang="zh-CN" b="0">
                <a:cs typeface="+mn-ea"/>
              </a:rPr>
              <a:t>预期成果与计划</a:t>
            </a:r>
            <a:endParaRPr lang="en-US" altLang="zh-CN" b="0" dirty="0">
              <a:cs typeface="+mn-ea"/>
            </a:endParaRPr>
          </a:p>
        </p:txBody>
      </p:sp>
      <p:sp>
        <p:nvSpPr>
          <p:cNvPr id="1048750" name="灯片编号占位符 2"/>
          <p:cNvSpPr>
            <a:spLocks noGrp="1"/>
          </p:cNvSpPr>
          <p:nvPr>
            <p:ph type="sldNum" sz="quarter" idx="16"/>
          </p:nvPr>
        </p:nvSpPr>
        <p:spPr/>
        <p:txBody>
          <a:bodyPr/>
          <a:lstStyle/>
          <a:p>
            <a:fld id="{C79ECAFE-A460-4E13-ABCB-32CAE6136244}" type="slidenum">
              <a:rPr lang="zh-CN" altLang="en-US" smtClean="0"/>
              <a:t>9</a:t>
            </a:fld>
            <a:endParaRPr lang="zh-CN" altLang="en-US" dirty="0"/>
          </a:p>
        </p:txBody>
      </p:sp>
      <p:sp>
        <p:nvSpPr>
          <p:cNvPr id="1048752" name="textbox 290"/>
          <p:cNvSpPr/>
          <p:nvPr/>
        </p:nvSpPr>
        <p:spPr>
          <a:xfrm>
            <a:off x="894030" y="2086953"/>
            <a:ext cx="10624870" cy="1081899"/>
          </a:xfrm>
          <a:prstGeom prst="rect">
            <a:avLst/>
          </a:prstGeom>
          <a:noFill/>
          <a:ln w="0" cap="flat">
            <a:noFill/>
            <a:prstDash val="solid"/>
            <a:miter lim="0"/>
          </a:ln>
        </p:spPr>
        <p:txBody>
          <a:bodyPr vert="horz" wrap="square" lIns="0" tIns="0" rIns="0" bIns="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eaLnBrk="0">
              <a:lnSpc>
                <a:spcPct val="200000"/>
              </a:lnSpc>
              <a:buFont typeface="Wingdings" panose="05000000000000000000" pitchFamily="2" charset="2"/>
              <a:buChar char="p"/>
            </a:pPr>
            <a:r>
              <a:rPr lang="zh-CN" altLang="en-US" b="1" dirty="0"/>
              <a:t>资源层面： </a:t>
            </a:r>
            <a:r>
              <a:rPr lang="zh-CN" altLang="en-US" dirty="0"/>
              <a:t>边缘 </a:t>
            </a:r>
            <a:r>
              <a:rPr lang="en" altLang="zh-CN" dirty="0"/>
              <a:t>GPU </a:t>
            </a:r>
            <a:r>
              <a:rPr lang="zh-CN" altLang="en-US" dirty="0"/>
              <a:t>数量有限，多任务共驻时不同任务对 </a:t>
            </a:r>
            <a:r>
              <a:rPr lang="en" altLang="zh-CN" b="1" dirty="0"/>
              <a:t>SM</a:t>
            </a:r>
            <a:r>
              <a:rPr lang="zh-CN" altLang="en" b="1" dirty="0"/>
              <a:t>、</a:t>
            </a:r>
            <a:r>
              <a:rPr lang="zh-CN" altLang="en-US" b="1" dirty="0"/>
              <a:t>显存容量、显存带宽</a:t>
            </a:r>
            <a:r>
              <a:rPr lang="zh-CN" altLang="en-US" dirty="0"/>
              <a:t>的需求差异明显</a:t>
            </a:r>
            <a:endParaRPr lang="en-US" altLang="zh-CN" dirty="0">
              <a:latin typeface="微软雅黑" panose="020B0503020204020204" charset="-122"/>
              <a:ea typeface="微软雅黑" panose="020B0503020204020204" charset="-122"/>
            </a:endParaRPr>
          </a:p>
          <a:p>
            <a:pPr marL="342900" indent="-342900" eaLnBrk="0">
              <a:lnSpc>
                <a:spcPct val="200000"/>
              </a:lnSpc>
              <a:buFont typeface="Wingdings" panose="05000000000000000000" pitchFamily="2" charset="2"/>
              <a:buChar char="p"/>
            </a:pPr>
            <a:r>
              <a:rPr lang="zh-CN" altLang="en-US" b="1" dirty="0"/>
              <a:t>调度层面：</a:t>
            </a:r>
            <a:r>
              <a:rPr lang="zh-CN" altLang="en-US" dirty="0"/>
              <a:t> 整卡级分配难以对 </a:t>
            </a:r>
            <a:r>
              <a:rPr lang="en" altLang="zh-CN" dirty="0"/>
              <a:t>GPU </a:t>
            </a:r>
            <a:r>
              <a:rPr lang="zh-CN" altLang="en-US" dirty="0"/>
              <a:t>内部资源进行</a:t>
            </a:r>
            <a:r>
              <a:rPr lang="zh-CN" altLang="en-US" b="1" dirty="0"/>
              <a:t>细粒度协调</a:t>
            </a:r>
            <a:r>
              <a:rPr lang="zh-CN" altLang="en-US" dirty="0"/>
              <a:t>，资源竞争加剧</a:t>
            </a:r>
            <a:endParaRPr lang="en-US" altLang="zh-CN" dirty="0">
              <a:latin typeface="微软雅黑" panose="020B0503020204020204" charset="-122"/>
              <a:ea typeface="微软雅黑" panose="020B0503020204020204" charset="-122"/>
              <a:cs typeface="微软雅黑" panose="020B0503020204020204" charset="-122"/>
            </a:endParaRPr>
          </a:p>
        </p:txBody>
      </p:sp>
      <p:sp>
        <p:nvSpPr>
          <p:cNvPr id="1048760" name="文本占位符 15"/>
          <p:cNvSpPr txBox="1"/>
          <p:nvPr/>
        </p:nvSpPr>
        <p:spPr>
          <a:xfrm>
            <a:off x="660400" y="1022914"/>
            <a:ext cx="10858500" cy="983157"/>
          </a:xfrm>
          <a:prstGeom prst="rect">
            <a:avLst/>
          </a:prstGeom>
          <a:ln>
            <a:noFill/>
          </a:ln>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分布式推理任务调度在容器化场景下的挑战</a:t>
            </a:r>
            <a:endParaRPr lang="en-US" altLang="zh-CN" sz="2400" b="1" dirty="0">
              <a:solidFill>
                <a:schemeClr val="accent1"/>
              </a:solidFill>
            </a:endParaRPr>
          </a:p>
          <a:p>
            <a:pPr marL="0" indent="0">
              <a:lnSpc>
                <a:spcPct val="150000"/>
              </a:lnSpc>
              <a:buNone/>
            </a:pPr>
            <a:r>
              <a:rPr lang="zh-CN" altLang="en-US" b="1" dirty="0">
                <a:solidFill>
                  <a:schemeClr val="accent1"/>
                </a:solidFill>
              </a:rPr>
              <a:t>  挑战二：</a:t>
            </a:r>
            <a:r>
              <a:rPr lang="en" altLang="zh-CN" dirty="0"/>
              <a:t> </a:t>
            </a:r>
            <a:r>
              <a:rPr lang="en-US" altLang="zh-CN" b="1" dirty="0">
                <a:latin typeface="Microsoft YaHei" panose="020B0503020204020204" pitchFamily="34" charset="-122"/>
                <a:ea typeface="Microsoft YaHei" panose="020B0503020204020204" pitchFamily="34" charset="-122"/>
              </a:rPr>
              <a:t>GPU</a:t>
            </a:r>
            <a:r>
              <a:rPr lang="zh-CN" altLang="zh-CN" b="1" dirty="0">
                <a:latin typeface="Microsoft YaHei" panose="020B0503020204020204" pitchFamily="34" charset="-122"/>
                <a:ea typeface="Microsoft YaHei" panose="020B0503020204020204" pitchFamily="34" charset="-122"/>
              </a:rPr>
              <a:t>共享环境下资源竞争协调难 </a:t>
            </a:r>
            <a:endParaRPr lang="zh-CN" altLang="en-US" b="1" dirty="0">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5EDF04A2-D891-25AC-8BB5-3F8E80B4B42F}"/>
              </a:ext>
            </a:extLst>
          </p:cNvPr>
          <p:cNvPicPr>
            <a:picLocks noChangeAspect="1"/>
          </p:cNvPicPr>
          <p:nvPr/>
        </p:nvPicPr>
        <p:blipFill>
          <a:blip r:embed="rId3">
            <a:clrChange>
              <a:clrFrom>
                <a:srgbClr val="FFFFFF"/>
              </a:clrFrom>
              <a:clrTo>
                <a:srgbClr val="FFFFFF">
                  <a:alpha val="0"/>
                </a:srgbClr>
              </a:clrTo>
            </a:clrChange>
            <a:alphaModFix/>
          </a:blip>
          <a:stretch>
            <a:fillRect/>
          </a:stretch>
        </p:blipFill>
        <p:spPr>
          <a:xfrm>
            <a:off x="4416034" y="3416684"/>
            <a:ext cx="3055223" cy="2269003"/>
          </a:xfrm>
          <a:prstGeom prst="rect">
            <a:avLst/>
          </a:prstGeom>
        </p:spPr>
      </p:pic>
      <p:pic>
        <p:nvPicPr>
          <p:cNvPr id="5" name="图片 4">
            <a:extLst>
              <a:ext uri="{FF2B5EF4-FFF2-40B4-BE49-F238E27FC236}">
                <a16:creationId xmlns:a16="http://schemas.microsoft.com/office/drawing/2014/main" id="{8DE95E7D-541B-2D35-AA61-A41B373DE46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83133" y="3406156"/>
            <a:ext cx="3435924" cy="2639188"/>
          </a:xfrm>
          <a:prstGeom prst="rect">
            <a:avLst/>
          </a:prstGeom>
        </p:spPr>
      </p:pic>
      <p:sp>
        <p:nvSpPr>
          <p:cNvPr id="6" name="矩形 24">
            <a:extLst>
              <a:ext uri="{FF2B5EF4-FFF2-40B4-BE49-F238E27FC236}">
                <a16:creationId xmlns:a16="http://schemas.microsoft.com/office/drawing/2014/main" id="{C3D8E49B-6DA8-884A-01E9-CA79EC7AA29A}"/>
              </a:ext>
            </a:extLst>
          </p:cNvPr>
          <p:cNvSpPr/>
          <p:nvPr/>
        </p:nvSpPr>
        <p:spPr>
          <a:xfrm>
            <a:off x="7876909" y="3249247"/>
            <a:ext cx="3862808" cy="2739490"/>
          </a:xfrm>
          <a:prstGeom prst="rect">
            <a:avLst/>
          </a:prstGeom>
          <a:noFill/>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1">
            <a:extLst>
              <a:ext uri="{FF2B5EF4-FFF2-40B4-BE49-F238E27FC236}">
                <a16:creationId xmlns:a16="http://schemas.microsoft.com/office/drawing/2014/main" id="{469439B0-39CF-7F65-DBD9-9E6AF0F98F6E}"/>
              </a:ext>
            </a:extLst>
          </p:cNvPr>
          <p:cNvSpPr txBox="1"/>
          <p:nvPr/>
        </p:nvSpPr>
        <p:spPr>
          <a:xfrm>
            <a:off x="8685453" y="3400899"/>
            <a:ext cx="2490759" cy="1422377"/>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zh-CN" altLang="en-US" sz="2000" b="1" dirty="0">
                <a:solidFill>
                  <a:schemeClr val="accent6">
                    <a:lumMod val="75000"/>
                  </a:schemeClr>
                </a:solidFill>
              </a:rPr>
              <a:t>边缘资源有限</a:t>
            </a:r>
            <a:endParaRPr lang="en-US" altLang="zh-CN" sz="2000" b="1" dirty="0">
              <a:solidFill>
                <a:schemeClr val="accent6">
                  <a:lumMod val="75000"/>
                </a:schemeClr>
              </a:solidFill>
            </a:endParaRPr>
          </a:p>
          <a:p>
            <a:pPr marL="342900" indent="-342900">
              <a:lnSpc>
                <a:spcPct val="150000"/>
              </a:lnSpc>
              <a:buFont typeface="Wingdings" panose="05000000000000000000" pitchFamily="2" charset="2"/>
              <a:buChar char="n"/>
            </a:pPr>
            <a:r>
              <a:rPr lang="zh-CN" altLang="en-US" sz="2000" b="1" dirty="0">
                <a:solidFill>
                  <a:schemeClr val="accent6">
                    <a:lumMod val="75000"/>
                  </a:schemeClr>
                </a:solidFill>
              </a:rPr>
              <a:t>资源需求异构</a:t>
            </a:r>
            <a:endParaRPr lang="en-US" altLang="zh-CN" sz="2000" b="1" dirty="0">
              <a:solidFill>
                <a:schemeClr val="accent6">
                  <a:lumMod val="75000"/>
                </a:schemeClr>
              </a:solidFill>
            </a:endParaRPr>
          </a:p>
          <a:p>
            <a:pPr marL="342900" indent="-342900">
              <a:lnSpc>
                <a:spcPct val="150000"/>
              </a:lnSpc>
              <a:buFont typeface="Wingdings" panose="05000000000000000000" pitchFamily="2" charset="2"/>
              <a:buChar char="n"/>
            </a:pPr>
            <a:r>
              <a:rPr lang="zh-CN" altLang="en-US" sz="2000" b="1" dirty="0">
                <a:solidFill>
                  <a:schemeClr val="accent6">
                    <a:lumMod val="75000"/>
                  </a:schemeClr>
                </a:solidFill>
              </a:rPr>
              <a:t>缺乏细粒度管理</a:t>
            </a:r>
            <a:endParaRPr lang="en-US" altLang="zh-CN" sz="2000" b="1" dirty="0">
              <a:solidFill>
                <a:schemeClr val="accent6">
                  <a:lumMod val="75000"/>
                </a:schemeClr>
              </a:solidFill>
            </a:endParaRPr>
          </a:p>
        </p:txBody>
      </p:sp>
      <p:sp>
        <p:nvSpPr>
          <p:cNvPr id="8" name="文本框 44">
            <a:extLst>
              <a:ext uri="{FF2B5EF4-FFF2-40B4-BE49-F238E27FC236}">
                <a16:creationId xmlns:a16="http://schemas.microsoft.com/office/drawing/2014/main" id="{B255302F-EEA4-AA70-F098-136BBC2B54BE}"/>
              </a:ext>
            </a:extLst>
          </p:cNvPr>
          <p:cNvSpPr txBox="1"/>
          <p:nvPr/>
        </p:nvSpPr>
        <p:spPr>
          <a:xfrm>
            <a:off x="7984080" y="5047773"/>
            <a:ext cx="3755637" cy="787075"/>
          </a:xfrm>
          <a:prstGeom prst="rect">
            <a:avLst/>
          </a:prstGeom>
          <a:noFill/>
        </p:spPr>
        <p:txBody>
          <a:bodyPr wrap="square">
            <a:spAutoFit/>
          </a:bodyPr>
          <a:lstStyle/>
          <a:p>
            <a:pPr algn="ctr">
              <a:lnSpc>
                <a:spcPct val="150000"/>
              </a:lnSpc>
            </a:pPr>
            <a:r>
              <a:rPr lang="zh-CN" altLang="en-US" sz="1600" b="1" dirty="0"/>
              <a:t>本质问题：缺乏面向 </a:t>
            </a:r>
            <a:r>
              <a:rPr lang="en" altLang="zh-CN" sz="1600" b="1" dirty="0"/>
              <a:t>GPU </a:t>
            </a:r>
            <a:r>
              <a:rPr lang="zh-CN" altLang="en-US" sz="1600" b="1" dirty="0"/>
              <a:t>内部资源的</a:t>
            </a:r>
            <a:r>
              <a:rPr lang="zh-CN" altLang="en-US" sz="1600" b="1" dirty="0">
                <a:solidFill>
                  <a:srgbClr val="FF0000"/>
                </a:solidFill>
              </a:rPr>
              <a:t>细粒度</a:t>
            </a:r>
            <a:r>
              <a:rPr lang="zh-CN" altLang="en-US" sz="1600" b="1" dirty="0"/>
              <a:t>调度机制</a:t>
            </a:r>
          </a:p>
        </p:txBody>
      </p:sp>
      <p:sp>
        <p:nvSpPr>
          <p:cNvPr id="10" name="文本框 9">
            <a:extLst>
              <a:ext uri="{FF2B5EF4-FFF2-40B4-BE49-F238E27FC236}">
                <a16:creationId xmlns:a16="http://schemas.microsoft.com/office/drawing/2014/main" id="{53ED7F05-02C7-8404-BE04-D8402DE13364}"/>
              </a:ext>
            </a:extLst>
          </p:cNvPr>
          <p:cNvSpPr txBox="1"/>
          <p:nvPr/>
        </p:nvSpPr>
        <p:spPr>
          <a:xfrm>
            <a:off x="4524709" y="5680960"/>
            <a:ext cx="3181610"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Inference latency of different amounts</a:t>
            </a:r>
            <a:r>
              <a:rPr kumimoji="1" lang="en-US" altLang="zh-CN" sz="1400" baseline="30000" dirty="0">
                <a:latin typeface="Times New Roman" panose="02020603050405020304" pitchFamily="18" charset="0"/>
                <a:cs typeface="Times New Roman" panose="02020603050405020304" pitchFamily="18" charset="0"/>
              </a:rPr>
              <a:t>[1]</a:t>
            </a:r>
            <a:endParaRPr kumimoji="1" lang="zh-CN" altLang="en-US" sz="1400"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74B778EA-4E17-BDB4-103B-867496FFFCE9}"/>
              </a:ext>
            </a:extLst>
          </p:cNvPr>
          <p:cNvSpPr txBox="1"/>
          <p:nvPr/>
        </p:nvSpPr>
        <p:spPr>
          <a:xfrm>
            <a:off x="660068" y="6140937"/>
            <a:ext cx="11181736" cy="523220"/>
          </a:xfrm>
          <a:prstGeom prst="rect">
            <a:avLst/>
          </a:prstGeom>
          <a:noFill/>
        </p:spPr>
        <p:txBody>
          <a:bodyPr wrap="square">
            <a:spAutoFit/>
          </a:bodyPr>
          <a:lstStyle/>
          <a:p>
            <a:r>
              <a:rPr lang="en-US" altLang="zh-CN" sz="1400" dirty="0">
                <a:solidFill>
                  <a:schemeClr val="tx1">
                    <a:lumMod val="50000"/>
                    <a:lumOff val="50000"/>
                  </a:schemeClr>
                </a:solidFill>
                <a:latin typeface="Times New Roman" panose="02020603050405020304" pitchFamily="18" charset="0"/>
                <a:cs typeface="Times New Roman" panose="02020603050405020304" pitchFamily="18" charset="0"/>
              </a:rPr>
              <a:t>[1]</a:t>
            </a:r>
            <a:r>
              <a:rPr lang="en" altLang="zh-CN" sz="1400" b="0" i="0" dirty="0">
                <a:solidFill>
                  <a:schemeClr val="tx1">
                    <a:lumMod val="50000"/>
                    <a:lumOff val="50000"/>
                  </a:schemeClr>
                </a:solidFill>
                <a:effectLst/>
                <a:latin typeface="Times New Roman" panose="02020603050405020304" pitchFamily="18" charset="0"/>
                <a:cs typeface="Times New Roman" panose="02020603050405020304" pitchFamily="18" charset="0"/>
              </a:rPr>
              <a:t> </a:t>
            </a:r>
            <a:r>
              <a:rPr lang="en" altLang="zh-CN" sz="1400" dirty="0">
                <a:solidFill>
                  <a:schemeClr val="tx1">
                    <a:lumMod val="50000"/>
                    <a:lumOff val="50000"/>
                  </a:schemeClr>
                </a:solidFill>
                <a:latin typeface="Times New Roman" panose="02020603050405020304" pitchFamily="18" charset="0"/>
                <a:cs typeface="Times New Roman" panose="02020603050405020304" pitchFamily="18" charset="0"/>
              </a:rPr>
              <a:t>Han Z, Zhou R, Xu C, et al. </a:t>
            </a:r>
            <a:r>
              <a:rPr lang="en" altLang="zh-CN" sz="1400" dirty="0" err="1">
                <a:solidFill>
                  <a:schemeClr val="tx1">
                    <a:lumMod val="50000"/>
                    <a:lumOff val="50000"/>
                  </a:schemeClr>
                </a:solidFill>
                <a:latin typeface="Times New Roman" panose="02020603050405020304" pitchFamily="18" charset="0"/>
                <a:cs typeface="Times New Roman" panose="02020603050405020304" pitchFamily="18" charset="0"/>
              </a:rPr>
              <a:t>Inss</a:t>
            </a:r>
            <a:r>
              <a:rPr lang="en" altLang="zh-CN" sz="1400" dirty="0">
                <a:solidFill>
                  <a:schemeClr val="tx1">
                    <a:lumMod val="50000"/>
                    <a:lumOff val="50000"/>
                  </a:schemeClr>
                </a:solidFill>
                <a:latin typeface="Times New Roman" panose="02020603050405020304" pitchFamily="18" charset="0"/>
                <a:cs typeface="Times New Roman" panose="02020603050405020304" pitchFamily="18" charset="0"/>
              </a:rPr>
              <a:t>: An intelligent scheduling orchestrator for multi-</a:t>
            </a:r>
            <a:r>
              <a:rPr lang="en" altLang="zh-CN" sz="1400" dirty="0" err="1">
                <a:solidFill>
                  <a:schemeClr val="tx1">
                    <a:lumMod val="50000"/>
                    <a:lumOff val="50000"/>
                  </a:schemeClr>
                </a:solidFill>
                <a:latin typeface="Times New Roman" panose="02020603050405020304" pitchFamily="18" charset="0"/>
                <a:cs typeface="Times New Roman" panose="02020603050405020304" pitchFamily="18" charset="0"/>
              </a:rPr>
              <a:t>gpu</a:t>
            </a:r>
            <a:r>
              <a:rPr lang="en" altLang="zh-CN" sz="1400" dirty="0">
                <a:solidFill>
                  <a:schemeClr val="tx1">
                    <a:lumMod val="50000"/>
                    <a:lumOff val="50000"/>
                  </a:schemeClr>
                </a:solidFill>
                <a:latin typeface="Times New Roman" panose="02020603050405020304" pitchFamily="18" charset="0"/>
                <a:cs typeface="Times New Roman" panose="02020603050405020304" pitchFamily="18" charset="0"/>
              </a:rPr>
              <a:t> inference with </a:t>
            </a:r>
            <a:r>
              <a:rPr lang="en" altLang="zh-CN" sz="1400" dirty="0" err="1">
                <a:solidFill>
                  <a:schemeClr val="tx1">
                    <a:lumMod val="50000"/>
                    <a:lumOff val="50000"/>
                  </a:schemeClr>
                </a:solidFill>
                <a:latin typeface="Times New Roman" panose="02020603050405020304" pitchFamily="18" charset="0"/>
                <a:cs typeface="Times New Roman" panose="02020603050405020304" pitchFamily="18" charset="0"/>
              </a:rPr>
              <a:t>spatio</a:t>
            </a:r>
            <a:r>
              <a:rPr lang="en" altLang="zh-CN" sz="1400" dirty="0">
                <a:solidFill>
                  <a:schemeClr val="tx1">
                    <a:lumMod val="50000"/>
                    <a:lumOff val="50000"/>
                  </a:schemeClr>
                </a:solidFill>
                <a:latin typeface="Times New Roman" panose="02020603050405020304" pitchFamily="18" charset="0"/>
                <a:cs typeface="Times New Roman" panose="02020603050405020304" pitchFamily="18" charset="0"/>
              </a:rPr>
              <a:t>-temporal sharing[J]. IEEE Transactions on Parallel and Distributed Systems, 2024, 35(10): 1735-1748.</a:t>
            </a:r>
            <a:endParaRPr lang="zh-CN" altLang="en-US" sz="14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4" name="文本占位符 4"/>
          <p:cNvSpPr>
            <a:spLocks noGrp="1"/>
          </p:cNvSpPr>
          <p:nvPr>
            <p:ph type="body" sz="quarter" idx="10"/>
          </p:nvPr>
        </p:nvSpPr>
        <p:spPr/>
        <p:txBody>
          <a:bodyPr/>
          <a:lstStyle/>
          <a:p>
            <a:pPr marL="0" marR="0" lvl="0" indent="0" defTabSz="914400" rtl="0" eaLnBrk="1" fontAlgn="auto" latinLnBrk="0" hangingPunct="1">
              <a:lnSpc>
                <a:spcPct val="100000"/>
              </a:lnSpc>
              <a:spcBef>
                <a:spcPts val="0"/>
              </a:spcBef>
              <a:spcAft>
                <a:spcPts val="0"/>
              </a:spcAft>
              <a:buClrTx/>
              <a:buSzTx/>
              <a:buFontTx/>
              <a:buNone/>
            </a:pPr>
            <a:r>
              <a:rPr lang="zh-CN" altLang="zh-CN" sz="4400" b="1">
                <a:solidFill>
                  <a:srgbClr val="445437"/>
                </a:solidFill>
                <a:latin typeface="微软雅黑" panose="020B0503020204020204" charset="-122"/>
                <a:ea typeface="微软雅黑" panose="020B0503020204020204" charset="-122"/>
                <a:cs typeface="+mn-ea"/>
              </a:rPr>
              <a:t>研究目标与内容</a:t>
            </a:r>
            <a:endParaRPr lang="zh-CN" altLang="en-US" sz="4400" b="1" dirty="0">
              <a:solidFill>
                <a:srgbClr val="445437"/>
              </a:solidFill>
              <a:latin typeface="微软雅黑" panose="020B0503020204020204" charset="-122"/>
              <a:ea typeface="微软雅黑" panose="020B0503020204020204" charset="-122"/>
              <a:cs typeface="+mn-ea"/>
            </a:endParaRPr>
          </a:p>
        </p:txBody>
      </p:sp>
      <p:sp>
        <p:nvSpPr>
          <p:cNvPr id="1048765" name="日期占位符 3"/>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cs"/>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cs"/>
            </a:endParaRPr>
          </a:p>
        </p:txBody>
      </p:sp>
      <p:pic>
        <p:nvPicPr>
          <p:cNvPr id="2097182" name="图片 6"/>
          <p:cNvPicPr>
            <a:picLocks noChangeAspect="1"/>
          </p:cNvPicPr>
          <p:nvPr/>
        </p:nvPicPr>
        <p:blipFill>
          <a:blip r:embed="rId2"/>
          <a:srcRect l="24588" t="13433" r="24588" b="26261"/>
          <a:stretch>
            <a:fillRect/>
          </a:stretch>
        </p:blipFill>
        <p:spPr>
          <a:xfrm>
            <a:off x="1113695"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6" name="文本占位符 6"/>
          <p:cNvSpPr>
            <a:spLocks noGrp="1"/>
          </p:cNvSpPr>
          <p:nvPr>
            <p:ph type="body" sz="quarter" idx="11"/>
          </p:nvPr>
        </p:nvSpPr>
        <p:spPr>
          <a:xfrm>
            <a:off x="1216933" y="347251"/>
            <a:ext cx="10624871" cy="402291"/>
          </a:xfrm>
        </p:spPr>
        <p:txBody>
          <a:bodyPr/>
          <a:lstStyle/>
          <a:p>
            <a:r>
              <a:rPr lang="zh-CN" altLang="zh-CN" b="0">
                <a:cs typeface="+mn-ea"/>
              </a:rPr>
              <a:t>研究背景与现状</a:t>
            </a:r>
            <a:r>
              <a:rPr lang="en-US" altLang="zh-CN" b="0">
                <a:cs typeface="+mn-ea"/>
              </a:rPr>
              <a:t>      </a:t>
            </a:r>
            <a:r>
              <a:rPr lang="zh-CN" altLang="zh-CN">
                <a:cs typeface="+mn-ea"/>
              </a:rPr>
              <a:t>研究目标与内容</a:t>
            </a:r>
            <a:r>
              <a:rPr lang="en-US" altLang="zh-CN">
                <a:cs typeface="+mn-ea"/>
              </a:rPr>
              <a:t>      </a:t>
            </a:r>
            <a:r>
              <a:rPr lang="zh-CN" altLang="zh-CN" b="0">
                <a:cs typeface="+mn-ea"/>
              </a:rPr>
              <a:t>技术路线与方法</a:t>
            </a:r>
            <a:r>
              <a:rPr lang="en-US" altLang="zh-CN" b="0">
                <a:cs typeface="+mn-ea"/>
              </a:rPr>
              <a:t>      </a:t>
            </a:r>
            <a:r>
              <a:rPr lang="zh-CN" altLang="zh-CN" b="0">
                <a:cs typeface="+mn-ea"/>
              </a:rPr>
              <a:t>预期成果与计划</a:t>
            </a:r>
            <a:endParaRPr lang="en-US" altLang="zh-CN" b="0" dirty="0">
              <a:cs typeface="+mn-ea"/>
            </a:endParaRPr>
          </a:p>
        </p:txBody>
      </p:sp>
      <p:sp>
        <p:nvSpPr>
          <p:cNvPr id="1048767" name="日期占位符 1"/>
          <p:cNvSpPr>
            <a:spLocks noGrp="1"/>
          </p:cNvSpPr>
          <p:nvPr>
            <p:ph type="dt" sz="half" idx="14"/>
          </p:nvPr>
        </p:nvSpPr>
        <p:spPr>
          <a:xfrm>
            <a:off x="660400" y="6235702"/>
            <a:ext cx="3342640" cy="365125"/>
          </a:xfrm>
        </p:spPr>
        <p:txBody>
          <a:bodyPr/>
          <a:lstStyle/>
          <a:p>
            <a:r>
              <a:rPr lang="zh-CN" altLang="en-US" i="1" spc="300" dirty="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1048768" name="灯片编号占位符 2"/>
          <p:cNvSpPr>
            <a:spLocks noGrp="1"/>
          </p:cNvSpPr>
          <p:nvPr>
            <p:ph type="sldNum" sz="quarter" idx="16"/>
          </p:nvPr>
        </p:nvSpPr>
        <p:spPr/>
        <p:txBody>
          <a:bodyPr/>
          <a:lstStyle/>
          <a:p>
            <a:fld id="{C79ECAFE-A460-4E13-ABCB-32CAE6136244}" type="slidenum">
              <a:rPr lang="zh-CN" altLang="en-US" smtClean="0"/>
              <a:t>11</a:t>
            </a:fld>
            <a:endParaRPr lang="zh-CN" altLang="en-US" dirty="0"/>
          </a:p>
        </p:txBody>
      </p:sp>
      <p:sp>
        <p:nvSpPr>
          <p:cNvPr id="1048769"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a:solidFill>
                  <a:schemeClr val="accent1"/>
                </a:solidFill>
              </a:rPr>
              <a:t>研究目标</a:t>
            </a:r>
          </a:p>
        </p:txBody>
      </p:sp>
      <p:grpSp>
        <p:nvGrpSpPr>
          <p:cNvPr id="105" name="组合 26"/>
          <p:cNvGrpSpPr/>
          <p:nvPr/>
        </p:nvGrpSpPr>
        <p:grpSpPr>
          <a:xfrm>
            <a:off x="798361" y="1635140"/>
            <a:ext cx="10720539" cy="660400"/>
            <a:chOff x="1644787" y="1793875"/>
            <a:chExt cx="8902427" cy="660400"/>
          </a:xfrm>
        </p:grpSpPr>
        <p:sp>
          <p:nvSpPr>
            <p:cNvPr id="1048770" name="矩形 5"/>
            <p:cNvSpPr/>
            <p:nvPr/>
          </p:nvSpPr>
          <p:spPr>
            <a:xfrm>
              <a:off x="1644787" y="1793875"/>
              <a:ext cx="1159933" cy="660400"/>
            </a:xfrm>
            <a:prstGeom prst="rect">
              <a:avLst/>
            </a:prstGeom>
            <a:solidFill>
              <a:schemeClr val="accent1"/>
            </a:solid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a:solidFill>
                    <a:schemeClr val="bg1"/>
                  </a:solidFill>
                </a:rPr>
                <a:t>总体目标</a:t>
              </a:r>
            </a:p>
          </p:txBody>
        </p:sp>
        <p:sp>
          <p:nvSpPr>
            <p:cNvPr id="1048771" name="矩形 10"/>
            <p:cNvSpPr/>
            <p:nvPr/>
          </p:nvSpPr>
          <p:spPr>
            <a:xfrm>
              <a:off x="2804720" y="1793875"/>
              <a:ext cx="7742494" cy="660400"/>
            </a:xfrm>
            <a:prstGeom prst="rect">
              <a:avLst/>
            </a:prstGeom>
            <a:no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1048772" name="文本框 14"/>
            <p:cNvSpPr txBox="1"/>
            <p:nvPr/>
          </p:nvSpPr>
          <p:spPr>
            <a:xfrm>
              <a:off x="3041650" y="1939409"/>
              <a:ext cx="7124700" cy="369332"/>
            </a:xfrm>
            <a:prstGeom prst="rect">
              <a:avLst/>
            </a:prstGeom>
            <a:noFill/>
          </p:spPr>
          <p:txBody>
            <a:bodyPr wrap="square">
              <a:spAutoFit/>
            </a:bodyPr>
            <a:lstStyle/>
            <a:p>
              <a:r>
                <a:rPr lang="zh-CN" altLang="en-US" dirty="0"/>
                <a:t>在边缘场景下，实现分布式推理服务的高性能运行和高资源利用</a:t>
              </a:r>
              <a:endParaRPr lang="en-US" altLang="zh-CN" b="1" dirty="0">
                <a:solidFill>
                  <a:srgbClr val="C00000"/>
                </a:solidFill>
              </a:endParaRPr>
            </a:p>
          </p:txBody>
        </p:sp>
      </p:grpSp>
      <p:sp>
        <p:nvSpPr>
          <p:cNvPr id="1048773" name="矩形 19"/>
          <p:cNvSpPr/>
          <p:nvPr/>
        </p:nvSpPr>
        <p:spPr>
          <a:xfrm>
            <a:off x="798361" y="2587225"/>
            <a:ext cx="1396822" cy="2423186"/>
          </a:xfrm>
          <a:prstGeom prst="rect">
            <a:avLst/>
          </a:prstGeom>
          <a:solidFill>
            <a:schemeClr val="accent1"/>
          </a:solid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a:solidFill>
                  <a:schemeClr val="bg1"/>
                </a:solidFill>
              </a:rPr>
              <a:t>理论目标</a:t>
            </a:r>
          </a:p>
        </p:txBody>
      </p:sp>
      <p:sp>
        <p:nvSpPr>
          <p:cNvPr id="1048774" name="矩形 20"/>
          <p:cNvSpPr/>
          <p:nvPr/>
        </p:nvSpPr>
        <p:spPr>
          <a:xfrm>
            <a:off x="1958294" y="2587225"/>
            <a:ext cx="9560606" cy="2423186"/>
          </a:xfrm>
          <a:prstGeom prst="rect">
            <a:avLst/>
          </a:prstGeom>
          <a:no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1048775" name="文本框 21"/>
          <p:cNvSpPr txBox="1"/>
          <p:nvPr/>
        </p:nvSpPr>
        <p:spPr>
          <a:xfrm>
            <a:off x="2257834" y="2664414"/>
            <a:ext cx="9198415" cy="2672526"/>
          </a:xfrm>
          <a:prstGeom prst="rect">
            <a:avLst/>
          </a:prstGeom>
          <a:noFill/>
        </p:spPr>
        <p:txBody>
          <a:bodyPr wrap="square">
            <a:spAutoFit/>
          </a:bodyPr>
          <a:lstStyle/>
          <a:p>
            <a:pPr marL="285750" indent="-285750">
              <a:lnSpc>
                <a:spcPct val="150000"/>
              </a:lnSpc>
              <a:buFont typeface="Wingdings" panose="05000000000000000000" pitchFamily="2" charset="2"/>
              <a:buChar char="n"/>
            </a:pPr>
            <a:r>
              <a:rPr lang="zh-CN" altLang="en-US" sz="1600" dirty="0"/>
              <a:t>针对分布式推理任务通信模式预测难挑战，研究推理任务通信模式抽取与代价预测方法，对推理阶段特征、并行策略、通信粒度及频率等进行结构化建模，构建通信代价预测模型，实现调度前对不同部署方案通信开销的准确评估，为部署调度提供决策依据</a:t>
            </a:r>
            <a:endParaRPr lang="en-US" altLang="zh-CN" sz="1600" dirty="0"/>
          </a:p>
          <a:p>
            <a:pPr marL="285750" indent="-285750">
              <a:lnSpc>
                <a:spcPct val="150000"/>
              </a:lnSpc>
              <a:buFont typeface="Wingdings" panose="05000000000000000000" pitchFamily="2" charset="2"/>
              <a:buChar char="n"/>
            </a:pPr>
            <a:r>
              <a:rPr lang="zh-CN" altLang="en-US" sz="1600" dirty="0">
                <a:latin typeface="+mn-ea"/>
                <a:cs typeface="Times New Roman" panose="02020603050405020304" pitchFamily="18" charset="0"/>
              </a:rPr>
              <a:t>针对</a:t>
            </a:r>
            <a:r>
              <a:rPr lang="en-US" altLang="zh-CN" sz="1600" dirty="0"/>
              <a:t>GPU</a:t>
            </a:r>
            <a:r>
              <a:rPr lang="zh-CN" altLang="zh-CN" sz="1600" dirty="0"/>
              <a:t>共享环境下资源竞争协调难</a:t>
            </a:r>
            <a:r>
              <a:rPr lang="zh-CN" altLang="en-US" sz="1600" dirty="0"/>
              <a:t>挑战</a:t>
            </a:r>
            <a:r>
              <a:rPr lang="zh-CN" altLang="en-US" sz="1600" dirty="0">
                <a:latin typeface="+mn-ea"/>
                <a:cs typeface="Times New Roman" panose="02020603050405020304" pitchFamily="18" charset="0"/>
              </a:rPr>
              <a:t>，</a:t>
            </a:r>
            <a:r>
              <a:rPr lang="zh-CN" altLang="en-US" sz="1600" dirty="0"/>
              <a:t>研究通信感知与细粒度 </a:t>
            </a:r>
            <a:r>
              <a:rPr lang="en" altLang="zh-CN" sz="1600" dirty="0"/>
              <a:t>GPU </a:t>
            </a:r>
            <a:r>
              <a:rPr lang="zh-CN" altLang="en-US" sz="1600" dirty="0"/>
              <a:t>资源协同调度机制，在集群级基于通信模式优化任务放置，在节点级结合任务特征进行 </a:t>
            </a:r>
            <a:r>
              <a:rPr lang="en" altLang="zh-CN" sz="1600" dirty="0"/>
              <a:t>GPU </a:t>
            </a:r>
            <a:r>
              <a:rPr lang="zh-CN" altLang="en-US" sz="1600" dirty="0"/>
              <a:t>细粒度资源分配，实现资源利用率与推理性能的有效平衡，提升分布式推理系统整体执行效率。</a:t>
            </a:r>
          </a:p>
          <a:p>
            <a:pPr marL="285750" indent="-285750">
              <a:lnSpc>
                <a:spcPct val="150000"/>
              </a:lnSpc>
              <a:buFont typeface="Wingdings" panose="05000000000000000000" pitchFamily="2" charset="2"/>
              <a:buChar char="n"/>
            </a:pPr>
            <a:endParaRPr lang="en-US" altLang="zh-CN" b="1" dirty="0">
              <a:solidFill>
                <a:srgbClr val="FF0000"/>
              </a:solidFill>
            </a:endParaRPr>
          </a:p>
        </p:txBody>
      </p:sp>
      <p:grpSp>
        <p:nvGrpSpPr>
          <p:cNvPr id="106" name="组合 28"/>
          <p:cNvGrpSpPr/>
          <p:nvPr/>
        </p:nvGrpSpPr>
        <p:grpSpPr>
          <a:xfrm>
            <a:off x="798361" y="5336940"/>
            <a:ext cx="10720540" cy="660400"/>
            <a:chOff x="1638436" y="4997035"/>
            <a:chExt cx="8902427" cy="660400"/>
          </a:xfrm>
        </p:grpSpPr>
        <p:sp>
          <p:nvSpPr>
            <p:cNvPr id="1048776" name="矩形 23"/>
            <p:cNvSpPr/>
            <p:nvPr/>
          </p:nvSpPr>
          <p:spPr>
            <a:xfrm>
              <a:off x="1638436" y="4997035"/>
              <a:ext cx="1159933" cy="660400"/>
            </a:xfrm>
            <a:prstGeom prst="rect">
              <a:avLst/>
            </a:prstGeom>
            <a:solidFill>
              <a:schemeClr val="accent1"/>
            </a:solid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a:solidFill>
                    <a:schemeClr val="bg1"/>
                  </a:solidFill>
                </a:rPr>
                <a:t>系统目标</a:t>
              </a:r>
            </a:p>
          </p:txBody>
        </p:sp>
        <p:sp>
          <p:nvSpPr>
            <p:cNvPr id="1048777" name="矩形 24"/>
            <p:cNvSpPr/>
            <p:nvPr/>
          </p:nvSpPr>
          <p:spPr>
            <a:xfrm>
              <a:off x="2798369" y="4997035"/>
              <a:ext cx="7742494" cy="660400"/>
            </a:xfrm>
            <a:prstGeom prst="rect">
              <a:avLst/>
            </a:prstGeom>
            <a:no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1048778" name="文本框 27"/>
            <p:cNvSpPr txBox="1"/>
            <p:nvPr/>
          </p:nvSpPr>
          <p:spPr>
            <a:xfrm>
              <a:off x="3041650" y="5142569"/>
              <a:ext cx="6096000" cy="369332"/>
            </a:xfrm>
            <a:prstGeom prst="rect">
              <a:avLst/>
            </a:prstGeom>
            <a:noFill/>
          </p:spPr>
          <p:txBody>
            <a:bodyPr wrap="square">
              <a:spAutoFit/>
            </a:bodyPr>
            <a:lstStyle/>
            <a:p>
              <a:r>
                <a:rPr lang="zh-CN" altLang="zh-CN" dirty="0"/>
                <a:t>边缘场景下基于</a:t>
              </a:r>
              <a:r>
                <a:rPr lang="en-US" altLang="zh-CN" dirty="0"/>
                <a:t>k3s</a:t>
              </a:r>
              <a:r>
                <a:rPr lang="zh-CN" altLang="zh-CN" dirty="0"/>
                <a:t>的分布式推理调度系统 </a:t>
              </a:r>
              <a:endParaRPr lang="zh-CN" altLang="en-US"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2" name="文本占位符 6"/>
          <p:cNvSpPr>
            <a:spLocks noGrp="1"/>
          </p:cNvSpPr>
          <p:nvPr>
            <p:ph type="body" sz="quarter" idx="11"/>
          </p:nvPr>
        </p:nvSpPr>
        <p:spPr>
          <a:xfrm>
            <a:off x="1216933" y="347251"/>
            <a:ext cx="10624871" cy="402291"/>
          </a:xfrm>
        </p:spPr>
        <p:txBody>
          <a:bodyPr/>
          <a:lstStyle/>
          <a:p>
            <a:r>
              <a:rPr lang="zh-CN" altLang="zh-CN" b="0">
                <a:cs typeface="+mn-ea"/>
              </a:rPr>
              <a:t>研究背景与现状</a:t>
            </a:r>
            <a:r>
              <a:rPr lang="en-US" altLang="zh-CN" b="0">
                <a:cs typeface="+mn-ea"/>
              </a:rPr>
              <a:t>      </a:t>
            </a:r>
            <a:r>
              <a:rPr lang="zh-CN" altLang="zh-CN">
                <a:cs typeface="+mn-ea"/>
              </a:rPr>
              <a:t>研究目标与内容</a:t>
            </a:r>
            <a:r>
              <a:rPr lang="en-US" altLang="zh-CN">
                <a:cs typeface="+mn-ea"/>
              </a:rPr>
              <a:t>      </a:t>
            </a:r>
            <a:r>
              <a:rPr lang="zh-CN" altLang="zh-CN" b="0">
                <a:cs typeface="+mn-ea"/>
              </a:rPr>
              <a:t>技术路线与方法</a:t>
            </a:r>
            <a:r>
              <a:rPr lang="en-US" altLang="zh-CN" b="0">
                <a:cs typeface="+mn-ea"/>
              </a:rPr>
              <a:t>      </a:t>
            </a:r>
            <a:r>
              <a:rPr lang="zh-CN" altLang="zh-CN" b="0">
                <a:cs typeface="+mn-ea"/>
              </a:rPr>
              <a:t>预期成果与计划</a:t>
            </a:r>
            <a:endParaRPr lang="en-US" altLang="zh-CN" b="0" dirty="0">
              <a:cs typeface="+mn-ea"/>
            </a:endParaRPr>
          </a:p>
        </p:txBody>
      </p:sp>
      <p:sp>
        <p:nvSpPr>
          <p:cNvPr id="1048783" name="日期占位符 1"/>
          <p:cNvSpPr>
            <a:spLocks noGrp="1"/>
          </p:cNvSpPr>
          <p:nvPr>
            <p:ph type="dt" sz="half" idx="14"/>
          </p:nvPr>
        </p:nvSpPr>
        <p:spPr>
          <a:xfrm>
            <a:off x="660400" y="6235702"/>
            <a:ext cx="3342640" cy="365125"/>
          </a:xfrm>
        </p:spPr>
        <p:txBody>
          <a:bodyPr/>
          <a:lstStyle/>
          <a:p>
            <a:r>
              <a:rPr lang="zh-CN" altLang="en-US" i="1" spc="300" dirty="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1048784" name="灯片编号占位符 2"/>
          <p:cNvSpPr>
            <a:spLocks noGrp="1"/>
          </p:cNvSpPr>
          <p:nvPr>
            <p:ph type="sldNum" sz="quarter" idx="16"/>
          </p:nvPr>
        </p:nvSpPr>
        <p:spPr/>
        <p:txBody>
          <a:bodyPr/>
          <a:lstStyle/>
          <a:p>
            <a:fld id="{C79ECAFE-A460-4E13-ABCB-32CAE6136244}" type="slidenum">
              <a:rPr lang="zh-CN" altLang="en-US" smtClean="0"/>
              <a:t>12</a:t>
            </a:fld>
            <a:endParaRPr lang="zh-CN" altLang="en-US" dirty="0"/>
          </a:p>
        </p:txBody>
      </p:sp>
      <p:sp>
        <p:nvSpPr>
          <p:cNvPr id="1048785"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a:solidFill>
                  <a:schemeClr val="accent1"/>
                </a:solidFill>
              </a:rPr>
              <a:t>研究内容</a:t>
            </a:r>
          </a:p>
        </p:txBody>
      </p:sp>
      <p:grpSp>
        <p:nvGrpSpPr>
          <p:cNvPr id="19" name="组合 18">
            <a:extLst>
              <a:ext uri="{FF2B5EF4-FFF2-40B4-BE49-F238E27FC236}">
                <a16:creationId xmlns:a16="http://schemas.microsoft.com/office/drawing/2014/main" id="{47401612-5391-2409-6D02-B3CEB3FEB2DB}"/>
              </a:ext>
            </a:extLst>
          </p:cNvPr>
          <p:cNvGrpSpPr/>
          <p:nvPr/>
        </p:nvGrpSpPr>
        <p:grpSpPr>
          <a:xfrm>
            <a:off x="1216933" y="1684779"/>
            <a:ext cx="9678326" cy="3971667"/>
            <a:chOff x="3230773" y="1561798"/>
            <a:chExt cx="8484539" cy="3971667"/>
          </a:xfrm>
        </p:grpSpPr>
        <p:sp>
          <p:nvSpPr>
            <p:cNvPr id="20" name="矩形 19">
              <a:extLst>
                <a:ext uri="{FF2B5EF4-FFF2-40B4-BE49-F238E27FC236}">
                  <a16:creationId xmlns:a16="http://schemas.microsoft.com/office/drawing/2014/main" id="{F9AA13AB-8FD4-EAA9-32DA-49D69AD08BE8}"/>
                </a:ext>
              </a:extLst>
            </p:cNvPr>
            <p:cNvSpPr/>
            <p:nvPr/>
          </p:nvSpPr>
          <p:spPr>
            <a:xfrm>
              <a:off x="3450554" y="2271457"/>
              <a:ext cx="455692" cy="2952381"/>
            </a:xfrm>
            <a:prstGeom prst="rect">
              <a:avLst/>
            </a:prstGeom>
            <a:solidFill>
              <a:srgbClr val="B3C9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latin typeface="Microsoft YaHei" panose="020B0503020204020204" pitchFamily="34" charset="-122"/>
                  <a:ea typeface="Microsoft YaHei" panose="020B0503020204020204" pitchFamily="34" charset="-122"/>
                </a:rPr>
                <a:t>分布式推理任务调度优化</a:t>
              </a:r>
            </a:p>
          </p:txBody>
        </p:sp>
        <p:sp>
          <p:nvSpPr>
            <p:cNvPr id="21" name="左大括号 20">
              <a:extLst>
                <a:ext uri="{FF2B5EF4-FFF2-40B4-BE49-F238E27FC236}">
                  <a16:creationId xmlns:a16="http://schemas.microsoft.com/office/drawing/2014/main" id="{04C35ADD-ADCD-03EA-ABF9-DA1C00F0008A}"/>
                </a:ext>
              </a:extLst>
            </p:cNvPr>
            <p:cNvSpPr/>
            <p:nvPr/>
          </p:nvSpPr>
          <p:spPr>
            <a:xfrm>
              <a:off x="4019183" y="3025526"/>
              <a:ext cx="349869" cy="155718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400"/>
            </a:p>
          </p:txBody>
        </p:sp>
        <p:sp>
          <p:nvSpPr>
            <p:cNvPr id="22" name="矩形 21">
              <a:extLst>
                <a:ext uri="{FF2B5EF4-FFF2-40B4-BE49-F238E27FC236}">
                  <a16:creationId xmlns:a16="http://schemas.microsoft.com/office/drawing/2014/main" id="{84F5C8F1-E56C-4E86-B5E3-B7200A8F563F}"/>
                </a:ext>
              </a:extLst>
            </p:cNvPr>
            <p:cNvSpPr/>
            <p:nvPr/>
          </p:nvSpPr>
          <p:spPr>
            <a:xfrm>
              <a:off x="4395153" y="2829950"/>
              <a:ext cx="1643237" cy="394630"/>
            </a:xfrm>
            <a:prstGeom prst="rect">
              <a:avLst/>
            </a:prstGeom>
            <a:solidFill>
              <a:srgbClr val="B3C9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latin typeface="Microsoft YaHei" panose="020B0503020204020204" pitchFamily="34" charset="-122"/>
                  <a:ea typeface="Microsoft YaHei" panose="020B0503020204020204" pitchFamily="34" charset="-122"/>
                </a:rPr>
                <a:t>通信感知能力</a:t>
              </a:r>
            </a:p>
          </p:txBody>
        </p:sp>
        <p:sp>
          <p:nvSpPr>
            <p:cNvPr id="23" name="矩形 22">
              <a:extLst>
                <a:ext uri="{FF2B5EF4-FFF2-40B4-BE49-F238E27FC236}">
                  <a16:creationId xmlns:a16="http://schemas.microsoft.com/office/drawing/2014/main" id="{5F22567C-010B-B6DB-647D-D2FF0B700916}"/>
                </a:ext>
              </a:extLst>
            </p:cNvPr>
            <p:cNvSpPr/>
            <p:nvPr/>
          </p:nvSpPr>
          <p:spPr>
            <a:xfrm>
              <a:off x="4395152" y="4188077"/>
              <a:ext cx="1643237" cy="394630"/>
            </a:xfrm>
            <a:prstGeom prst="rect">
              <a:avLst/>
            </a:prstGeom>
            <a:solidFill>
              <a:srgbClr val="B3C9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latin typeface="Microsoft YaHei" panose="020B0503020204020204" pitchFamily="34" charset="-122"/>
                  <a:ea typeface="Microsoft YaHei" panose="020B0503020204020204" pitchFamily="34" charset="-122"/>
                </a:rPr>
                <a:t>资源调度能力</a:t>
              </a:r>
            </a:p>
          </p:txBody>
        </p:sp>
        <p:sp>
          <p:nvSpPr>
            <p:cNvPr id="24" name="矩形 23">
              <a:extLst>
                <a:ext uri="{FF2B5EF4-FFF2-40B4-BE49-F238E27FC236}">
                  <a16:creationId xmlns:a16="http://schemas.microsoft.com/office/drawing/2014/main" id="{0CB6FA34-BF20-732F-F241-58C4D5F2F2DD}"/>
                </a:ext>
              </a:extLst>
            </p:cNvPr>
            <p:cNvSpPr/>
            <p:nvPr/>
          </p:nvSpPr>
          <p:spPr>
            <a:xfrm>
              <a:off x="4395153" y="3212818"/>
              <a:ext cx="2667076" cy="394630"/>
            </a:xfrm>
            <a:prstGeom prst="rect">
              <a:avLst/>
            </a:prstGeom>
            <a:noFill/>
            <a:ln w="190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tx1"/>
                  </a:solidFill>
                  <a:latin typeface="Microsoft YaHei" panose="020B0503020204020204" pitchFamily="34" charset="-122"/>
                  <a:ea typeface="Microsoft YaHei" panose="020B0503020204020204" pitchFamily="34" charset="-122"/>
                </a:rPr>
                <a:t>分布式推理任务</a:t>
              </a:r>
              <a:r>
                <a:rPr kumimoji="1" lang="zh-CN" altLang="zh-CN" sz="1400" dirty="0">
                  <a:solidFill>
                    <a:schemeClr val="tx1"/>
                  </a:solidFill>
                  <a:latin typeface="Microsoft YaHei" panose="020B0503020204020204" pitchFamily="34" charset="-122"/>
                  <a:ea typeface="Microsoft YaHei" panose="020B0503020204020204" pitchFamily="34" charset="-122"/>
                </a:rPr>
                <a:t>通信模式感知预测难 </a:t>
              </a:r>
              <a:endParaRPr kumimoji="1" lang="zh-CN" altLang="en-US" sz="1400" dirty="0">
                <a:solidFill>
                  <a:schemeClr val="tx1"/>
                </a:solidFill>
                <a:latin typeface="Microsoft YaHei" panose="020B0503020204020204" pitchFamily="34" charset="-122"/>
                <a:ea typeface="Microsoft YaHei" panose="020B0503020204020204" pitchFamily="34" charset="-122"/>
              </a:endParaRPr>
            </a:p>
          </p:txBody>
        </p:sp>
        <p:sp>
          <p:nvSpPr>
            <p:cNvPr id="25" name="矩形 24">
              <a:extLst>
                <a:ext uri="{FF2B5EF4-FFF2-40B4-BE49-F238E27FC236}">
                  <a16:creationId xmlns:a16="http://schemas.microsoft.com/office/drawing/2014/main" id="{D697393D-C8A2-3F0D-8A25-047D1BD89778}"/>
                </a:ext>
              </a:extLst>
            </p:cNvPr>
            <p:cNvSpPr/>
            <p:nvPr/>
          </p:nvSpPr>
          <p:spPr>
            <a:xfrm>
              <a:off x="4395153" y="4593205"/>
              <a:ext cx="2501081" cy="394630"/>
            </a:xfrm>
            <a:prstGeom prst="rect">
              <a:avLst/>
            </a:prstGeom>
            <a:noFill/>
            <a:ln w="190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latin typeface="Microsoft YaHei" panose="020B0503020204020204" pitchFamily="34" charset="-122"/>
                  <a:ea typeface="Microsoft YaHei" panose="020B0503020204020204" pitchFamily="34" charset="-122"/>
                </a:rPr>
                <a:t>GPU</a:t>
              </a:r>
              <a:r>
                <a:rPr kumimoji="1" lang="zh-CN" altLang="zh-CN" sz="1400" dirty="0">
                  <a:solidFill>
                    <a:schemeClr val="tx1"/>
                  </a:solidFill>
                  <a:latin typeface="Microsoft YaHei" panose="020B0503020204020204" pitchFamily="34" charset="-122"/>
                  <a:ea typeface="Microsoft YaHei" panose="020B0503020204020204" pitchFamily="34" charset="-122"/>
                </a:rPr>
                <a:t>共享环境下资源竞争协调难 </a:t>
              </a:r>
              <a:endParaRPr kumimoji="1" lang="zh-CN" altLang="en-US" sz="1400" dirty="0">
                <a:solidFill>
                  <a:schemeClr val="tx1"/>
                </a:solidFill>
                <a:latin typeface="Microsoft YaHei" panose="020B0503020204020204" pitchFamily="34" charset="-122"/>
                <a:ea typeface="Microsoft YaHei" panose="020B0503020204020204" pitchFamily="34" charset="-122"/>
              </a:endParaRPr>
            </a:p>
          </p:txBody>
        </p:sp>
        <p:sp>
          <p:nvSpPr>
            <p:cNvPr id="26" name="矩形 25">
              <a:extLst>
                <a:ext uri="{FF2B5EF4-FFF2-40B4-BE49-F238E27FC236}">
                  <a16:creationId xmlns:a16="http://schemas.microsoft.com/office/drawing/2014/main" id="{AB40F81C-6A40-818F-016C-37E83BC80DB6}"/>
                </a:ext>
              </a:extLst>
            </p:cNvPr>
            <p:cNvSpPr/>
            <p:nvPr/>
          </p:nvSpPr>
          <p:spPr>
            <a:xfrm>
              <a:off x="3230773" y="1939240"/>
              <a:ext cx="4005126" cy="3594225"/>
            </a:xfrm>
            <a:prstGeom prst="rect">
              <a:avLst/>
            </a:prstGeom>
            <a:noFill/>
            <a:ln w="19050">
              <a:solidFill>
                <a:schemeClr val="bg2">
                  <a:lumMod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516EBA17-F6D1-8B74-5E31-952FFD3BA4D0}"/>
                </a:ext>
              </a:extLst>
            </p:cNvPr>
            <p:cNvSpPr txBox="1"/>
            <p:nvPr/>
          </p:nvSpPr>
          <p:spPr>
            <a:xfrm>
              <a:off x="4465999" y="1561798"/>
              <a:ext cx="1254879"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场景与需求</a:t>
              </a:r>
            </a:p>
          </p:txBody>
        </p:sp>
        <p:sp>
          <p:nvSpPr>
            <p:cNvPr id="28" name="矩形 27">
              <a:extLst>
                <a:ext uri="{FF2B5EF4-FFF2-40B4-BE49-F238E27FC236}">
                  <a16:creationId xmlns:a16="http://schemas.microsoft.com/office/drawing/2014/main" id="{9D270DB0-C7F9-8D77-29EE-6FB3B08E8C68}"/>
                </a:ext>
              </a:extLst>
            </p:cNvPr>
            <p:cNvSpPr/>
            <p:nvPr/>
          </p:nvSpPr>
          <p:spPr>
            <a:xfrm>
              <a:off x="7534981" y="1939240"/>
              <a:ext cx="4180331" cy="3594225"/>
            </a:xfrm>
            <a:prstGeom prst="rect">
              <a:avLst/>
            </a:prstGeom>
            <a:noFill/>
            <a:ln w="19050">
              <a:solidFill>
                <a:schemeClr val="bg2">
                  <a:lumMod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文本框 28">
              <a:extLst>
                <a:ext uri="{FF2B5EF4-FFF2-40B4-BE49-F238E27FC236}">
                  <a16:creationId xmlns:a16="http://schemas.microsoft.com/office/drawing/2014/main" id="{C73828AB-B954-623A-9F03-362D75798045}"/>
                </a:ext>
              </a:extLst>
            </p:cNvPr>
            <p:cNvSpPr txBox="1"/>
            <p:nvPr/>
          </p:nvSpPr>
          <p:spPr>
            <a:xfrm>
              <a:off x="9110479" y="1561799"/>
              <a:ext cx="1029333"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研究内容</a:t>
              </a:r>
            </a:p>
          </p:txBody>
        </p:sp>
        <p:sp>
          <p:nvSpPr>
            <p:cNvPr id="30" name="文本框 29">
              <a:extLst>
                <a:ext uri="{FF2B5EF4-FFF2-40B4-BE49-F238E27FC236}">
                  <a16:creationId xmlns:a16="http://schemas.microsoft.com/office/drawing/2014/main" id="{AB7B128E-EA80-1C7D-E360-1B2AC7841F42}"/>
                </a:ext>
              </a:extLst>
            </p:cNvPr>
            <p:cNvSpPr txBox="1"/>
            <p:nvPr/>
          </p:nvSpPr>
          <p:spPr>
            <a:xfrm>
              <a:off x="8040393" y="2050940"/>
              <a:ext cx="3169503" cy="307777"/>
            </a:xfrm>
            <a:prstGeom prst="rect">
              <a:avLst/>
            </a:prstGeom>
            <a:noFill/>
          </p:spPr>
          <p:txBody>
            <a:bodyPr wrap="square">
              <a:spAutoFit/>
            </a:bodyPr>
            <a:lstStyle/>
            <a:p>
              <a:r>
                <a:rPr lang="zh-CN" altLang="zh-CN" sz="1400" dirty="0">
                  <a:effectLst/>
                  <a:latin typeface="Microsoft YaHei" panose="020B0503020204020204" pitchFamily="34" charset="-122"/>
                  <a:ea typeface="Microsoft YaHei" panose="020B0503020204020204" pitchFamily="34" charset="-122"/>
                  <a:cs typeface="Times New Roman" panose="02020603050405020304" pitchFamily="18" charset="0"/>
                </a:rPr>
                <a:t>边缘场景下基于</a:t>
              </a:r>
              <a:r>
                <a:rPr lang="en-US" altLang="zh-CN" sz="1400" dirty="0">
                  <a:effectLst/>
                  <a:latin typeface="Microsoft YaHei" panose="020B0503020204020204" pitchFamily="34" charset="-122"/>
                  <a:ea typeface="Microsoft YaHei" panose="020B0503020204020204" pitchFamily="34" charset="-122"/>
                </a:rPr>
                <a:t>k3s</a:t>
              </a:r>
              <a:r>
                <a:rPr lang="zh-CN" altLang="zh-CN" sz="1400" dirty="0">
                  <a:effectLst/>
                  <a:latin typeface="Microsoft YaHei" panose="020B0503020204020204" pitchFamily="34" charset="-122"/>
                  <a:ea typeface="Microsoft YaHei" panose="020B0503020204020204" pitchFamily="34" charset="-122"/>
                  <a:cs typeface="Times New Roman" panose="02020603050405020304" pitchFamily="18" charset="0"/>
                </a:rPr>
                <a:t>的分布式推理调度系统</a:t>
              </a:r>
              <a:r>
                <a:rPr lang="zh-CN" altLang="zh-CN" sz="1400" dirty="0">
                  <a:effectLst/>
                  <a:latin typeface="Microsoft YaHei" panose="020B0503020204020204" pitchFamily="34" charset="-122"/>
                  <a:ea typeface="Microsoft YaHei" panose="020B0503020204020204" pitchFamily="34" charset="-122"/>
                </a:rPr>
                <a:t> </a:t>
              </a:r>
              <a:endParaRPr lang="zh-CN" altLang="en-US" sz="1400" dirty="0">
                <a:latin typeface="Microsoft YaHei" panose="020B0503020204020204" pitchFamily="34" charset="-122"/>
                <a:ea typeface="Microsoft YaHei" panose="020B0503020204020204" pitchFamily="34" charset="-122"/>
              </a:endParaRPr>
            </a:p>
          </p:txBody>
        </p:sp>
        <p:sp>
          <p:nvSpPr>
            <p:cNvPr id="31" name="矩形 30">
              <a:extLst>
                <a:ext uri="{FF2B5EF4-FFF2-40B4-BE49-F238E27FC236}">
                  <a16:creationId xmlns:a16="http://schemas.microsoft.com/office/drawing/2014/main" id="{F4D9B52D-A726-0E7C-3AC2-42BF90DCED87}"/>
                </a:ext>
              </a:extLst>
            </p:cNvPr>
            <p:cNvSpPr/>
            <p:nvPr/>
          </p:nvSpPr>
          <p:spPr>
            <a:xfrm>
              <a:off x="7744972" y="2448448"/>
              <a:ext cx="3804346" cy="338554"/>
            </a:xfrm>
            <a:prstGeom prst="rect">
              <a:avLst/>
            </a:prstGeom>
            <a:noFill/>
            <a:ln w="190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Microsoft YaHei" panose="020B0503020204020204" pitchFamily="34" charset="-122"/>
                  <a:ea typeface="Microsoft YaHei" panose="020B0503020204020204" pitchFamily="34" charset="-122"/>
                </a:rPr>
                <a:t>面向分布式推理任务的通信模式抽取与代价预测方法</a:t>
              </a:r>
            </a:p>
          </p:txBody>
        </p:sp>
        <p:sp>
          <p:nvSpPr>
            <p:cNvPr id="32" name="矩形 31">
              <a:extLst>
                <a:ext uri="{FF2B5EF4-FFF2-40B4-BE49-F238E27FC236}">
                  <a16:creationId xmlns:a16="http://schemas.microsoft.com/office/drawing/2014/main" id="{FBC876E9-25E9-91F3-03AA-7E1AB69F5C78}"/>
                </a:ext>
              </a:extLst>
            </p:cNvPr>
            <p:cNvSpPr/>
            <p:nvPr/>
          </p:nvSpPr>
          <p:spPr>
            <a:xfrm>
              <a:off x="7744972" y="2779825"/>
              <a:ext cx="3804346" cy="1150617"/>
            </a:xfrm>
            <a:prstGeom prst="rect">
              <a:avLst/>
            </a:prstGeom>
            <a:noFill/>
            <a:ln w="190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1400" dirty="0">
                  <a:solidFill>
                    <a:schemeClr val="tx1"/>
                  </a:solidFill>
                  <a:latin typeface="Microsoft YaHei" panose="020B0503020204020204" pitchFamily="34" charset="-122"/>
                  <a:ea typeface="Microsoft YaHei" panose="020B0503020204020204" pitchFamily="34" charset="-122"/>
                </a:rPr>
                <a:t>1.</a:t>
              </a:r>
              <a:r>
                <a:rPr lang="zh-CN" altLang="zh-CN" sz="1400" dirty="0">
                  <a:solidFill>
                    <a:schemeClr val="tx1"/>
                  </a:solidFill>
                  <a:latin typeface="Microsoft YaHei" panose="020B0503020204020204" pitchFamily="34" charset="-122"/>
                  <a:ea typeface="Microsoft YaHei" panose="020B0503020204020204" pitchFamily="34" charset="-122"/>
                </a:rPr>
                <a:t>面向工作负载的拓扑无关通信需求</a:t>
              </a:r>
              <a:r>
                <a:rPr lang="zh-CN" altLang="en-US" sz="1400" dirty="0">
                  <a:solidFill>
                    <a:schemeClr val="tx1"/>
                  </a:solidFill>
                  <a:latin typeface="Microsoft YaHei" panose="020B0503020204020204" pitchFamily="34" charset="-122"/>
                  <a:ea typeface="Microsoft YaHei" panose="020B0503020204020204" pitchFamily="34" charset="-122"/>
                </a:rPr>
                <a:t>分析</a:t>
              </a:r>
              <a:endParaRPr lang="en-US" altLang="zh-CN" sz="1400" dirty="0">
                <a:solidFill>
                  <a:schemeClr val="tx1"/>
                </a:solidFill>
                <a:latin typeface="Microsoft YaHei" panose="020B0503020204020204" pitchFamily="34" charset="-122"/>
                <a:ea typeface="Microsoft YaHei" panose="020B0503020204020204" pitchFamily="34" charset="-122"/>
              </a:endParaRPr>
            </a:p>
            <a:p>
              <a:pPr>
                <a:lnSpc>
                  <a:spcPct val="150000"/>
                </a:lnSpc>
              </a:pPr>
              <a:r>
                <a:rPr lang="en-US" altLang="zh-CN" sz="1400" dirty="0">
                  <a:solidFill>
                    <a:schemeClr val="tx1"/>
                  </a:solidFill>
                  <a:latin typeface="Microsoft YaHei" panose="020B0503020204020204" pitchFamily="34" charset="-122"/>
                  <a:ea typeface="Microsoft YaHei" panose="020B0503020204020204" pitchFamily="34" charset="-122"/>
                </a:rPr>
                <a:t>2.</a:t>
              </a:r>
              <a:r>
                <a:rPr lang="zh-CN" altLang="zh-CN" sz="1400" dirty="0">
                  <a:solidFill>
                    <a:schemeClr val="tx1"/>
                  </a:solidFill>
                  <a:latin typeface="Microsoft YaHei" panose="020B0503020204020204" pitchFamily="34" charset="-122"/>
                  <a:ea typeface="Microsoft YaHei" panose="020B0503020204020204" pitchFamily="34" charset="-122"/>
                </a:rPr>
                <a:t>面向集群拓扑的消息尺度通信代价建模  </a:t>
              </a:r>
              <a:br>
                <a:rPr lang="zh-CN" altLang="en-US" sz="1400" dirty="0">
                  <a:solidFill>
                    <a:schemeClr val="tx1"/>
                  </a:solidFill>
                  <a:latin typeface="Microsoft YaHei" panose="020B0503020204020204" pitchFamily="34" charset="-122"/>
                  <a:ea typeface="Microsoft YaHei" panose="020B0503020204020204" pitchFamily="34" charset="-122"/>
                </a:rPr>
              </a:br>
              <a:r>
                <a:rPr lang="en-US" altLang="zh-CN" sz="1400" dirty="0">
                  <a:solidFill>
                    <a:schemeClr val="tx1"/>
                  </a:solidFill>
                  <a:latin typeface="Microsoft YaHei" panose="020B0503020204020204" pitchFamily="34" charset="-122"/>
                  <a:ea typeface="Microsoft YaHei" panose="020B0503020204020204" pitchFamily="34" charset="-122"/>
                </a:rPr>
                <a:t>3.</a:t>
              </a:r>
              <a:r>
                <a:rPr lang="zh-CN" altLang="zh-CN" sz="1400" dirty="0">
                  <a:solidFill>
                    <a:schemeClr val="tx1"/>
                  </a:solidFill>
                  <a:latin typeface="Microsoft YaHei" panose="020B0503020204020204" pitchFamily="34" charset="-122"/>
                  <a:ea typeface="Microsoft YaHei" panose="020B0503020204020204" pitchFamily="34" charset="-122"/>
                </a:rPr>
                <a:t>基于深度神经网络的通信时延拟合模型 </a:t>
              </a:r>
              <a:endParaRPr lang="zh-CN" altLang="en-US" sz="1400" dirty="0">
                <a:solidFill>
                  <a:schemeClr val="tx1"/>
                </a:solidFill>
                <a:latin typeface="Microsoft YaHei" panose="020B0503020204020204" pitchFamily="34" charset="-122"/>
                <a:ea typeface="Microsoft YaHei" panose="020B0503020204020204" pitchFamily="34" charset="-122"/>
              </a:endParaRPr>
            </a:p>
          </p:txBody>
        </p:sp>
        <p:sp>
          <p:nvSpPr>
            <p:cNvPr id="33" name="矩形 32">
              <a:extLst>
                <a:ext uri="{FF2B5EF4-FFF2-40B4-BE49-F238E27FC236}">
                  <a16:creationId xmlns:a16="http://schemas.microsoft.com/office/drawing/2014/main" id="{271DBDFF-A53A-BE66-9FFB-95A0B5AE7C1C}"/>
                </a:ext>
              </a:extLst>
            </p:cNvPr>
            <p:cNvSpPr/>
            <p:nvPr/>
          </p:nvSpPr>
          <p:spPr>
            <a:xfrm>
              <a:off x="7744971" y="4140540"/>
              <a:ext cx="3804346" cy="338554"/>
            </a:xfrm>
            <a:prstGeom prst="rect">
              <a:avLst/>
            </a:prstGeom>
            <a:noFill/>
            <a:ln w="190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Microsoft YaHei" panose="020B0503020204020204" pitchFamily="34" charset="-122"/>
                  <a:ea typeface="Microsoft YaHei" panose="020B0503020204020204" pitchFamily="34" charset="-122"/>
                </a:rPr>
                <a:t>面向边缘集群的通信感知与细粒度资源协同调度机制</a:t>
              </a:r>
            </a:p>
          </p:txBody>
        </p:sp>
        <p:sp>
          <p:nvSpPr>
            <p:cNvPr id="34" name="矩形 33">
              <a:extLst>
                <a:ext uri="{FF2B5EF4-FFF2-40B4-BE49-F238E27FC236}">
                  <a16:creationId xmlns:a16="http://schemas.microsoft.com/office/drawing/2014/main" id="{392D364D-0FCA-2DF5-7DCA-63FAA88C039F}"/>
                </a:ext>
              </a:extLst>
            </p:cNvPr>
            <p:cNvSpPr/>
            <p:nvPr/>
          </p:nvSpPr>
          <p:spPr>
            <a:xfrm>
              <a:off x="7744971" y="4471918"/>
              <a:ext cx="3804346" cy="769636"/>
            </a:xfrm>
            <a:prstGeom prst="rect">
              <a:avLst/>
            </a:prstGeom>
            <a:noFill/>
            <a:ln w="190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1400" dirty="0">
                  <a:solidFill>
                    <a:schemeClr val="tx1"/>
                  </a:solidFill>
                  <a:latin typeface="Microsoft YaHei" panose="020B0503020204020204" pitchFamily="34" charset="-122"/>
                  <a:ea typeface="Microsoft YaHei" panose="020B0503020204020204" pitchFamily="34" charset="-122"/>
                </a:rPr>
                <a:t>1.</a:t>
              </a:r>
              <a:r>
                <a:rPr lang="zh-CN" altLang="en-US" sz="1400" dirty="0">
                  <a:solidFill>
                    <a:schemeClr val="tx1"/>
                  </a:solidFill>
                  <a:latin typeface="Microsoft YaHei" panose="020B0503020204020204" pitchFamily="34" charset="-122"/>
                  <a:ea typeface="Microsoft YaHei" panose="020B0503020204020204" pitchFamily="34" charset="-122"/>
                </a:rPr>
                <a:t>基于通信模式与拓扑的分布式任务放置策略</a:t>
              </a:r>
              <a:br>
                <a:rPr lang="zh-CN" altLang="en-US" sz="1400" dirty="0">
                  <a:solidFill>
                    <a:schemeClr val="tx1"/>
                  </a:solidFill>
                  <a:latin typeface="Microsoft YaHei" panose="020B0503020204020204" pitchFamily="34" charset="-122"/>
                  <a:ea typeface="Microsoft YaHei" panose="020B0503020204020204" pitchFamily="34" charset="-122"/>
                </a:rPr>
              </a:br>
              <a:r>
                <a:rPr lang="en-US" altLang="zh-CN" sz="1400" dirty="0">
                  <a:solidFill>
                    <a:schemeClr val="tx1"/>
                  </a:solidFill>
                  <a:latin typeface="Microsoft YaHei" panose="020B0503020204020204" pitchFamily="34" charset="-122"/>
                  <a:ea typeface="Microsoft YaHei" panose="020B0503020204020204" pitchFamily="34" charset="-122"/>
                </a:rPr>
                <a:t>2.</a:t>
              </a:r>
              <a:r>
                <a:rPr lang="zh-CN" altLang="en-US" sz="1400" dirty="0">
                  <a:solidFill>
                    <a:schemeClr val="tx1"/>
                  </a:solidFill>
                  <a:latin typeface="Microsoft YaHei" panose="020B0503020204020204" pitchFamily="34" charset="-122"/>
                  <a:ea typeface="Microsoft YaHei" panose="020B0503020204020204" pitchFamily="34" charset="-122"/>
                </a:rPr>
                <a:t>基于任务特征的</a:t>
              </a:r>
              <a:r>
                <a:rPr lang="en-US" altLang="zh-CN" sz="1400" dirty="0">
                  <a:solidFill>
                    <a:schemeClr val="tx1"/>
                  </a:solidFill>
                  <a:latin typeface="Microsoft YaHei" panose="020B0503020204020204" pitchFamily="34" charset="-122"/>
                  <a:ea typeface="Microsoft YaHei" panose="020B0503020204020204" pitchFamily="34" charset="-122"/>
                </a:rPr>
                <a:t>GPU</a:t>
              </a:r>
              <a:r>
                <a:rPr lang="zh-CN" altLang="en-US" sz="1400" dirty="0">
                  <a:solidFill>
                    <a:schemeClr val="tx1"/>
                  </a:solidFill>
                  <a:latin typeface="Microsoft YaHei" panose="020B0503020204020204" pitchFamily="34" charset="-122"/>
                  <a:ea typeface="Microsoft YaHei" panose="020B0503020204020204" pitchFamily="34" charset="-122"/>
                </a:rPr>
                <a:t>细粒度资源分配</a:t>
              </a:r>
              <a:endParaRPr kumimoji="1" lang="zh-CN" altLang="en-US" sz="1400" dirty="0">
                <a:solidFill>
                  <a:schemeClr val="tx1"/>
                </a:solidFill>
                <a:latin typeface="Microsoft YaHei" panose="020B0503020204020204" pitchFamily="34" charset="-122"/>
                <a:ea typeface="Microsoft YaHei" panose="020B0503020204020204" pitchFamily="34" charset="-122"/>
              </a:endParaRPr>
            </a:p>
          </p:txBody>
        </p:sp>
        <p:sp>
          <p:nvSpPr>
            <p:cNvPr id="35" name="右箭头 34">
              <a:extLst>
                <a:ext uri="{FF2B5EF4-FFF2-40B4-BE49-F238E27FC236}">
                  <a16:creationId xmlns:a16="http://schemas.microsoft.com/office/drawing/2014/main" id="{64703BF7-D250-833F-F829-69F9CCEE69B4}"/>
                </a:ext>
              </a:extLst>
            </p:cNvPr>
            <p:cNvSpPr/>
            <p:nvPr/>
          </p:nvSpPr>
          <p:spPr>
            <a:xfrm>
              <a:off x="7149065" y="3076134"/>
              <a:ext cx="552051" cy="282019"/>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右箭头 35">
              <a:extLst>
                <a:ext uri="{FF2B5EF4-FFF2-40B4-BE49-F238E27FC236}">
                  <a16:creationId xmlns:a16="http://schemas.microsoft.com/office/drawing/2014/main" id="{1C8E9EAC-4ABC-C620-ECD7-FAE9574F4573}"/>
                </a:ext>
              </a:extLst>
            </p:cNvPr>
            <p:cNvSpPr/>
            <p:nvPr/>
          </p:nvSpPr>
          <p:spPr>
            <a:xfrm>
              <a:off x="7149065" y="4470138"/>
              <a:ext cx="552051" cy="282019"/>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8" name="文本占位符 1"/>
          <p:cNvSpPr>
            <a:spLocks noGrp="1"/>
          </p:cNvSpPr>
          <p:nvPr>
            <p:ph type="body" sz="quarter" idx="10"/>
          </p:nvPr>
        </p:nvSpPr>
        <p:spPr/>
        <p:txBody>
          <a:bodyPr/>
          <a:lstStyle/>
          <a:p>
            <a:pPr marL="266700">
              <a:spcBef>
                <a:spcPts val="1700"/>
              </a:spcBef>
              <a:spcAft>
                <a:spcPts val="1650"/>
              </a:spcAft>
            </a:pPr>
            <a:r>
              <a:rPr lang="zh-CN" altLang="zh-CN">
                <a:ea typeface="+mn-ea"/>
                <a:cs typeface="+mn-ea"/>
              </a:rPr>
              <a:t>技术路线与方法</a:t>
            </a:r>
          </a:p>
        </p:txBody>
      </p:sp>
      <p:sp>
        <p:nvSpPr>
          <p:cNvPr id="1048809" name="日期占位符 6"/>
          <p:cNvSpPr>
            <a:spLocks noGrp="1"/>
          </p:cNvSpPr>
          <p:nvPr>
            <p:ph type="dt" sz="half" idx="12"/>
          </p:nvPr>
        </p:nvSpPr>
        <p:spPr>
          <a:xfrm>
            <a:off x="660400" y="6235702"/>
            <a:ext cx="334264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ea"/>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ea"/>
            </a:endParaRPr>
          </a:p>
        </p:txBody>
      </p:sp>
      <p:pic>
        <p:nvPicPr>
          <p:cNvPr id="2097183" name="图片 7"/>
          <p:cNvPicPr>
            <a:picLocks noChangeAspect="1"/>
          </p:cNvPicPr>
          <p:nvPr/>
        </p:nvPicPr>
        <p:blipFill>
          <a:blip r:embed="rId3"/>
          <a:srcRect l="24588" t="13433" r="24588" b="26261"/>
          <a:stretch>
            <a:fillRect/>
          </a:stretch>
        </p:blipFill>
        <p:spPr>
          <a:xfrm>
            <a:off x="1115807"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文本占位符 6"/>
          <p:cNvSpPr>
            <a:spLocks noGrp="1"/>
          </p:cNvSpPr>
          <p:nvPr>
            <p:ph type="body" sz="quarter" idx="11"/>
          </p:nvPr>
        </p:nvSpPr>
        <p:spPr>
          <a:xfrm>
            <a:off x="1216933" y="347251"/>
            <a:ext cx="10624871" cy="402291"/>
          </a:xfrm>
        </p:spPr>
        <p:txBody>
          <a:bodyPr/>
          <a:lstStyle/>
          <a:p>
            <a:r>
              <a:rPr lang="zh-CN" altLang="zh-CN" b="0">
                <a:cs typeface="+mn-ea"/>
              </a:rPr>
              <a:t>研究背景与现状</a:t>
            </a:r>
            <a:r>
              <a:rPr lang="en-US" altLang="zh-CN" b="0">
                <a:cs typeface="+mn-ea"/>
              </a:rPr>
              <a:t>      </a:t>
            </a:r>
            <a:r>
              <a:rPr lang="zh-CN" altLang="zh-CN" b="0">
                <a:cs typeface="+mn-ea"/>
              </a:rPr>
              <a:t>研究目标与内容</a:t>
            </a:r>
            <a:r>
              <a:rPr lang="en-US" altLang="zh-CN" b="0">
                <a:cs typeface="+mn-ea"/>
              </a:rPr>
              <a:t>      </a:t>
            </a:r>
            <a:r>
              <a:rPr lang="zh-CN" altLang="zh-CN">
                <a:cs typeface="+mn-ea"/>
              </a:rPr>
              <a:t>技术路线与方法</a:t>
            </a:r>
            <a:r>
              <a:rPr lang="en-US" altLang="zh-CN">
                <a:cs typeface="+mn-ea"/>
              </a:rPr>
              <a:t>     </a:t>
            </a:r>
            <a:r>
              <a:rPr lang="en-US" altLang="zh-CN" b="0">
                <a:cs typeface="+mn-ea"/>
              </a:rPr>
              <a:t> </a:t>
            </a:r>
            <a:r>
              <a:rPr lang="zh-CN" altLang="zh-CN" b="0">
                <a:cs typeface="+mn-ea"/>
              </a:rPr>
              <a:t>预期成果与计划</a:t>
            </a:r>
            <a:endParaRPr lang="en-US" altLang="zh-CN" b="0" dirty="0">
              <a:cs typeface="+mn-ea"/>
            </a:endParaRPr>
          </a:p>
        </p:txBody>
      </p:sp>
      <p:sp>
        <p:nvSpPr>
          <p:cNvPr id="1048843" name="灯片编号占位符 2"/>
          <p:cNvSpPr>
            <a:spLocks noGrp="1"/>
          </p:cNvSpPr>
          <p:nvPr>
            <p:ph type="sldNum" sz="quarter" idx="16"/>
          </p:nvPr>
        </p:nvSpPr>
        <p:spPr>
          <a:xfrm>
            <a:off x="8775700" y="6385331"/>
            <a:ext cx="2743200" cy="365125"/>
          </a:xfrm>
        </p:spPr>
        <p:txBody>
          <a:bodyPr/>
          <a:lstStyle/>
          <a:p>
            <a:fld id="{C79ECAFE-A460-4E13-ABCB-32CAE6136244}" type="slidenum">
              <a:rPr lang="zh-CN" altLang="en-US" smtClean="0"/>
              <a:t>14</a:t>
            </a:fld>
            <a:endParaRPr lang="zh-CN" altLang="en-US" dirty="0"/>
          </a:p>
        </p:txBody>
      </p:sp>
      <p:sp>
        <p:nvSpPr>
          <p:cNvPr id="1048844"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技术路线一：面向分布式推理任务的通信模式抽取与代价预测方法</a:t>
            </a:r>
            <a:endParaRPr lang="zh-CN" altLang="zh-CN" sz="2400" b="1" dirty="0">
              <a:solidFill>
                <a:schemeClr val="accent1"/>
              </a:solidFill>
            </a:endParaRPr>
          </a:p>
        </p:txBody>
      </p:sp>
      <p:sp>
        <p:nvSpPr>
          <p:cNvPr id="1048845" name="Rectangle 2"/>
          <p:cNvSpPr>
            <a:spLocks noChangeArrowheads="1"/>
          </p:cNvSpPr>
          <p:nvPr/>
        </p:nvSpPr>
        <p:spPr bwMode="auto">
          <a:xfrm>
            <a:off x="0" y="0"/>
            <a:ext cx="12192000" cy="457200"/>
          </a:xfrm>
          <a:prstGeom prst="rect">
            <a:avLst/>
          </a:prstGeom>
          <a:noFill/>
          <a:ln>
            <a:noFill/>
          </a:ln>
          <a:effectLst/>
        </p:spPr>
        <p:txBody>
          <a:bodyPr vert="horz" wrap="none" lIns="91440" tIns="45720" rIns="91440" bIns="45720" numCol="1" anchor="ctr" anchorCtr="0" compatLnSpc="1">
            <a:spAutoFit/>
          </a:bodyPr>
          <a:lstStyle/>
          <a:p>
            <a:endParaRPr lang="zh-CN" altLang="en-US"/>
          </a:p>
        </p:txBody>
      </p:sp>
      <p:sp>
        <p:nvSpPr>
          <p:cNvPr id="1048846" name="矩形 1"/>
          <p:cNvSpPr/>
          <p:nvPr/>
        </p:nvSpPr>
        <p:spPr>
          <a:xfrm>
            <a:off x="315540" y="1359943"/>
            <a:ext cx="9762033" cy="1116331"/>
          </a:xfrm>
          <a:prstGeom prst="rect">
            <a:avLst/>
          </a:prstGeom>
        </p:spPr>
        <p:txBody>
          <a:bodyPr wrap="square">
            <a:spAutoFit/>
          </a:bodyPr>
          <a:lstStyle/>
          <a:p>
            <a:pPr marL="800100" lvl="1" indent="-342900">
              <a:lnSpc>
                <a:spcPct val="200000"/>
              </a:lnSpc>
              <a:buFont typeface="Wingdings" panose="05000000000000000000" pitchFamily="2" charset="2"/>
              <a:buChar char="q"/>
            </a:pPr>
            <a:r>
              <a:rPr lang="zh-CN" altLang="en-US" b="1" dirty="0"/>
              <a:t>核心子问题</a:t>
            </a:r>
            <a:r>
              <a:rPr lang="en-US" altLang="zh-CN" b="1" dirty="0"/>
              <a:t>1</a:t>
            </a:r>
            <a:r>
              <a:rPr lang="zh-CN" altLang="en-US" b="1" dirty="0"/>
              <a:t>：</a:t>
            </a:r>
            <a:r>
              <a:rPr lang="zh-CN" altLang="en-US" dirty="0"/>
              <a:t>如何在调度前准确建模分布式推理任务本身的通信需求</a:t>
            </a:r>
            <a:endParaRPr lang="en-US" altLang="zh-CN" dirty="0"/>
          </a:p>
          <a:p>
            <a:pPr marL="800100" lvl="1" indent="-342900">
              <a:lnSpc>
                <a:spcPct val="200000"/>
              </a:lnSpc>
              <a:buFont typeface="Wingdings" panose="05000000000000000000" pitchFamily="2" charset="2"/>
              <a:buChar char="q"/>
            </a:pPr>
            <a:r>
              <a:rPr lang="zh-CN" altLang="en-US" b="1" dirty="0"/>
              <a:t>解决思路</a:t>
            </a:r>
            <a:r>
              <a:rPr lang="en-US" altLang="zh-CN" b="1" dirty="0"/>
              <a:t>1</a:t>
            </a:r>
            <a:r>
              <a:rPr lang="zh-CN" altLang="en-US" dirty="0"/>
              <a:t>：从工作负载与模型配置出发，建立拓扑无关的通信需求分析方法</a:t>
            </a:r>
            <a:endParaRPr lang="en-US" altLang="zh-CN" dirty="0"/>
          </a:p>
        </p:txBody>
      </p:sp>
      <p:sp>
        <p:nvSpPr>
          <p:cNvPr id="4" name="矩形 24">
            <a:extLst>
              <a:ext uri="{FF2B5EF4-FFF2-40B4-BE49-F238E27FC236}">
                <a16:creationId xmlns:a16="http://schemas.microsoft.com/office/drawing/2014/main" id="{2985087C-E6CB-A193-0797-0D51353A4215}"/>
              </a:ext>
            </a:extLst>
          </p:cNvPr>
          <p:cNvSpPr/>
          <p:nvPr/>
        </p:nvSpPr>
        <p:spPr>
          <a:xfrm>
            <a:off x="7054259" y="4880829"/>
            <a:ext cx="3862808" cy="1234455"/>
          </a:xfrm>
          <a:prstGeom prst="rect">
            <a:avLst/>
          </a:prstGeom>
          <a:noFill/>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44">
            <a:extLst>
              <a:ext uri="{FF2B5EF4-FFF2-40B4-BE49-F238E27FC236}">
                <a16:creationId xmlns:a16="http://schemas.microsoft.com/office/drawing/2014/main" id="{9E2C98A7-7F69-DB91-4C3E-67D8D057056B}"/>
              </a:ext>
            </a:extLst>
          </p:cNvPr>
          <p:cNvSpPr txBox="1"/>
          <p:nvPr/>
        </p:nvSpPr>
        <p:spPr>
          <a:xfrm>
            <a:off x="7275017" y="5049805"/>
            <a:ext cx="3755637" cy="833241"/>
          </a:xfrm>
          <a:prstGeom prst="rect">
            <a:avLst/>
          </a:prstGeom>
          <a:noFill/>
        </p:spPr>
        <p:txBody>
          <a:bodyPr wrap="square">
            <a:spAutoFit/>
          </a:bodyPr>
          <a:lstStyle/>
          <a:p>
            <a:pPr>
              <a:lnSpc>
                <a:spcPct val="150000"/>
              </a:lnSpc>
            </a:pPr>
            <a:r>
              <a:rPr lang="zh-CN" altLang="en-US" b="1" dirty="0"/>
              <a:t>输出：</a:t>
            </a:r>
            <a:endParaRPr lang="en-US" altLang="zh-CN" b="1" dirty="0"/>
          </a:p>
          <a:p>
            <a:pPr>
              <a:lnSpc>
                <a:spcPct val="150000"/>
              </a:lnSpc>
            </a:pPr>
            <a:r>
              <a:rPr lang="zh-CN" altLang="en-US" sz="1600" b="1" dirty="0"/>
              <a:t>按消息尺度分桶聚合的</a:t>
            </a:r>
            <a:r>
              <a:rPr lang="zh-CN" altLang="en-US" sz="1600" b="1" dirty="0">
                <a:solidFill>
                  <a:srgbClr val="FF0000"/>
                </a:solidFill>
              </a:rPr>
              <a:t>通信需求向量</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4325CC8-63F5-DA10-43AB-4D47A69ECB84}"/>
                  </a:ext>
                </a:extLst>
              </p:cNvPr>
              <p:cNvSpPr txBox="1"/>
              <p:nvPr/>
            </p:nvSpPr>
            <p:spPr>
              <a:xfrm>
                <a:off x="6393828" y="2734663"/>
                <a:ext cx="5447976" cy="1855444"/>
              </a:xfrm>
              <a:prstGeom prst="rect">
                <a:avLst/>
              </a:prstGeom>
              <a:noFill/>
            </p:spPr>
            <p:txBody>
              <a:bodyPr wrap="square" rtlCol="0">
                <a:spAutoFit/>
              </a:bodyPr>
              <a:lstStyle/>
              <a:p>
                <a:pPr marL="285750" indent="-285750">
                  <a:lnSpc>
                    <a:spcPct val="150000"/>
                  </a:lnSpc>
                  <a:buFont typeface="Wingdings" pitchFamily="2" charset="2"/>
                  <a:buChar char="n"/>
                </a:pPr>
                <a:r>
                  <a:rPr kumimoji="1" lang="zh-CN" altLang="en-US" sz="1600" dirty="0"/>
                  <a:t>通信字节数（等效</a:t>
                </a:r>
                <a:r>
                  <a:rPr lang="zh-CN" altLang="zh-CN" sz="1600" dirty="0"/>
                  <a:t>字节需求</a:t>
                </a:r>
                <a:r>
                  <a:rPr lang="zh-CN" altLang="en-US" sz="1600" dirty="0"/>
                  <a:t>）</a:t>
                </a:r>
                <a:r>
                  <a:rPr kumimoji="1" lang="zh-CN" altLang="en-US" sz="1600" dirty="0"/>
                  <a:t>：</a:t>
                </a:r>
                <a14:m>
                  <m:oMath xmlns:m="http://schemas.openxmlformats.org/officeDocument/2006/math">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𝑏</m:t>
                        </m:r>
                      </m:e>
                      <m:sub>
                        <m:r>
                          <a:rPr lang="en-US" altLang="zh-CN" sz="1600" i="1">
                            <a:latin typeface="Cambria Math" panose="02040503050406030204" pitchFamily="18" charset="0"/>
                          </a:rPr>
                          <m:t>𝑒</m:t>
                        </m:r>
                      </m:sub>
                      <m:sup>
                        <m:r>
                          <a:rPr lang="en-US" altLang="zh-CN" sz="1600" i="1">
                            <a:latin typeface="Cambria Math" panose="02040503050406030204" pitchFamily="18" charset="0"/>
                          </a:rPr>
                          <m:t>𝑒𝑞</m:t>
                        </m:r>
                      </m:sup>
                    </m:sSubSup>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𝛼</m:t>
                        </m:r>
                      </m:e>
                      <m: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𝑜</m:t>
                            </m:r>
                          </m:e>
                          <m:sub>
                            <m:r>
                              <a:rPr lang="en-US" altLang="zh-CN" sz="1600" i="1">
                                <a:latin typeface="Cambria Math" panose="02040503050406030204" pitchFamily="18" charset="0"/>
                              </a:rPr>
                              <m:t>𝑒</m:t>
                            </m:r>
                          </m:sub>
                        </m:sSub>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𝑝</m:t>
                        </m:r>
                      </m:e>
                    </m:d>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𝑚</m:t>
                        </m:r>
                      </m:e>
                      <m:sub>
                        <m:r>
                          <a:rPr lang="en-US" altLang="zh-CN" sz="1600" i="1">
                            <a:latin typeface="Cambria Math" panose="02040503050406030204" pitchFamily="18" charset="0"/>
                          </a:rPr>
                          <m:t>𝑒</m:t>
                        </m:r>
                      </m:sub>
                    </m:sSub>
                  </m:oMath>
                </a14:m>
                <a:endParaRPr kumimoji="1" lang="en-US" altLang="zh-CN" sz="1600" dirty="0"/>
              </a:p>
              <a:p>
                <a:pPr marL="285750" indent="-285750">
                  <a:lnSpc>
                    <a:spcPct val="150000"/>
                  </a:lnSpc>
                  <a:buFont typeface="Wingdings" pitchFamily="2" charset="2"/>
                  <a:buChar char="n"/>
                </a:pPr>
                <a:r>
                  <a:rPr kumimoji="1" lang="zh-CN" altLang="en-US" sz="1600" dirty="0"/>
                  <a:t>通信调用次数（等效轮次需求）：</a:t>
                </a:r>
                <a14:m>
                  <m:oMath xmlns:m="http://schemas.openxmlformats.org/officeDocument/2006/math">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𝑟</m:t>
                        </m:r>
                      </m:e>
                      <m:sub>
                        <m:r>
                          <a:rPr lang="en-US" altLang="zh-CN" sz="1600" i="1">
                            <a:latin typeface="Cambria Math" panose="02040503050406030204" pitchFamily="18" charset="0"/>
                          </a:rPr>
                          <m:t>𝑒</m:t>
                        </m:r>
                      </m:sub>
                      <m:sup>
                        <m:r>
                          <a:rPr lang="en-US" altLang="zh-CN" sz="1600" i="1">
                            <a:latin typeface="Cambria Math" panose="02040503050406030204" pitchFamily="18" charset="0"/>
                          </a:rPr>
                          <m:t>𝑒𝑞</m:t>
                        </m:r>
                      </m:sup>
                    </m:sSubSup>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𝛽</m:t>
                        </m:r>
                      </m:e>
                      <m:sub>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𝑜</m:t>
                            </m:r>
                          </m:e>
                          <m:sub>
                            <m:r>
                              <a:rPr lang="en-US" altLang="zh-CN" sz="1600" i="1">
                                <a:latin typeface="Cambria Math" panose="02040503050406030204" pitchFamily="18" charset="0"/>
                              </a:rPr>
                              <m:t>𝑒</m:t>
                            </m:r>
                          </m:sub>
                        </m:sSub>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𝑝</m:t>
                        </m:r>
                      </m:e>
                    </m:d>
                  </m:oMath>
                </a14:m>
                <a:endParaRPr kumimoji="1" lang="en-US" altLang="zh-CN" sz="1600" dirty="0"/>
              </a:p>
              <a:p>
                <a:pPr marL="742950" lvl="1" indent="-285750">
                  <a:lnSpc>
                    <a:spcPct val="150000"/>
                  </a:lnSpc>
                  <a:buFont typeface="Wingdings" pitchFamily="2" charset="2"/>
                  <a:buChar char="p"/>
                </a:pPr>
                <a:r>
                  <a:rPr kumimoji="1" lang="zh-CN" altLang="en-US" sz="1600" dirty="0"/>
                  <a:t>以 </a:t>
                </a:r>
                <a:r>
                  <a:rPr kumimoji="1" lang="en-US" altLang="zh-CN" sz="1600" dirty="0"/>
                  <a:t>TP</a:t>
                </a:r>
                <a:r>
                  <a:rPr kumimoji="1" lang="zh-CN" altLang="en-US" sz="1600" dirty="0"/>
                  <a:t> 的 </a:t>
                </a:r>
                <a:r>
                  <a:rPr kumimoji="1" lang="en-US" altLang="zh-CN" sz="1600" dirty="0" err="1"/>
                  <a:t>AllReduce</a:t>
                </a:r>
                <a:r>
                  <a:rPr kumimoji="1" lang="zh-CN" altLang="en-US" sz="1600" dirty="0"/>
                  <a:t> 为例，采用 </a:t>
                </a:r>
                <a:r>
                  <a:rPr lang="en-US" altLang="zh-CN" sz="1600" dirty="0"/>
                  <a:t>ring-style</a:t>
                </a:r>
                <a:r>
                  <a:rPr lang="zh-CN" altLang="en-US" sz="1600" dirty="0"/>
                  <a:t> 折算：</a:t>
                </a:r>
                <a:endParaRPr lang="en-US" altLang="zh-CN" sz="1600" dirty="0"/>
              </a:p>
              <a:p>
                <a:pPr lvl="1" algn="ctr">
                  <a:lnSpc>
                    <a:spcPct val="150000"/>
                  </a:lnSpc>
                </a:pP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𝛼</m:t>
                        </m:r>
                      </m:e>
                      <m:sub>
                        <m:r>
                          <a:rPr lang="en-US" altLang="zh-CN" sz="1600" i="1">
                            <a:latin typeface="Cambria Math" panose="02040503050406030204" pitchFamily="18" charset="0"/>
                          </a:rPr>
                          <m:t>𝐴𝑅</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𝑝</m:t>
                        </m:r>
                      </m:e>
                    </m:d>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2</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𝑝</m:t>
                            </m:r>
                            <m:r>
                              <a:rPr lang="en-US" altLang="zh-CN" sz="1600" i="1">
                                <a:latin typeface="Cambria Math" panose="02040503050406030204" pitchFamily="18" charset="0"/>
                              </a:rPr>
                              <m:t>−1</m:t>
                            </m:r>
                          </m:e>
                        </m:d>
                      </m:num>
                      <m:den>
                        <m:r>
                          <a:rPr lang="en-US" altLang="zh-CN" sz="1600" i="1">
                            <a:latin typeface="Cambria Math" panose="02040503050406030204" pitchFamily="18" charset="0"/>
                          </a:rPr>
                          <m:t>𝑝</m:t>
                        </m:r>
                      </m:den>
                    </m:f>
                  </m:oMath>
                </a14:m>
                <a:r>
                  <a:rPr kumimoji="1" lang="zh-CN" altLang="en-US" sz="1600" dirty="0"/>
                  <a:t> ，</a:t>
                </a:r>
                <a:r>
                  <a:rPr lang="zh-CN" altLang="en-US" sz="1600" dirty="0"/>
                  <a:t> </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𝛽</m:t>
                        </m:r>
                      </m:e>
                      <m:sub>
                        <m:r>
                          <a:rPr lang="en-US" altLang="zh-CN" sz="1600" i="1">
                            <a:latin typeface="Cambria Math" panose="02040503050406030204" pitchFamily="18" charset="0"/>
                          </a:rPr>
                          <m:t>𝐴𝑅</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𝑝</m:t>
                        </m:r>
                      </m:e>
                    </m:d>
                    <m:r>
                      <a:rPr lang="en-US" altLang="zh-CN" sz="1600" i="1">
                        <a:latin typeface="Cambria Math" panose="02040503050406030204" pitchFamily="18" charset="0"/>
                      </a:rPr>
                      <m:t>=2</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𝑝</m:t>
                        </m:r>
                        <m:r>
                          <a:rPr lang="en-US" altLang="zh-CN" sz="1600" i="1">
                            <a:latin typeface="Cambria Math" panose="02040503050406030204" pitchFamily="18" charset="0"/>
                          </a:rPr>
                          <m:t>−1</m:t>
                        </m:r>
                      </m:e>
                    </m:d>
                  </m:oMath>
                </a14:m>
                <a:r>
                  <a:rPr lang="zh-CN" altLang="zh-CN" sz="1600" dirty="0">
                    <a:effectLst/>
                  </a:rPr>
                  <a:t> </a:t>
                </a:r>
                <a:endParaRPr kumimoji="1" lang="zh-CN" altLang="en-US" sz="1600" dirty="0"/>
              </a:p>
            </p:txBody>
          </p:sp>
        </mc:Choice>
        <mc:Fallback xmlns="">
          <p:sp>
            <p:nvSpPr>
              <p:cNvPr id="2" name="文本框 1">
                <a:extLst>
                  <a:ext uri="{FF2B5EF4-FFF2-40B4-BE49-F238E27FC236}">
                    <a16:creationId xmlns:a16="http://schemas.microsoft.com/office/drawing/2014/main" id="{E4325CC8-63F5-DA10-43AB-4D47A69ECB84}"/>
                  </a:ext>
                </a:extLst>
              </p:cNvPr>
              <p:cNvSpPr txBox="1">
                <a:spLocks noRot="1" noChangeAspect="1" noMove="1" noResize="1" noEditPoints="1" noAdjustHandles="1" noChangeArrowheads="1" noChangeShapeType="1" noTextEdit="1"/>
              </p:cNvSpPr>
              <p:nvPr/>
            </p:nvSpPr>
            <p:spPr>
              <a:xfrm>
                <a:off x="6393828" y="2734663"/>
                <a:ext cx="5447976" cy="1855444"/>
              </a:xfrm>
              <a:prstGeom prst="rect">
                <a:avLst/>
              </a:prstGeom>
              <a:blipFill>
                <a:blip r:embed="rId3"/>
                <a:stretch>
                  <a:fillRect l="-465"/>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F74F8B1E-CD2A-91C1-0528-CD09271F06E0}"/>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15355" y="2587129"/>
            <a:ext cx="5564886" cy="38008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2" name="文本占位符 6"/>
          <p:cNvSpPr>
            <a:spLocks noGrp="1"/>
          </p:cNvSpPr>
          <p:nvPr>
            <p:ph type="body" sz="quarter" idx="11"/>
          </p:nvPr>
        </p:nvSpPr>
        <p:spPr>
          <a:xfrm>
            <a:off x="1216933" y="347251"/>
            <a:ext cx="10624871" cy="402291"/>
          </a:xfrm>
        </p:spPr>
        <p:txBody>
          <a:bodyPr/>
          <a:lstStyle/>
          <a:p>
            <a:r>
              <a:rPr lang="zh-CN" altLang="zh-CN" b="0">
                <a:cs typeface="+mn-ea"/>
              </a:rPr>
              <a:t>研究背景与现状</a:t>
            </a:r>
            <a:r>
              <a:rPr lang="en-US" altLang="zh-CN" b="0">
                <a:cs typeface="+mn-ea"/>
              </a:rPr>
              <a:t>      </a:t>
            </a:r>
            <a:r>
              <a:rPr lang="zh-CN" altLang="zh-CN" b="0">
                <a:cs typeface="+mn-ea"/>
              </a:rPr>
              <a:t>研究目标与内容</a:t>
            </a:r>
            <a:r>
              <a:rPr lang="en-US" altLang="zh-CN" b="0">
                <a:cs typeface="+mn-ea"/>
              </a:rPr>
              <a:t>      </a:t>
            </a:r>
            <a:r>
              <a:rPr lang="zh-CN" altLang="zh-CN">
                <a:cs typeface="+mn-ea"/>
              </a:rPr>
              <a:t>技术路线与方法</a:t>
            </a:r>
            <a:r>
              <a:rPr lang="en-US" altLang="zh-CN">
                <a:cs typeface="+mn-ea"/>
              </a:rPr>
              <a:t>     </a:t>
            </a:r>
            <a:r>
              <a:rPr lang="en-US" altLang="zh-CN" b="0">
                <a:cs typeface="+mn-ea"/>
              </a:rPr>
              <a:t> </a:t>
            </a:r>
            <a:r>
              <a:rPr lang="zh-CN" altLang="zh-CN" b="0">
                <a:cs typeface="+mn-ea"/>
              </a:rPr>
              <a:t>预期成果与计划</a:t>
            </a:r>
            <a:endParaRPr lang="en-US" altLang="zh-CN" b="0" dirty="0">
              <a:cs typeface="+mn-ea"/>
            </a:endParaRPr>
          </a:p>
        </p:txBody>
      </p:sp>
      <p:sp>
        <p:nvSpPr>
          <p:cNvPr id="1048873" name="日期占位符 1"/>
          <p:cNvSpPr>
            <a:spLocks noGrp="1"/>
          </p:cNvSpPr>
          <p:nvPr>
            <p:ph type="dt" sz="half" idx="14"/>
          </p:nvPr>
        </p:nvSpPr>
        <p:spPr>
          <a:xfrm>
            <a:off x="660400" y="6235702"/>
            <a:ext cx="3342640" cy="365125"/>
          </a:xfrm>
        </p:spPr>
        <p:txBody>
          <a:bodyPr/>
          <a:lstStyle/>
          <a:p>
            <a:r>
              <a:rPr lang="zh-CN" altLang="en-US" i="1" spc="300" dirty="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1048874" name="灯片编号占位符 2"/>
          <p:cNvSpPr>
            <a:spLocks noGrp="1"/>
          </p:cNvSpPr>
          <p:nvPr>
            <p:ph type="sldNum" sz="quarter" idx="16"/>
          </p:nvPr>
        </p:nvSpPr>
        <p:spPr/>
        <p:txBody>
          <a:bodyPr/>
          <a:lstStyle/>
          <a:p>
            <a:fld id="{C79ECAFE-A460-4E13-ABCB-32CAE6136244}" type="slidenum">
              <a:rPr lang="zh-CN" altLang="en-US" smtClean="0"/>
              <a:t>15</a:t>
            </a:fld>
            <a:endParaRPr lang="zh-CN" altLang="en-US" dirty="0"/>
          </a:p>
        </p:txBody>
      </p:sp>
      <p:sp>
        <p:nvSpPr>
          <p:cNvPr id="1048875"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技术路线一：面向分布式推理任务的通信模式抽取与代价预测方法</a:t>
            </a:r>
            <a:endParaRPr lang="zh-CN" altLang="zh-CN" sz="2400" b="1" dirty="0">
              <a:solidFill>
                <a:schemeClr val="accent1"/>
              </a:solidFill>
            </a:endParaRPr>
          </a:p>
        </p:txBody>
      </p:sp>
      <p:sp>
        <p:nvSpPr>
          <p:cNvPr id="2" name="矩形 1">
            <a:extLst>
              <a:ext uri="{FF2B5EF4-FFF2-40B4-BE49-F238E27FC236}">
                <a16:creationId xmlns:a16="http://schemas.microsoft.com/office/drawing/2014/main" id="{B7A78A03-8994-26F2-98FA-ADA541F0F80A}"/>
              </a:ext>
            </a:extLst>
          </p:cNvPr>
          <p:cNvSpPr/>
          <p:nvPr/>
        </p:nvSpPr>
        <p:spPr>
          <a:xfrm>
            <a:off x="315540" y="1359943"/>
            <a:ext cx="10711048" cy="1116781"/>
          </a:xfrm>
          <a:prstGeom prst="rect">
            <a:avLst/>
          </a:prstGeom>
        </p:spPr>
        <p:txBody>
          <a:bodyPr wrap="square">
            <a:spAutoFit/>
          </a:bodyPr>
          <a:lstStyle/>
          <a:p>
            <a:pPr marL="800100" lvl="1" indent="-342900">
              <a:lnSpc>
                <a:spcPct val="200000"/>
              </a:lnSpc>
              <a:buFont typeface="Wingdings" panose="05000000000000000000" pitchFamily="2" charset="2"/>
              <a:buChar char="q"/>
            </a:pPr>
            <a:r>
              <a:rPr lang="zh-CN" altLang="en-US" b="1" dirty="0">
                <a:latin typeface="Microsoft YaHei" panose="020B0503020204020204" pitchFamily="34" charset="-122"/>
                <a:ea typeface="Microsoft YaHei" panose="020B0503020204020204" pitchFamily="34" charset="-122"/>
              </a:rPr>
              <a:t>核心子问题</a:t>
            </a:r>
            <a:r>
              <a:rPr lang="en-US" altLang="zh-CN" b="1" dirty="0">
                <a:latin typeface="Microsoft YaHei" panose="020B0503020204020204" pitchFamily="34" charset="-122"/>
                <a:ea typeface="Microsoft YaHei" panose="020B0503020204020204" pitchFamily="34" charset="-122"/>
              </a:rPr>
              <a:t>2</a:t>
            </a:r>
            <a:r>
              <a:rPr lang="zh-CN" altLang="en-US" b="1"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如何结合集群拓扑估计不同部署方案下的通信代价</a:t>
            </a:r>
            <a:endParaRPr lang="en-US" altLang="zh-CN" dirty="0">
              <a:latin typeface="Microsoft YaHei" panose="020B0503020204020204" pitchFamily="34" charset="-122"/>
              <a:ea typeface="Microsoft YaHei" panose="020B0503020204020204" pitchFamily="34" charset="-122"/>
            </a:endParaRPr>
          </a:p>
          <a:p>
            <a:pPr marL="800100" lvl="1" indent="-342900">
              <a:lnSpc>
                <a:spcPct val="200000"/>
              </a:lnSpc>
              <a:buFont typeface="Wingdings" panose="05000000000000000000" pitchFamily="2" charset="2"/>
              <a:buChar char="q"/>
            </a:pPr>
            <a:r>
              <a:rPr lang="zh-CN" altLang="en-US" b="1" dirty="0">
                <a:latin typeface="Microsoft YaHei" panose="020B0503020204020204" pitchFamily="34" charset="-122"/>
                <a:ea typeface="Microsoft YaHei" panose="020B0503020204020204" pitchFamily="34" charset="-122"/>
              </a:rPr>
              <a:t>解决思路</a:t>
            </a:r>
            <a:r>
              <a:rPr lang="en-US" altLang="zh-CN" b="1" dirty="0">
                <a:latin typeface="Microsoft YaHei" panose="020B0503020204020204" pitchFamily="34" charset="-122"/>
                <a:ea typeface="Microsoft YaHei" panose="020B0503020204020204" pitchFamily="34" charset="-122"/>
              </a:rPr>
              <a:t>2</a:t>
            </a:r>
            <a:r>
              <a:rPr lang="zh-CN" altLang="en-US" dirty="0">
                <a:latin typeface="Microsoft YaHei" panose="020B0503020204020204" pitchFamily="34" charset="-122"/>
                <a:ea typeface="Microsoft YaHei" panose="020B0503020204020204" pitchFamily="34" charset="-122"/>
              </a:rPr>
              <a:t>：建立面向拓扑的消息尺度通信代价模型，并结合深度神经网络实现通信时延拟合</a:t>
            </a:r>
            <a:endParaRPr lang="en-US" altLang="zh-CN" dirty="0">
              <a:latin typeface="Microsoft YaHei" panose="020B0503020204020204" pitchFamily="34" charset="-122"/>
              <a:ea typeface="Microsoft YaHei" panose="020B0503020204020204" pitchFamily="34" charset="-122"/>
            </a:endParaRPr>
          </a:p>
        </p:txBody>
      </p:sp>
      <p:pic>
        <p:nvPicPr>
          <p:cNvPr id="4" name="图片 3">
            <a:extLst>
              <a:ext uri="{FF2B5EF4-FFF2-40B4-BE49-F238E27FC236}">
                <a16:creationId xmlns:a16="http://schemas.microsoft.com/office/drawing/2014/main" id="{C5303177-D99A-F602-CA00-B2AD550DA44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34126" y="2756856"/>
            <a:ext cx="10711048" cy="334834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0" name="文本占位符 6"/>
          <p:cNvSpPr>
            <a:spLocks noGrp="1"/>
          </p:cNvSpPr>
          <p:nvPr>
            <p:ph type="body" sz="quarter" idx="11"/>
          </p:nvPr>
        </p:nvSpPr>
        <p:spPr>
          <a:xfrm>
            <a:off x="1216933" y="347251"/>
            <a:ext cx="10624871" cy="402291"/>
          </a:xfrm>
        </p:spPr>
        <p:txBody>
          <a:bodyPr/>
          <a:lstStyle/>
          <a:p>
            <a:r>
              <a:rPr lang="zh-CN" altLang="zh-CN" b="0">
                <a:cs typeface="+mn-ea"/>
              </a:rPr>
              <a:t>研究背景与现状</a:t>
            </a:r>
            <a:r>
              <a:rPr lang="en-US" altLang="zh-CN" b="0">
                <a:cs typeface="+mn-ea"/>
              </a:rPr>
              <a:t>      </a:t>
            </a:r>
            <a:r>
              <a:rPr lang="zh-CN" altLang="zh-CN" b="0">
                <a:cs typeface="+mn-ea"/>
              </a:rPr>
              <a:t>研究目标与内容</a:t>
            </a:r>
            <a:r>
              <a:rPr lang="en-US" altLang="zh-CN" b="0">
                <a:cs typeface="+mn-ea"/>
              </a:rPr>
              <a:t>      </a:t>
            </a:r>
            <a:r>
              <a:rPr lang="zh-CN" altLang="zh-CN">
                <a:cs typeface="+mn-ea"/>
              </a:rPr>
              <a:t>技术路线与方法</a:t>
            </a:r>
            <a:r>
              <a:rPr lang="en-US" altLang="zh-CN">
                <a:cs typeface="+mn-ea"/>
              </a:rPr>
              <a:t>     </a:t>
            </a:r>
            <a:r>
              <a:rPr lang="en-US" altLang="zh-CN" b="0">
                <a:cs typeface="+mn-ea"/>
              </a:rPr>
              <a:t> </a:t>
            </a:r>
            <a:r>
              <a:rPr lang="zh-CN" altLang="zh-CN" b="0">
                <a:cs typeface="+mn-ea"/>
              </a:rPr>
              <a:t>预期成果与计划</a:t>
            </a:r>
            <a:endParaRPr lang="en-US" altLang="zh-CN" b="0" dirty="0">
              <a:cs typeface="+mn-ea"/>
            </a:endParaRPr>
          </a:p>
        </p:txBody>
      </p:sp>
      <p:sp>
        <p:nvSpPr>
          <p:cNvPr id="1048922" name="灯片编号占位符 2"/>
          <p:cNvSpPr>
            <a:spLocks noGrp="1"/>
          </p:cNvSpPr>
          <p:nvPr>
            <p:ph type="sldNum" sz="quarter" idx="16"/>
          </p:nvPr>
        </p:nvSpPr>
        <p:spPr/>
        <p:txBody>
          <a:bodyPr/>
          <a:lstStyle/>
          <a:p>
            <a:fld id="{C79ECAFE-A460-4E13-ABCB-32CAE6136244}" type="slidenum">
              <a:rPr lang="zh-CN" altLang="en-US" smtClean="0"/>
              <a:t>16</a:t>
            </a:fld>
            <a:endParaRPr lang="zh-CN" altLang="en-US" dirty="0"/>
          </a:p>
        </p:txBody>
      </p:sp>
      <p:sp>
        <p:nvSpPr>
          <p:cNvPr id="1048923"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技术路线二：面向边缘集群的通信感知与细粒度 </a:t>
            </a:r>
            <a:r>
              <a:rPr lang="en" altLang="zh-CN" sz="2400" b="1" dirty="0">
                <a:solidFill>
                  <a:schemeClr val="accent1"/>
                </a:solidFill>
              </a:rPr>
              <a:t>GPU </a:t>
            </a:r>
            <a:r>
              <a:rPr lang="zh-CN" altLang="en-US" sz="2400" b="1" dirty="0">
                <a:solidFill>
                  <a:schemeClr val="accent1"/>
                </a:solidFill>
              </a:rPr>
              <a:t>资源协同调度机制</a:t>
            </a:r>
          </a:p>
        </p:txBody>
      </p:sp>
      <p:sp>
        <p:nvSpPr>
          <p:cNvPr id="1048924" name="矩形 17"/>
          <p:cNvSpPr/>
          <p:nvPr/>
        </p:nvSpPr>
        <p:spPr>
          <a:xfrm>
            <a:off x="305532" y="1411316"/>
            <a:ext cx="11332286" cy="1116331"/>
          </a:xfrm>
          <a:prstGeom prst="rect">
            <a:avLst/>
          </a:prstGeom>
        </p:spPr>
        <p:txBody>
          <a:bodyPr wrap="square">
            <a:spAutoFit/>
          </a:bodyPr>
          <a:lstStyle/>
          <a:p>
            <a:pPr marL="800100" lvl="1" indent="-342900">
              <a:lnSpc>
                <a:spcPct val="200000"/>
              </a:lnSpc>
              <a:buFont typeface="Wingdings" panose="05000000000000000000" pitchFamily="2" charset="2"/>
              <a:buChar char="q"/>
            </a:pPr>
            <a:r>
              <a:rPr lang="zh-CN" altLang="en-US" b="1" dirty="0"/>
              <a:t>核心子问题</a:t>
            </a:r>
            <a:r>
              <a:rPr lang="en-US" altLang="zh-CN" b="1" dirty="0"/>
              <a:t>1</a:t>
            </a:r>
            <a:r>
              <a:rPr lang="zh-CN" altLang="en-US" b="1" dirty="0"/>
              <a:t>：</a:t>
            </a:r>
            <a:r>
              <a:rPr lang="zh-CN" altLang="en-US" dirty="0"/>
              <a:t>在给定任务配置下，如何放置分布式推理实例从而降低系统通信开销</a:t>
            </a:r>
            <a:endParaRPr lang="en-US" altLang="zh-CN" b="1" dirty="0"/>
          </a:p>
          <a:p>
            <a:pPr marL="800100" lvl="1" indent="-342900">
              <a:lnSpc>
                <a:spcPct val="200000"/>
              </a:lnSpc>
              <a:buFont typeface="Wingdings" panose="05000000000000000000" pitchFamily="2" charset="2"/>
              <a:buChar char="q"/>
            </a:pPr>
            <a:r>
              <a:rPr lang="zh-CN" altLang="en-US" b="1" dirty="0"/>
              <a:t>解决思路</a:t>
            </a:r>
            <a:r>
              <a:rPr lang="en-US" altLang="zh-CN" b="1" dirty="0"/>
              <a:t>1</a:t>
            </a:r>
            <a:r>
              <a:rPr lang="zh-CN" altLang="en-US" dirty="0"/>
              <a:t>：结合通信代价预测方法与集群拓扑信息，构建面向通信总代价最小化的任务放置策略</a:t>
            </a:r>
            <a:endParaRPr lang="en-US" altLang="zh-CN" dirty="0"/>
          </a:p>
        </p:txBody>
      </p:sp>
      <p:grpSp>
        <p:nvGrpSpPr>
          <p:cNvPr id="2" name="组合 1">
            <a:extLst>
              <a:ext uri="{FF2B5EF4-FFF2-40B4-BE49-F238E27FC236}">
                <a16:creationId xmlns:a16="http://schemas.microsoft.com/office/drawing/2014/main" id="{2F090D72-D273-5FB9-7E03-27A22AC69B02}"/>
              </a:ext>
            </a:extLst>
          </p:cNvPr>
          <p:cNvGrpSpPr/>
          <p:nvPr/>
        </p:nvGrpSpPr>
        <p:grpSpPr>
          <a:xfrm>
            <a:off x="1353787" y="2656884"/>
            <a:ext cx="9724334" cy="1398579"/>
            <a:chOff x="1216933" y="2281647"/>
            <a:chExt cx="5150600" cy="2422495"/>
          </a:xfrm>
        </p:grpSpPr>
        <p:sp>
          <p:nvSpPr>
            <p:cNvPr id="6" name="矩形 24">
              <a:extLst>
                <a:ext uri="{FF2B5EF4-FFF2-40B4-BE49-F238E27FC236}">
                  <a16:creationId xmlns:a16="http://schemas.microsoft.com/office/drawing/2014/main" id="{C820310C-6484-3582-BB89-74BAACB8AA19}"/>
                </a:ext>
              </a:extLst>
            </p:cNvPr>
            <p:cNvSpPr/>
            <p:nvPr/>
          </p:nvSpPr>
          <p:spPr>
            <a:xfrm>
              <a:off x="1216933" y="2281647"/>
              <a:ext cx="4856689" cy="2422495"/>
            </a:xfrm>
            <a:prstGeom prst="rect">
              <a:avLst/>
            </a:prstGeom>
            <a:noFill/>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1">
              <a:extLst>
                <a:ext uri="{FF2B5EF4-FFF2-40B4-BE49-F238E27FC236}">
                  <a16:creationId xmlns:a16="http://schemas.microsoft.com/office/drawing/2014/main" id="{5938DF05-9D03-39D6-05E9-DE4D5BE8D800}"/>
                </a:ext>
              </a:extLst>
            </p:cNvPr>
            <p:cNvSpPr txBox="1"/>
            <p:nvPr/>
          </p:nvSpPr>
          <p:spPr>
            <a:xfrm>
              <a:off x="1369261" y="2281648"/>
              <a:ext cx="4998272" cy="1116331"/>
            </a:xfrm>
            <a:prstGeom prst="rect">
              <a:avLst/>
            </a:prstGeom>
            <a:noFill/>
          </p:spPr>
          <p:txBody>
            <a:bodyPr wrap="square" rtlCol="0">
              <a:spAutoFit/>
            </a:bodyPr>
            <a:lstStyle/>
            <a:p>
              <a:pPr marL="342900" indent="-342900">
                <a:lnSpc>
                  <a:spcPct val="200000"/>
                </a:lnSpc>
                <a:buFont typeface="Wingdings" panose="05000000000000000000" pitchFamily="2" charset="2"/>
                <a:buChar char="n"/>
              </a:pPr>
              <a:r>
                <a:rPr lang="zh-CN" altLang="en-US" dirty="0"/>
                <a:t>利用</a:t>
              </a:r>
              <a:r>
                <a:rPr lang="zh-CN" altLang="en-US" b="1" dirty="0"/>
                <a:t>通信时延拟合模型</a:t>
              </a:r>
              <a:r>
                <a:rPr lang="zh-CN" altLang="en-US" dirty="0"/>
                <a:t>评估各方案代价：</a:t>
              </a:r>
              <a:endParaRPr lang="en-US" altLang="zh-CN" dirty="0"/>
            </a:p>
            <a:p>
              <a:pPr marL="342900" indent="-342900">
                <a:lnSpc>
                  <a:spcPct val="200000"/>
                </a:lnSpc>
                <a:buFont typeface="Wingdings" panose="05000000000000000000" pitchFamily="2" charset="2"/>
                <a:buChar char="n"/>
              </a:pPr>
              <a:r>
                <a:rPr lang="zh-CN" altLang="en-US" dirty="0"/>
                <a:t>选择</a:t>
              </a:r>
              <a:r>
                <a:rPr lang="zh-CN" altLang="en-US" b="1" dirty="0"/>
                <a:t>总预测通信时延最小</a:t>
              </a:r>
              <a:r>
                <a:rPr lang="zh-CN" altLang="en-US" dirty="0"/>
                <a:t>的部署方案：</a:t>
              </a:r>
              <a:endParaRPr lang="en-US" altLang="zh-CN" sz="2000" dirty="0"/>
            </a:p>
          </p:txBody>
        </p:sp>
      </p:grpSp>
      <p:pic>
        <p:nvPicPr>
          <p:cNvPr id="10" name="图片 9">
            <a:extLst>
              <a:ext uri="{FF2B5EF4-FFF2-40B4-BE49-F238E27FC236}">
                <a16:creationId xmlns:a16="http://schemas.microsoft.com/office/drawing/2014/main" id="{B5AF8D43-32F9-D1DB-E738-E0EC639A085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096000" y="2786121"/>
            <a:ext cx="2813873" cy="597948"/>
          </a:xfrm>
          <a:prstGeom prst="rect">
            <a:avLst/>
          </a:prstGeom>
        </p:spPr>
      </p:pic>
      <p:pic>
        <p:nvPicPr>
          <p:cNvPr id="11" name="图片 10">
            <a:extLst>
              <a:ext uri="{FF2B5EF4-FFF2-40B4-BE49-F238E27FC236}">
                <a16:creationId xmlns:a16="http://schemas.microsoft.com/office/drawing/2014/main" id="{6876D088-7B82-DF29-CFFE-DD7E9F772D7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911489" y="3254832"/>
            <a:ext cx="4325363" cy="726397"/>
          </a:xfrm>
          <a:prstGeom prst="rect">
            <a:avLst/>
          </a:prstGeom>
        </p:spPr>
      </p:pic>
      <p:pic>
        <p:nvPicPr>
          <p:cNvPr id="3" name="图片 2">
            <a:extLst>
              <a:ext uri="{FF2B5EF4-FFF2-40B4-BE49-F238E27FC236}">
                <a16:creationId xmlns:a16="http://schemas.microsoft.com/office/drawing/2014/main" id="{99286D41-8534-3971-E82F-B19C60E3EB5C}"/>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148209" y="4184699"/>
            <a:ext cx="9895582" cy="24991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6" name="文本占位符 6"/>
          <p:cNvSpPr>
            <a:spLocks noGrp="1"/>
          </p:cNvSpPr>
          <p:nvPr>
            <p:ph type="body" sz="quarter" idx="11"/>
          </p:nvPr>
        </p:nvSpPr>
        <p:spPr>
          <a:xfrm>
            <a:off x="1216933" y="347251"/>
            <a:ext cx="10624871" cy="402291"/>
          </a:xfrm>
        </p:spPr>
        <p:txBody>
          <a:bodyPr/>
          <a:lstStyle/>
          <a:p>
            <a:r>
              <a:rPr lang="zh-CN" altLang="zh-CN" b="0">
                <a:cs typeface="+mn-ea"/>
              </a:rPr>
              <a:t>研究背景与现状</a:t>
            </a:r>
            <a:r>
              <a:rPr lang="en-US" altLang="zh-CN" b="0">
                <a:cs typeface="+mn-ea"/>
              </a:rPr>
              <a:t>      </a:t>
            </a:r>
            <a:r>
              <a:rPr lang="zh-CN" altLang="zh-CN" b="0">
                <a:cs typeface="+mn-ea"/>
              </a:rPr>
              <a:t>研究目标与内容</a:t>
            </a:r>
            <a:r>
              <a:rPr lang="en-US" altLang="zh-CN" b="0">
                <a:cs typeface="+mn-ea"/>
              </a:rPr>
              <a:t>      </a:t>
            </a:r>
            <a:r>
              <a:rPr lang="zh-CN" altLang="zh-CN">
                <a:cs typeface="+mn-ea"/>
              </a:rPr>
              <a:t>技术路线与方法</a:t>
            </a:r>
            <a:r>
              <a:rPr lang="en-US" altLang="zh-CN">
                <a:cs typeface="+mn-ea"/>
              </a:rPr>
              <a:t>     </a:t>
            </a:r>
            <a:r>
              <a:rPr lang="en-US" altLang="zh-CN" b="0">
                <a:cs typeface="+mn-ea"/>
              </a:rPr>
              <a:t> </a:t>
            </a:r>
            <a:r>
              <a:rPr lang="zh-CN" altLang="zh-CN" b="0">
                <a:cs typeface="+mn-ea"/>
              </a:rPr>
              <a:t>预期成果与计划</a:t>
            </a:r>
            <a:endParaRPr lang="en-US" altLang="zh-CN" b="0" dirty="0">
              <a:cs typeface="+mn-ea"/>
            </a:endParaRPr>
          </a:p>
        </p:txBody>
      </p:sp>
      <p:sp>
        <p:nvSpPr>
          <p:cNvPr id="1048937" name="日期占位符 1"/>
          <p:cNvSpPr>
            <a:spLocks noGrp="1"/>
          </p:cNvSpPr>
          <p:nvPr>
            <p:ph type="dt" sz="half" idx="14"/>
          </p:nvPr>
        </p:nvSpPr>
        <p:spPr>
          <a:xfrm>
            <a:off x="660400" y="6235702"/>
            <a:ext cx="3342640" cy="365125"/>
          </a:xfrm>
        </p:spPr>
        <p:txBody>
          <a:bodyPr/>
          <a:lstStyle/>
          <a:p>
            <a:r>
              <a:rPr lang="zh-CN" altLang="en-US" i="1" spc="300" dirty="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1048938" name="灯片编号占位符 2"/>
          <p:cNvSpPr>
            <a:spLocks noGrp="1"/>
          </p:cNvSpPr>
          <p:nvPr>
            <p:ph type="sldNum" sz="quarter" idx="16"/>
          </p:nvPr>
        </p:nvSpPr>
        <p:spPr>
          <a:xfrm>
            <a:off x="8788400" y="6413426"/>
            <a:ext cx="2743200" cy="365125"/>
          </a:xfrm>
        </p:spPr>
        <p:txBody>
          <a:bodyPr/>
          <a:lstStyle/>
          <a:p>
            <a:fld id="{C79ECAFE-A460-4E13-ABCB-32CAE6136244}" type="slidenum">
              <a:rPr lang="zh-CN" altLang="en-US" smtClean="0"/>
              <a:t>17</a:t>
            </a:fld>
            <a:endParaRPr lang="zh-CN" altLang="en-US" dirty="0"/>
          </a:p>
        </p:txBody>
      </p:sp>
      <p:sp>
        <p:nvSpPr>
          <p:cNvPr id="1048939"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技术路线二：面向边缘集群的通信感知与细粒度 </a:t>
            </a:r>
            <a:r>
              <a:rPr lang="en" altLang="zh-CN" sz="2400" b="1" dirty="0">
                <a:solidFill>
                  <a:schemeClr val="accent1"/>
                </a:solidFill>
              </a:rPr>
              <a:t>GPU </a:t>
            </a:r>
            <a:r>
              <a:rPr lang="zh-CN" altLang="en-US" sz="2400" b="1" dirty="0">
                <a:solidFill>
                  <a:schemeClr val="accent1"/>
                </a:solidFill>
              </a:rPr>
              <a:t>资源协同调度机制</a:t>
            </a:r>
          </a:p>
        </p:txBody>
      </p:sp>
      <p:sp>
        <p:nvSpPr>
          <p:cNvPr id="1048940" name="矩形 28"/>
          <p:cNvSpPr/>
          <p:nvPr/>
        </p:nvSpPr>
        <p:spPr>
          <a:xfrm>
            <a:off x="315540" y="1359943"/>
            <a:ext cx="11044535" cy="1116331"/>
          </a:xfrm>
          <a:prstGeom prst="rect">
            <a:avLst/>
          </a:prstGeom>
        </p:spPr>
        <p:txBody>
          <a:bodyPr wrap="square">
            <a:spAutoFit/>
          </a:bodyPr>
          <a:lstStyle/>
          <a:p>
            <a:pPr marL="800100" lvl="1" indent="-342900">
              <a:lnSpc>
                <a:spcPct val="200000"/>
              </a:lnSpc>
              <a:buFont typeface="Wingdings" panose="05000000000000000000" pitchFamily="2" charset="2"/>
              <a:buChar char="q"/>
            </a:pPr>
            <a:r>
              <a:rPr lang="zh-CN" altLang="en-US" b="1" dirty="0">
                <a:latin typeface="+mn-ea"/>
              </a:rPr>
              <a:t> 核心子问题</a:t>
            </a:r>
            <a:r>
              <a:rPr lang="en-US" altLang="zh-CN" b="1" dirty="0">
                <a:latin typeface="+mn-ea"/>
              </a:rPr>
              <a:t>2</a:t>
            </a:r>
            <a:r>
              <a:rPr lang="zh-CN" altLang="en-US" b="1" dirty="0">
                <a:latin typeface="+mn-ea"/>
              </a:rPr>
              <a:t>：</a:t>
            </a:r>
            <a:r>
              <a:rPr lang="zh-CN" altLang="en-US" dirty="0"/>
              <a:t>如何在节点内部协调多推理任务共驻下的 </a:t>
            </a:r>
            <a:r>
              <a:rPr lang="en" altLang="zh-CN" dirty="0"/>
              <a:t>GPU </a:t>
            </a:r>
            <a:r>
              <a:rPr lang="zh-CN" altLang="en-US" dirty="0"/>
              <a:t>资源竞争</a:t>
            </a:r>
            <a:endParaRPr lang="en-US" altLang="zh-CN" b="1" dirty="0"/>
          </a:p>
          <a:p>
            <a:pPr marL="800100" lvl="1" indent="-342900">
              <a:lnSpc>
                <a:spcPct val="200000"/>
              </a:lnSpc>
              <a:buFont typeface="Wingdings" panose="05000000000000000000" pitchFamily="2" charset="2"/>
              <a:buChar char="q"/>
            </a:pPr>
            <a:r>
              <a:rPr lang="zh-CN" altLang="en-US" b="1" dirty="0"/>
              <a:t>解决思路</a:t>
            </a:r>
            <a:r>
              <a:rPr lang="en-US" altLang="zh-CN" b="1" dirty="0"/>
              <a:t>2</a:t>
            </a:r>
            <a:r>
              <a:rPr lang="zh-CN" altLang="en-US" dirty="0"/>
              <a:t>：基于任务特征构建执行时延预测模型，对 </a:t>
            </a:r>
            <a:r>
              <a:rPr lang="en" altLang="zh-CN" dirty="0"/>
              <a:t>GPU SM </a:t>
            </a:r>
            <a:r>
              <a:rPr lang="zh-CN" altLang="en-US" dirty="0"/>
              <a:t>资源的比例分配进行优化</a:t>
            </a:r>
            <a:endParaRPr lang="en-US" altLang="zh-CN" dirty="0"/>
          </a:p>
        </p:txBody>
      </p:sp>
      <p:cxnSp>
        <p:nvCxnSpPr>
          <p:cNvPr id="3145746" name="直接连接符 52"/>
          <p:cNvCxnSpPr>
            <a:cxnSpLocks/>
          </p:cNvCxnSpPr>
          <p:nvPr/>
        </p:nvCxnSpPr>
        <p:spPr>
          <a:xfrm>
            <a:off x="7243967" y="564027"/>
            <a:ext cx="1800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D2DE96C4-94E6-93A0-A595-FC36472FD2A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108038" y="4118721"/>
            <a:ext cx="10068262" cy="2482106"/>
          </a:xfrm>
          <a:prstGeom prst="rect">
            <a:avLst/>
          </a:prstGeom>
        </p:spPr>
      </p:pic>
      <p:grpSp>
        <p:nvGrpSpPr>
          <p:cNvPr id="5" name="组合 4">
            <a:extLst>
              <a:ext uri="{FF2B5EF4-FFF2-40B4-BE49-F238E27FC236}">
                <a16:creationId xmlns:a16="http://schemas.microsoft.com/office/drawing/2014/main" id="{5043D456-DE95-F1D9-0CD9-D4729482B732}"/>
              </a:ext>
            </a:extLst>
          </p:cNvPr>
          <p:cNvGrpSpPr/>
          <p:nvPr/>
        </p:nvGrpSpPr>
        <p:grpSpPr>
          <a:xfrm>
            <a:off x="1216933" y="2681009"/>
            <a:ext cx="9389114" cy="1456735"/>
            <a:chOff x="1216933" y="2154074"/>
            <a:chExt cx="9389114" cy="2015720"/>
          </a:xfrm>
        </p:grpSpPr>
        <p:sp>
          <p:nvSpPr>
            <p:cNvPr id="3" name="矩形 24">
              <a:extLst>
                <a:ext uri="{FF2B5EF4-FFF2-40B4-BE49-F238E27FC236}">
                  <a16:creationId xmlns:a16="http://schemas.microsoft.com/office/drawing/2014/main" id="{ABBECED3-5FAF-7761-78C4-0E4BB0D648D6}"/>
                </a:ext>
              </a:extLst>
            </p:cNvPr>
            <p:cNvSpPr/>
            <p:nvPr/>
          </p:nvSpPr>
          <p:spPr>
            <a:xfrm>
              <a:off x="1216933" y="2154074"/>
              <a:ext cx="9389114" cy="1937313"/>
            </a:xfrm>
            <a:prstGeom prst="rect">
              <a:avLst/>
            </a:prstGeom>
            <a:noFill/>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文本框 1">
              <a:extLst>
                <a:ext uri="{FF2B5EF4-FFF2-40B4-BE49-F238E27FC236}">
                  <a16:creationId xmlns:a16="http://schemas.microsoft.com/office/drawing/2014/main" id="{9474A4F8-A384-A2FF-77EA-B778F9E115FA}"/>
                </a:ext>
              </a:extLst>
            </p:cNvPr>
            <p:cNvSpPr txBox="1"/>
            <p:nvPr/>
          </p:nvSpPr>
          <p:spPr>
            <a:xfrm>
              <a:off x="1369261" y="2281648"/>
              <a:ext cx="8172772" cy="1888146"/>
            </a:xfrm>
            <a:prstGeom prst="rect">
              <a:avLst/>
            </a:prstGeom>
            <a:noFill/>
          </p:spPr>
          <p:txBody>
            <a:bodyPr wrap="square" rtlCol="0">
              <a:spAutoFit/>
            </a:bodyPr>
            <a:lstStyle/>
            <a:p>
              <a:pPr marL="342900" indent="-342900">
                <a:lnSpc>
                  <a:spcPct val="200000"/>
                </a:lnSpc>
                <a:buFont typeface="Wingdings" panose="05000000000000000000" pitchFamily="2" charset="2"/>
                <a:buChar char="n"/>
              </a:pPr>
              <a:r>
                <a:rPr lang="zh-CN" altLang="en-US" dirty="0"/>
                <a:t>预测不同 </a:t>
              </a:r>
              <a:r>
                <a:rPr lang="en-US" altLang="zh-CN" dirty="0"/>
                <a:t>SM</a:t>
              </a:r>
              <a:r>
                <a:rPr lang="zh-CN" altLang="en-US" dirty="0"/>
                <a:t> 比例配置下各任务执行时延：</a:t>
              </a:r>
              <a:endParaRPr lang="en-US" altLang="zh-CN" b="1" dirty="0"/>
            </a:p>
            <a:p>
              <a:pPr marL="342900" indent="-342900">
                <a:lnSpc>
                  <a:spcPct val="200000"/>
                </a:lnSpc>
                <a:buFont typeface="Wingdings" panose="05000000000000000000" pitchFamily="2" charset="2"/>
                <a:buChar char="n"/>
              </a:pPr>
              <a:r>
                <a:rPr lang="zh-CN" altLang="en-US" dirty="0"/>
                <a:t>选择</a:t>
              </a:r>
              <a:r>
                <a:rPr lang="zh-CN" altLang="en-US" b="1" dirty="0"/>
                <a:t>总加权执行时延最小</a:t>
              </a:r>
              <a:r>
                <a:rPr lang="zh-CN" altLang="en-US" dirty="0"/>
                <a:t>的资源分配方案：</a:t>
              </a:r>
              <a:endParaRPr lang="en-US" altLang="zh-CN" dirty="0"/>
            </a:p>
          </p:txBody>
        </p:sp>
      </p:grpSp>
      <p:pic>
        <p:nvPicPr>
          <p:cNvPr id="7" name="图片 6">
            <a:extLst>
              <a:ext uri="{FF2B5EF4-FFF2-40B4-BE49-F238E27FC236}">
                <a16:creationId xmlns:a16="http://schemas.microsoft.com/office/drawing/2014/main" id="{96BAD39F-6B1E-3B82-6EDD-47E50B7E65B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206890" y="2904365"/>
            <a:ext cx="2578100" cy="520700"/>
          </a:xfrm>
          <a:prstGeom prst="rect">
            <a:avLst/>
          </a:prstGeom>
        </p:spPr>
      </p:pic>
      <p:pic>
        <p:nvPicPr>
          <p:cNvPr id="8" name="图片 7">
            <a:extLst>
              <a:ext uri="{FF2B5EF4-FFF2-40B4-BE49-F238E27FC236}">
                <a16:creationId xmlns:a16="http://schemas.microsoft.com/office/drawing/2014/main" id="{25336F7F-D9C5-6164-8549-6DBC1AECD06B}"/>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096000" y="3368357"/>
            <a:ext cx="4378810" cy="73154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959" name="文本框 12"/>
          <p:cNvSpPr txBox="1"/>
          <p:nvPr/>
        </p:nvSpPr>
        <p:spPr>
          <a:xfrm>
            <a:off x="1011815" y="2661980"/>
            <a:ext cx="5084185" cy="4611519"/>
          </a:xfrm>
          <a:prstGeom prst="rect">
            <a:avLst/>
          </a:prstGeom>
          <a:noFill/>
        </p:spPr>
        <p:txBody>
          <a:bodyPr wrap="square">
            <a:spAutoFit/>
          </a:bodyPr>
          <a:lstStyle/>
          <a:p>
            <a:pPr>
              <a:lnSpc>
                <a:spcPct val="150000"/>
              </a:lnSpc>
            </a:pPr>
            <a:r>
              <a:rPr lang="zh-CN" altLang="en-US" b="1" dirty="0"/>
              <a:t>系统结构：</a:t>
            </a:r>
            <a:endParaRPr lang="en-US" altLang="zh-CN" b="1" dirty="0"/>
          </a:p>
          <a:p>
            <a:pPr marL="342900" indent="-342900">
              <a:lnSpc>
                <a:spcPct val="150000"/>
              </a:lnSpc>
              <a:buAutoNum type="arabicPeriod"/>
            </a:pPr>
            <a:r>
              <a:rPr lang="zh-CN" altLang="zh-CN" dirty="0"/>
              <a:t>任务输入与特征构建模块 </a:t>
            </a:r>
            <a:endParaRPr lang="en-US" altLang="zh-CN" dirty="0"/>
          </a:p>
          <a:p>
            <a:pPr marL="342900" indent="-342900">
              <a:lnSpc>
                <a:spcPct val="150000"/>
              </a:lnSpc>
              <a:buAutoNum type="arabicPeriod"/>
            </a:pPr>
            <a:r>
              <a:rPr lang="zh-CN" altLang="en-US" dirty="0"/>
              <a:t>通信模式抽取与代价预测模块</a:t>
            </a:r>
            <a:endParaRPr lang="en-US" altLang="zh-CN" dirty="0"/>
          </a:p>
          <a:p>
            <a:pPr marL="342900" indent="-342900">
              <a:lnSpc>
                <a:spcPct val="150000"/>
              </a:lnSpc>
              <a:buAutoNum type="arabicPeriod"/>
            </a:pPr>
            <a:r>
              <a:rPr lang="zh-CN" altLang="en-US" dirty="0"/>
              <a:t>通信感知与细粒度资源协同调度</a:t>
            </a:r>
            <a:r>
              <a:rPr lang="zh-CN" altLang="zh-CN" dirty="0"/>
              <a:t>模块 </a:t>
            </a:r>
            <a:endParaRPr lang="en-US" altLang="zh-CN" dirty="0"/>
          </a:p>
          <a:p>
            <a:pPr marL="342900" indent="-342900">
              <a:lnSpc>
                <a:spcPct val="150000"/>
              </a:lnSpc>
              <a:buAutoNum type="arabicPeriod"/>
            </a:pPr>
            <a:r>
              <a:rPr lang="zh-CN" altLang="zh-CN" dirty="0"/>
              <a:t>运行监测与反馈更新模块 </a:t>
            </a:r>
            <a:endParaRPr lang="en-US" altLang="zh-CN" dirty="0"/>
          </a:p>
          <a:p>
            <a:pPr>
              <a:lnSpc>
                <a:spcPct val="150000"/>
              </a:lnSpc>
            </a:pPr>
            <a:r>
              <a:rPr lang="zh-CN" altLang="en-US" b="1" dirty="0"/>
              <a:t>系统目的：</a:t>
            </a:r>
            <a:endParaRPr lang="en-US" altLang="zh-CN" b="1" dirty="0"/>
          </a:p>
          <a:p>
            <a:pPr marL="342900" indent="-342900">
              <a:lnSpc>
                <a:spcPct val="150000"/>
              </a:lnSpc>
              <a:buFont typeface="+mj-lt"/>
              <a:buAutoNum type="arabicPeriod"/>
            </a:pPr>
            <a:r>
              <a:rPr lang="zh-CN" altLang="zh-CN" dirty="0"/>
              <a:t>实现通信优化与资源优化的协同</a:t>
            </a:r>
            <a:endParaRPr lang="en-US" altLang="zh-CN" dirty="0"/>
          </a:p>
          <a:p>
            <a:pPr marL="342900" indent="-342900">
              <a:lnSpc>
                <a:spcPct val="150000"/>
              </a:lnSpc>
              <a:buFont typeface="+mj-lt"/>
              <a:buAutoNum type="arabicPeriod"/>
            </a:pPr>
            <a:r>
              <a:rPr lang="zh-CN" altLang="zh-CN" dirty="0"/>
              <a:t>提升边缘容器集群环境下分布式推理系统的整体执行效率</a:t>
            </a:r>
            <a:endParaRPr lang="en-US" altLang="zh-CN" dirty="0"/>
          </a:p>
          <a:p>
            <a:pPr>
              <a:lnSpc>
                <a:spcPct val="150000"/>
              </a:lnSpc>
            </a:pPr>
            <a:endParaRPr lang="en-US" altLang="zh-CN" b="1" dirty="0"/>
          </a:p>
          <a:p>
            <a:pPr>
              <a:lnSpc>
                <a:spcPct val="150000"/>
              </a:lnSpc>
            </a:pPr>
            <a:endParaRPr lang="zh-CN" altLang="en-US" b="1" dirty="0"/>
          </a:p>
        </p:txBody>
      </p:sp>
      <p:sp>
        <p:nvSpPr>
          <p:cNvPr id="1048960" name="文本占位符 6"/>
          <p:cNvSpPr>
            <a:spLocks noGrp="1"/>
          </p:cNvSpPr>
          <p:nvPr>
            <p:ph type="body" sz="quarter" idx="11"/>
          </p:nvPr>
        </p:nvSpPr>
        <p:spPr>
          <a:xfrm>
            <a:off x="1216933" y="347251"/>
            <a:ext cx="10624871" cy="402291"/>
          </a:xfrm>
        </p:spPr>
        <p:txBody>
          <a:bodyPr/>
          <a:lstStyle/>
          <a:p>
            <a:r>
              <a:rPr lang="zh-CN" altLang="zh-CN" b="0">
                <a:cs typeface="+mn-ea"/>
              </a:rPr>
              <a:t>研究背景与现状</a:t>
            </a:r>
            <a:r>
              <a:rPr lang="en-US" altLang="zh-CN" b="0">
                <a:cs typeface="+mn-ea"/>
              </a:rPr>
              <a:t>      </a:t>
            </a:r>
            <a:r>
              <a:rPr lang="zh-CN" altLang="zh-CN" b="0">
                <a:cs typeface="+mn-ea"/>
              </a:rPr>
              <a:t>研究目标与内容</a:t>
            </a:r>
            <a:r>
              <a:rPr lang="en-US" altLang="zh-CN" b="0">
                <a:cs typeface="+mn-ea"/>
              </a:rPr>
              <a:t>      </a:t>
            </a:r>
            <a:r>
              <a:rPr lang="zh-CN" altLang="zh-CN">
                <a:cs typeface="+mn-ea"/>
              </a:rPr>
              <a:t>技术路线与方法</a:t>
            </a:r>
            <a:r>
              <a:rPr lang="en-US" altLang="zh-CN">
                <a:cs typeface="+mn-ea"/>
              </a:rPr>
              <a:t>     </a:t>
            </a:r>
            <a:r>
              <a:rPr lang="en-US" altLang="zh-CN" b="0">
                <a:cs typeface="+mn-ea"/>
              </a:rPr>
              <a:t> </a:t>
            </a:r>
            <a:r>
              <a:rPr lang="zh-CN" altLang="zh-CN" b="0">
                <a:cs typeface="+mn-ea"/>
              </a:rPr>
              <a:t>预期成果与计划</a:t>
            </a:r>
            <a:endParaRPr lang="en-US" altLang="zh-CN" b="0" dirty="0">
              <a:cs typeface="+mn-ea"/>
            </a:endParaRPr>
          </a:p>
        </p:txBody>
      </p:sp>
      <p:sp>
        <p:nvSpPr>
          <p:cNvPr id="1048961" name="日期占位符 1"/>
          <p:cNvSpPr>
            <a:spLocks noGrp="1"/>
          </p:cNvSpPr>
          <p:nvPr>
            <p:ph type="dt" sz="half" idx="14"/>
          </p:nvPr>
        </p:nvSpPr>
        <p:spPr>
          <a:xfrm>
            <a:off x="673100" y="6328186"/>
            <a:ext cx="3342640" cy="365125"/>
          </a:xfrm>
        </p:spPr>
        <p:txBody>
          <a:bodyPr/>
          <a:lstStyle/>
          <a:p>
            <a:r>
              <a:rPr lang="zh-CN" altLang="en-US" i="1" spc="300" dirty="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1048962" name="灯片编号占位符 2"/>
          <p:cNvSpPr>
            <a:spLocks noGrp="1"/>
          </p:cNvSpPr>
          <p:nvPr>
            <p:ph type="sldNum" sz="quarter" idx="16"/>
          </p:nvPr>
        </p:nvSpPr>
        <p:spPr/>
        <p:txBody>
          <a:bodyPr/>
          <a:lstStyle/>
          <a:p>
            <a:fld id="{C79ECAFE-A460-4E13-ABCB-32CAE6136244}" type="slidenum">
              <a:rPr lang="zh-CN" altLang="en-US" smtClean="0"/>
              <a:t>18</a:t>
            </a:fld>
            <a:endParaRPr lang="zh-CN" altLang="en-US" dirty="0"/>
          </a:p>
        </p:txBody>
      </p:sp>
      <p:sp>
        <p:nvSpPr>
          <p:cNvPr id="1048963" name="文本占位符 15"/>
          <p:cNvSpPr txBox="1"/>
          <p:nvPr/>
        </p:nvSpPr>
        <p:spPr>
          <a:xfrm>
            <a:off x="660400" y="1022915"/>
            <a:ext cx="6127675" cy="1063358"/>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dirty="0">
                <a:solidFill>
                  <a:schemeClr val="accent1"/>
                </a:solidFill>
              </a:rPr>
              <a:t>技术路线三：</a:t>
            </a:r>
            <a:endParaRPr lang="en-US" altLang="zh-CN" sz="2400" b="1" dirty="0">
              <a:solidFill>
                <a:schemeClr val="accent1"/>
              </a:solidFill>
            </a:endParaRPr>
          </a:p>
          <a:p>
            <a:pPr marL="0" indent="0">
              <a:lnSpc>
                <a:spcPct val="100000"/>
              </a:lnSpc>
              <a:buNone/>
            </a:pPr>
            <a:r>
              <a:rPr lang="zh-CN" altLang="zh-CN" sz="2400" b="1" dirty="0">
                <a:solidFill>
                  <a:schemeClr val="accent1"/>
                </a:solidFill>
              </a:rPr>
              <a:t>边缘场景下基于</a:t>
            </a:r>
            <a:r>
              <a:rPr lang="en-US" altLang="zh-CN" sz="2400" b="1" dirty="0">
                <a:solidFill>
                  <a:schemeClr val="accent1"/>
                </a:solidFill>
              </a:rPr>
              <a:t>k3s</a:t>
            </a:r>
            <a:r>
              <a:rPr lang="zh-CN" altLang="zh-CN" sz="2400" b="1" dirty="0">
                <a:solidFill>
                  <a:schemeClr val="accent1"/>
                </a:solidFill>
              </a:rPr>
              <a:t>的分布式推理调度系统 </a:t>
            </a:r>
            <a:endParaRPr lang="zh-CN" altLang="en-US" sz="2400" b="1" dirty="0">
              <a:solidFill>
                <a:schemeClr val="accent1"/>
              </a:solidFill>
            </a:endParaRPr>
          </a:p>
        </p:txBody>
      </p:sp>
      <p:sp>
        <p:nvSpPr>
          <p:cNvPr id="1048964" name="文本框 7"/>
          <p:cNvSpPr txBox="1"/>
          <p:nvPr/>
        </p:nvSpPr>
        <p:spPr>
          <a:xfrm>
            <a:off x="660400" y="2086273"/>
            <a:ext cx="4622800" cy="499047"/>
          </a:xfrm>
          <a:prstGeom prst="rect">
            <a:avLst/>
          </a:prstGeom>
          <a:noFill/>
        </p:spPr>
        <p:txBody>
          <a:bodyPr wrap="square">
            <a:spAutoFit/>
          </a:bodyPr>
          <a:lstStyle/>
          <a:p>
            <a:pPr marL="342900" indent="-342900">
              <a:lnSpc>
                <a:spcPct val="150000"/>
              </a:lnSpc>
              <a:buFont typeface="Wingdings" pitchFamily="2" charset="2"/>
              <a:buChar char="Ø"/>
            </a:pPr>
            <a:r>
              <a:rPr lang="zh-CN" altLang="en-US" sz="2000" b="1" dirty="0">
                <a:solidFill>
                  <a:schemeClr val="accent1"/>
                </a:solidFill>
                <a:latin typeface="Arial" panose="020B0604020202020204"/>
                <a:cs typeface="+mn-ea"/>
              </a:rPr>
              <a:t>系统总体设计</a:t>
            </a:r>
            <a:endParaRPr lang="zh-CN" altLang="zh-CN" sz="2000" b="1" dirty="0">
              <a:solidFill>
                <a:schemeClr val="accent1"/>
              </a:solidFill>
              <a:latin typeface="Arial" panose="020B0604020202020204"/>
              <a:cs typeface="+mn-ea"/>
            </a:endParaRPr>
          </a:p>
        </p:txBody>
      </p:sp>
      <p:pic>
        <p:nvPicPr>
          <p:cNvPr id="4" name="图片 3">
            <a:extLst>
              <a:ext uri="{FF2B5EF4-FFF2-40B4-BE49-F238E27FC236}">
                <a16:creationId xmlns:a16="http://schemas.microsoft.com/office/drawing/2014/main" id="{79EC1DA2-72CF-0D56-6840-E204A018404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573454" y="944195"/>
            <a:ext cx="5125764" cy="556655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9" name="文本占位符 4"/>
          <p:cNvSpPr>
            <a:spLocks noGrp="1"/>
          </p:cNvSpPr>
          <p:nvPr>
            <p:ph type="body" sz="quarter" idx="10"/>
          </p:nvPr>
        </p:nvSpPr>
        <p:spPr/>
        <p:txBody>
          <a:bodyPr/>
          <a:lstStyle/>
          <a:p>
            <a:r>
              <a:rPr lang="zh-CN" altLang="en-US">
                <a:cs typeface="+mn-ea"/>
              </a:rPr>
              <a:t>预期成果与计划</a:t>
            </a:r>
            <a:endParaRPr lang="zh-CN" altLang="en-US" dirty="0">
              <a:cs typeface="+mn-ea"/>
            </a:endParaRPr>
          </a:p>
        </p:txBody>
      </p:sp>
      <p:sp>
        <p:nvSpPr>
          <p:cNvPr id="1048970" name="日期占位符 3"/>
          <p:cNvSpPr>
            <a:spLocks noGrp="1"/>
          </p:cNvSpPr>
          <p:nvPr>
            <p:ph type="dt" sz="half" idx="12"/>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2097235" name="图片 6"/>
          <p:cNvPicPr>
            <a:picLocks noChangeAspect="1"/>
          </p:cNvPicPr>
          <p:nvPr/>
        </p:nvPicPr>
        <p:blipFill>
          <a:blip r:embed="rId2"/>
          <a:srcRect l="24798" t="13433" r="24798" b="26261"/>
          <a:stretch>
            <a:fillRect/>
          </a:stretch>
        </p:blipFill>
        <p:spPr>
          <a:xfrm>
            <a:off x="1132586" y="1337624"/>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1" name="文本占位符 6"/>
          <p:cNvSpPr>
            <a:spLocks noGrp="1"/>
          </p:cNvSpPr>
          <p:nvPr>
            <p:ph type="body" sz="quarter" idx="11"/>
          </p:nvPr>
        </p:nvSpPr>
        <p:spPr>
          <a:xfrm>
            <a:off x="1216933" y="347251"/>
            <a:ext cx="10624871" cy="402291"/>
          </a:xfrm>
        </p:spPr>
        <p:txBody>
          <a:bodyPr/>
          <a:lstStyle/>
          <a:p>
            <a:r>
              <a:rPr lang="zh-CN" altLang="zh-CN" b="0">
                <a:cs typeface="+mn-ea"/>
              </a:rPr>
              <a:t>研究背景与现状</a:t>
            </a:r>
            <a:r>
              <a:rPr lang="en-US" altLang="zh-CN" b="0">
                <a:cs typeface="+mn-ea"/>
              </a:rPr>
              <a:t>      </a:t>
            </a:r>
            <a:r>
              <a:rPr lang="zh-CN" altLang="zh-CN" b="0">
                <a:cs typeface="+mn-ea"/>
              </a:rPr>
              <a:t>研究目标与内容</a:t>
            </a:r>
            <a:r>
              <a:rPr lang="en-US" altLang="zh-CN" b="0">
                <a:cs typeface="+mn-ea"/>
              </a:rPr>
              <a:t>      </a:t>
            </a:r>
            <a:r>
              <a:rPr lang="zh-CN" altLang="zh-CN" b="0">
                <a:cs typeface="+mn-ea"/>
              </a:rPr>
              <a:t>技术路线与方法</a:t>
            </a:r>
            <a:r>
              <a:rPr lang="en-US" altLang="zh-CN" b="0">
                <a:cs typeface="+mn-ea"/>
              </a:rPr>
              <a:t>    </a:t>
            </a:r>
            <a:r>
              <a:rPr lang="en-US" altLang="zh-CN">
                <a:cs typeface="+mn-ea"/>
              </a:rPr>
              <a:t> </a:t>
            </a:r>
            <a:r>
              <a:rPr lang="en-US" altLang="zh-CN" b="0">
                <a:cs typeface="+mn-ea"/>
              </a:rPr>
              <a:t> </a:t>
            </a:r>
            <a:r>
              <a:rPr lang="zh-CN" altLang="zh-CN">
                <a:cs typeface="+mn-ea"/>
              </a:rPr>
              <a:t>预期成果与计划</a:t>
            </a:r>
            <a:endParaRPr lang="en-US" altLang="zh-CN" dirty="0">
              <a:cs typeface="+mn-ea"/>
            </a:endParaRPr>
          </a:p>
        </p:txBody>
      </p:sp>
      <p:sp>
        <p:nvSpPr>
          <p:cNvPr id="1048972" name="日期占位符 1"/>
          <p:cNvSpPr>
            <a:spLocks noGrp="1"/>
          </p:cNvSpPr>
          <p:nvPr>
            <p:ph type="dt" sz="half" idx="14"/>
          </p:nvPr>
        </p:nvSpPr>
        <p:spPr>
          <a:xfrm>
            <a:off x="660400" y="6235702"/>
            <a:ext cx="3342640" cy="365125"/>
          </a:xfrm>
        </p:spPr>
        <p:txBody>
          <a:bodyPr/>
          <a:lstStyle/>
          <a:p>
            <a:r>
              <a:rPr lang="zh-CN" altLang="en-US" i="1" spc="300" dirty="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1048973" name="灯片编号占位符 2"/>
          <p:cNvSpPr>
            <a:spLocks noGrp="1"/>
          </p:cNvSpPr>
          <p:nvPr>
            <p:ph type="sldNum" sz="quarter" idx="16"/>
          </p:nvPr>
        </p:nvSpPr>
        <p:spPr/>
        <p:txBody>
          <a:bodyPr/>
          <a:lstStyle/>
          <a:p>
            <a:fld id="{C79ECAFE-A460-4E13-ABCB-32CAE6136244}" type="slidenum">
              <a:rPr lang="zh-CN" altLang="en-US" smtClean="0"/>
              <a:t>20</a:t>
            </a:fld>
            <a:endParaRPr lang="zh-CN" altLang="en-US" dirty="0"/>
          </a:p>
        </p:txBody>
      </p:sp>
      <p:sp>
        <p:nvSpPr>
          <p:cNvPr id="1048974"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a:solidFill>
                  <a:schemeClr val="accent1"/>
                </a:solidFill>
              </a:rPr>
              <a:t>预期成果</a:t>
            </a:r>
            <a:endParaRPr lang="en-US" altLang="zh-CN" sz="2400" b="1">
              <a:solidFill>
                <a:schemeClr val="accent1"/>
              </a:solidFill>
            </a:endParaRPr>
          </a:p>
        </p:txBody>
      </p:sp>
      <p:grpSp>
        <p:nvGrpSpPr>
          <p:cNvPr id="158" name="组合 5"/>
          <p:cNvGrpSpPr/>
          <p:nvPr/>
        </p:nvGrpSpPr>
        <p:grpSpPr>
          <a:xfrm>
            <a:off x="1443983" y="1660265"/>
            <a:ext cx="9046217" cy="1018307"/>
            <a:chOff x="1443983" y="1559502"/>
            <a:chExt cx="9046217" cy="956737"/>
          </a:xfrm>
        </p:grpSpPr>
        <p:sp>
          <p:nvSpPr>
            <p:cNvPr id="1048975" name="矩形 20"/>
            <p:cNvSpPr/>
            <p:nvPr/>
          </p:nvSpPr>
          <p:spPr>
            <a:xfrm>
              <a:off x="1443983" y="1559502"/>
              <a:ext cx="1159933" cy="956737"/>
            </a:xfrm>
            <a:prstGeom prst="rect">
              <a:avLst/>
            </a:prstGeom>
            <a:solidFill>
              <a:schemeClr val="accent1"/>
            </a:solid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sz="2000" dirty="0">
                  <a:solidFill>
                    <a:schemeClr val="bg1"/>
                  </a:solidFill>
                </a:rPr>
                <a:t>理论</a:t>
              </a:r>
              <a:br>
                <a:rPr lang="en-US" altLang="zh-CN" sz="2000" dirty="0">
                  <a:solidFill>
                    <a:schemeClr val="bg1"/>
                  </a:solidFill>
                </a:rPr>
              </a:br>
              <a:r>
                <a:rPr lang="zh-CN" altLang="en-US" sz="2000" dirty="0">
                  <a:solidFill>
                    <a:schemeClr val="bg1"/>
                  </a:solidFill>
                </a:rPr>
                <a:t>成果</a:t>
              </a:r>
            </a:p>
          </p:txBody>
        </p:sp>
        <p:sp>
          <p:nvSpPr>
            <p:cNvPr id="1048976" name="矩形 21"/>
            <p:cNvSpPr/>
            <p:nvPr/>
          </p:nvSpPr>
          <p:spPr>
            <a:xfrm>
              <a:off x="2603916" y="1559502"/>
              <a:ext cx="7886284" cy="956737"/>
            </a:xfrm>
            <a:prstGeom prst="rect">
              <a:avLst/>
            </a:prstGeom>
            <a:no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1048977" name="文本框 22"/>
            <p:cNvSpPr txBox="1"/>
            <p:nvPr/>
          </p:nvSpPr>
          <p:spPr>
            <a:xfrm>
              <a:off x="2840846" y="1597715"/>
              <a:ext cx="7649354" cy="821115"/>
            </a:xfrm>
            <a:prstGeom prst="rect">
              <a:avLst/>
            </a:prstGeom>
            <a:noFill/>
          </p:spPr>
          <p:txBody>
            <a:bodyPr wrap="square">
              <a:spAutoFit/>
            </a:bodyPr>
            <a:lstStyle/>
            <a:p>
              <a:pPr marL="285750" lvl="0" indent="-285750">
                <a:lnSpc>
                  <a:spcPct val="150000"/>
                </a:lnSpc>
                <a:buFont typeface="Wingdings" panose="05000000000000000000" pitchFamily="2" charset="2"/>
                <a:buChar char="n"/>
              </a:pPr>
              <a:r>
                <a:rPr lang="zh-CN" altLang="en-US" dirty="0"/>
                <a:t>面向分布式推理任务的通信模式抽取与代价预测方法</a:t>
              </a:r>
              <a:endParaRPr lang="en-US" altLang="zh-CN" dirty="0"/>
            </a:p>
            <a:p>
              <a:pPr marL="285750" lvl="0" indent="-285750">
                <a:lnSpc>
                  <a:spcPct val="150000"/>
                </a:lnSpc>
                <a:buFont typeface="Wingdings" panose="05000000000000000000" pitchFamily="2" charset="2"/>
                <a:buChar char="n"/>
              </a:pPr>
              <a:r>
                <a:rPr lang="zh-CN" altLang="en-US" dirty="0"/>
                <a:t>面向边缘集群的通信感知与细粒度 </a:t>
              </a:r>
              <a:r>
                <a:rPr lang="en" altLang="zh-CN" dirty="0"/>
                <a:t>GPU </a:t>
              </a:r>
              <a:r>
                <a:rPr lang="zh-CN" altLang="en-US" dirty="0"/>
                <a:t>资源协同调度机制</a:t>
              </a:r>
              <a:endParaRPr lang="zh-CN" altLang="zh-CN" dirty="0"/>
            </a:p>
          </p:txBody>
        </p:sp>
      </p:grpSp>
      <p:grpSp>
        <p:nvGrpSpPr>
          <p:cNvPr id="159" name="组合 24"/>
          <p:cNvGrpSpPr/>
          <p:nvPr/>
        </p:nvGrpSpPr>
        <p:grpSpPr>
          <a:xfrm>
            <a:off x="1443983" y="3005239"/>
            <a:ext cx="9046217" cy="1368923"/>
            <a:chOff x="1443983" y="2807923"/>
            <a:chExt cx="9046217" cy="1533839"/>
          </a:xfrm>
        </p:grpSpPr>
        <p:sp>
          <p:nvSpPr>
            <p:cNvPr id="1048978" name="矩形 17"/>
            <p:cNvSpPr/>
            <p:nvPr/>
          </p:nvSpPr>
          <p:spPr>
            <a:xfrm>
              <a:off x="1443983" y="2807923"/>
              <a:ext cx="1159933" cy="1533839"/>
            </a:xfrm>
            <a:prstGeom prst="rect">
              <a:avLst/>
            </a:prstGeom>
            <a:solidFill>
              <a:schemeClr val="accent1"/>
            </a:solid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nSpc>
                  <a:spcPct val="120000"/>
                </a:lnSpc>
                <a:spcBef>
                  <a:spcPts val="1200"/>
                </a:spcBef>
                <a:buNone/>
              </a:pPr>
              <a:r>
                <a:rPr lang="zh-CN" altLang="zh-CN">
                  <a:solidFill>
                    <a:schemeClr val="bg1"/>
                  </a:solidFill>
                </a:rPr>
                <a:t>系统成果</a:t>
              </a:r>
              <a:endParaRPr lang="en-US" altLang="zh-CN">
                <a:solidFill>
                  <a:schemeClr val="bg1"/>
                </a:solidFill>
              </a:endParaRPr>
            </a:p>
          </p:txBody>
        </p:sp>
        <p:sp>
          <p:nvSpPr>
            <p:cNvPr id="1048979" name="矩形 18"/>
            <p:cNvSpPr/>
            <p:nvPr/>
          </p:nvSpPr>
          <p:spPr>
            <a:xfrm>
              <a:off x="2603916" y="2807923"/>
              <a:ext cx="7886284" cy="1533839"/>
            </a:xfrm>
            <a:prstGeom prst="rect">
              <a:avLst/>
            </a:prstGeom>
            <a:no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1048980" name="文本框 19"/>
            <p:cNvSpPr txBox="1"/>
            <p:nvPr/>
          </p:nvSpPr>
          <p:spPr>
            <a:xfrm>
              <a:off x="2840846" y="2837498"/>
              <a:ext cx="7590087" cy="1442643"/>
            </a:xfrm>
            <a:prstGeom prst="rect">
              <a:avLst/>
            </a:prstGeom>
            <a:noFill/>
          </p:spPr>
          <p:txBody>
            <a:bodyPr wrap="square">
              <a:spAutoFit/>
            </a:bodyPr>
            <a:lstStyle/>
            <a:p>
              <a:pPr>
                <a:lnSpc>
                  <a:spcPct val="150000"/>
                </a:lnSpc>
              </a:pPr>
              <a:r>
                <a:rPr lang="zh-CN" altLang="en-US" dirty="0">
                  <a:latin typeface="微软雅黑" panose="020B0503020204020204" charset="-122"/>
                  <a:ea typeface="微软雅黑" panose="020B0503020204020204" charset="-122"/>
                </a:rPr>
                <a:t>设计</a:t>
              </a:r>
              <a:r>
                <a:rPr lang="zh-CN" altLang="en-US" dirty="0"/>
                <a:t>并实现</a:t>
              </a:r>
              <a:r>
                <a:rPr lang="zh-CN" altLang="zh-CN" b="1" dirty="0">
                  <a:solidFill>
                    <a:srgbClr val="C00000"/>
                  </a:solidFill>
                </a:rPr>
                <a:t>边缘场景下基于</a:t>
              </a:r>
              <a:r>
                <a:rPr lang="en-US" altLang="zh-CN" b="1" dirty="0">
                  <a:solidFill>
                    <a:srgbClr val="C00000"/>
                  </a:solidFill>
                </a:rPr>
                <a:t>k3s</a:t>
              </a:r>
              <a:r>
                <a:rPr lang="zh-CN" altLang="zh-CN" b="1" dirty="0">
                  <a:solidFill>
                    <a:srgbClr val="C00000"/>
                  </a:solidFill>
                </a:rPr>
                <a:t>的分布式推理调度系统 </a:t>
              </a:r>
              <a:r>
                <a:rPr lang="zh-CN" altLang="en-US" b="1" dirty="0"/>
                <a:t>：</a:t>
              </a:r>
              <a:endParaRPr lang="en-US" altLang="zh-CN" b="1" dirty="0"/>
            </a:p>
            <a:p>
              <a:pPr marL="285750" indent="-285750">
                <a:lnSpc>
                  <a:spcPct val="150000"/>
                </a:lnSpc>
                <a:buFont typeface="Wingdings" pitchFamily="2" charset="2"/>
                <a:buChar char="n"/>
              </a:pPr>
              <a:r>
                <a:rPr lang="zh-CN" altLang="en-US" dirty="0"/>
                <a:t>降低通信开销，提升推理吞吐与响应性能</a:t>
              </a:r>
              <a:endParaRPr lang="en-US" altLang="zh-CN" b="1" dirty="0"/>
            </a:p>
            <a:p>
              <a:pPr marL="285750" indent="-285750">
                <a:lnSpc>
                  <a:spcPct val="150000"/>
                </a:lnSpc>
                <a:buFont typeface="Wingdings" pitchFamily="2" charset="2"/>
                <a:buChar char="n"/>
              </a:pPr>
              <a:r>
                <a:rPr lang="zh-CN" altLang="en-US" dirty="0"/>
                <a:t>缓解多任务共驻竞争，提高资源利用率与系统执行效率</a:t>
              </a:r>
              <a:endParaRPr lang="en-US" altLang="zh-CN" b="1" dirty="0"/>
            </a:p>
          </p:txBody>
        </p:sp>
      </p:grpSp>
      <p:grpSp>
        <p:nvGrpSpPr>
          <p:cNvPr id="160" name="组合 25"/>
          <p:cNvGrpSpPr/>
          <p:nvPr/>
        </p:nvGrpSpPr>
        <p:grpSpPr>
          <a:xfrm>
            <a:off x="1443983" y="4703751"/>
            <a:ext cx="9046217" cy="1068059"/>
            <a:chOff x="1443983" y="5075930"/>
            <a:chExt cx="9046217" cy="1068059"/>
          </a:xfrm>
        </p:grpSpPr>
        <p:grpSp>
          <p:nvGrpSpPr>
            <p:cNvPr id="161" name="组合 13"/>
            <p:cNvGrpSpPr/>
            <p:nvPr/>
          </p:nvGrpSpPr>
          <p:grpSpPr>
            <a:xfrm>
              <a:off x="1443983" y="5075930"/>
              <a:ext cx="9046217" cy="1068059"/>
              <a:chOff x="1638436" y="4997035"/>
              <a:chExt cx="8902427" cy="660400"/>
            </a:xfrm>
          </p:grpSpPr>
          <p:sp>
            <p:nvSpPr>
              <p:cNvPr id="1048981" name="矩形 14"/>
              <p:cNvSpPr/>
              <p:nvPr/>
            </p:nvSpPr>
            <p:spPr>
              <a:xfrm>
                <a:off x="1638436" y="4997035"/>
                <a:ext cx="1159933" cy="660400"/>
              </a:xfrm>
              <a:prstGeom prst="rect">
                <a:avLst/>
              </a:prstGeom>
              <a:solidFill>
                <a:schemeClr val="accent1"/>
              </a:solid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a:solidFill>
                      <a:schemeClr val="bg1"/>
                    </a:solidFill>
                  </a:rPr>
                  <a:t>成果形式</a:t>
                </a:r>
              </a:p>
            </p:txBody>
          </p:sp>
          <p:sp>
            <p:nvSpPr>
              <p:cNvPr id="1048982" name="矩形 15"/>
              <p:cNvSpPr/>
              <p:nvPr/>
            </p:nvSpPr>
            <p:spPr>
              <a:xfrm>
                <a:off x="2798369" y="4997035"/>
                <a:ext cx="7742494" cy="660400"/>
              </a:xfrm>
              <a:prstGeom prst="rect">
                <a:avLst/>
              </a:prstGeom>
              <a:no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grpSp>
        <p:sp>
          <p:nvSpPr>
            <p:cNvPr id="1048983" name="文本框 23"/>
            <p:cNvSpPr txBox="1"/>
            <p:nvPr/>
          </p:nvSpPr>
          <p:spPr>
            <a:xfrm>
              <a:off x="2840846" y="5153730"/>
              <a:ext cx="7124700" cy="873957"/>
            </a:xfrm>
            <a:prstGeom prst="rect">
              <a:avLst/>
            </a:prstGeom>
            <a:noFill/>
          </p:spPr>
          <p:txBody>
            <a:bodyPr wrap="square">
              <a:spAutoFit/>
            </a:bodyPr>
            <a:lstStyle/>
            <a:p>
              <a:pPr marL="285750" indent="-285750">
                <a:lnSpc>
                  <a:spcPct val="150000"/>
                </a:lnSpc>
                <a:buFont typeface="Wingdings" panose="05000000000000000000" pitchFamily="2" charset="2"/>
                <a:buChar char="n"/>
              </a:pPr>
              <a:r>
                <a:rPr lang="zh-CN" altLang="en-US" dirty="0"/>
                <a:t>在国内外核心期刊或学术会议上发表学术论文 </a:t>
              </a:r>
              <a:r>
                <a:rPr lang="en-US" altLang="zh-CN" dirty="0"/>
                <a:t>1-2 </a:t>
              </a:r>
              <a:r>
                <a:rPr lang="zh-CN" altLang="en-US" dirty="0"/>
                <a:t>篇</a:t>
              </a:r>
              <a:endParaRPr lang="en-US" altLang="zh-CN" dirty="0"/>
            </a:p>
            <a:p>
              <a:pPr marL="285750" indent="-285750">
                <a:lnSpc>
                  <a:spcPct val="150000"/>
                </a:lnSpc>
                <a:buFont typeface="Wingdings" panose="05000000000000000000" pitchFamily="2" charset="2"/>
                <a:buChar char="n"/>
              </a:pPr>
              <a:r>
                <a:rPr lang="zh-CN" altLang="en-US" dirty="0"/>
                <a:t>完成</a:t>
              </a:r>
              <a:r>
                <a:rPr lang="zh-CN" altLang="en-US"/>
                <a:t>东南大学软件学院学院</a:t>
              </a:r>
              <a:r>
                <a:rPr lang="zh-CN" altLang="en-US" dirty="0"/>
                <a:t>硕士论文 </a:t>
              </a:r>
              <a:r>
                <a:rPr lang="en-US" altLang="zh-CN" dirty="0"/>
                <a:t>1 </a:t>
              </a:r>
              <a:r>
                <a:rPr lang="zh-CN" altLang="en-US" dirty="0"/>
                <a:t>篇</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1" name="文本占位符 6"/>
          <p:cNvSpPr>
            <a:spLocks noGrp="1"/>
          </p:cNvSpPr>
          <p:nvPr>
            <p:ph type="body" sz="quarter" idx="11"/>
          </p:nvPr>
        </p:nvSpPr>
        <p:spPr>
          <a:xfrm>
            <a:off x="1216933" y="347251"/>
            <a:ext cx="10624871" cy="402291"/>
          </a:xfrm>
        </p:spPr>
        <p:txBody>
          <a:bodyPr/>
          <a:lstStyle/>
          <a:p>
            <a:r>
              <a:rPr lang="zh-CN" altLang="zh-CN" b="0">
                <a:cs typeface="+mn-ea"/>
              </a:rPr>
              <a:t>研究背景与现状</a:t>
            </a:r>
            <a:r>
              <a:rPr lang="en-US" altLang="zh-CN" b="0">
                <a:cs typeface="+mn-ea"/>
              </a:rPr>
              <a:t>      </a:t>
            </a:r>
            <a:r>
              <a:rPr lang="zh-CN" altLang="zh-CN" b="0">
                <a:cs typeface="+mn-ea"/>
              </a:rPr>
              <a:t>研究目标与内容</a:t>
            </a:r>
            <a:r>
              <a:rPr lang="en-US" altLang="zh-CN" b="0">
                <a:cs typeface="+mn-ea"/>
              </a:rPr>
              <a:t>      </a:t>
            </a:r>
            <a:r>
              <a:rPr lang="zh-CN" altLang="zh-CN" b="0">
                <a:cs typeface="+mn-ea"/>
              </a:rPr>
              <a:t>技术路线与方法</a:t>
            </a:r>
            <a:r>
              <a:rPr lang="en-US" altLang="zh-CN" b="0">
                <a:cs typeface="+mn-ea"/>
              </a:rPr>
              <a:t>    </a:t>
            </a:r>
            <a:r>
              <a:rPr lang="en-US" altLang="zh-CN">
                <a:cs typeface="+mn-ea"/>
              </a:rPr>
              <a:t> </a:t>
            </a:r>
            <a:r>
              <a:rPr lang="en-US" altLang="zh-CN" b="0">
                <a:cs typeface="+mn-ea"/>
              </a:rPr>
              <a:t> </a:t>
            </a:r>
            <a:r>
              <a:rPr lang="zh-CN" altLang="zh-CN">
                <a:cs typeface="+mn-ea"/>
              </a:rPr>
              <a:t>预期成果与计划</a:t>
            </a:r>
            <a:endParaRPr lang="en-US" altLang="zh-CN" dirty="0">
              <a:cs typeface="+mn-ea"/>
            </a:endParaRPr>
          </a:p>
        </p:txBody>
      </p:sp>
      <p:sp>
        <p:nvSpPr>
          <p:cNvPr id="1048972" name="日期占位符 1"/>
          <p:cNvSpPr>
            <a:spLocks noGrp="1"/>
          </p:cNvSpPr>
          <p:nvPr>
            <p:ph type="dt" sz="half" idx="14"/>
          </p:nvPr>
        </p:nvSpPr>
        <p:spPr>
          <a:xfrm>
            <a:off x="660400" y="6235702"/>
            <a:ext cx="3342640" cy="365125"/>
          </a:xfrm>
        </p:spPr>
        <p:txBody>
          <a:bodyPr/>
          <a:lstStyle/>
          <a:p>
            <a:r>
              <a:rPr lang="zh-CN" altLang="en-US" i="1" spc="300" dirty="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1048973" name="灯片编号占位符 2"/>
          <p:cNvSpPr>
            <a:spLocks noGrp="1"/>
          </p:cNvSpPr>
          <p:nvPr>
            <p:ph type="sldNum" sz="quarter" idx="16"/>
          </p:nvPr>
        </p:nvSpPr>
        <p:spPr/>
        <p:txBody>
          <a:bodyPr/>
          <a:lstStyle/>
          <a:p>
            <a:fld id="{C79ECAFE-A460-4E13-ABCB-32CAE6136244}" type="slidenum">
              <a:rPr lang="zh-CN" altLang="en-US" smtClean="0"/>
              <a:t>21</a:t>
            </a:fld>
            <a:endParaRPr lang="zh-CN" altLang="en-US" dirty="0"/>
          </a:p>
        </p:txBody>
      </p:sp>
      <p:sp>
        <p:nvSpPr>
          <p:cNvPr id="1048974"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a:solidFill>
                  <a:schemeClr val="accent1"/>
                </a:solidFill>
              </a:rPr>
              <a:t>可行性分析</a:t>
            </a:r>
            <a:endParaRPr lang="en-US" altLang="zh-CN" sz="2400" b="1">
              <a:solidFill>
                <a:schemeClr val="accent1"/>
              </a:solidFill>
            </a:endParaRPr>
          </a:p>
        </p:txBody>
      </p:sp>
      <p:sp>
        <p:nvSpPr>
          <p:cNvPr id="10" name="文本框 12">
            <a:extLst>
              <a:ext uri="{FF2B5EF4-FFF2-40B4-BE49-F238E27FC236}">
                <a16:creationId xmlns:a16="http://schemas.microsoft.com/office/drawing/2014/main" id="{F6298A5B-7BE9-BC0C-AD8C-4FFDDC644374}"/>
              </a:ext>
            </a:extLst>
          </p:cNvPr>
          <p:cNvSpPr txBox="1"/>
          <p:nvPr/>
        </p:nvSpPr>
        <p:spPr>
          <a:xfrm>
            <a:off x="733013" y="1582465"/>
            <a:ext cx="6593761" cy="1702967"/>
          </a:xfrm>
          <a:prstGeom prst="rect">
            <a:avLst/>
          </a:prstGeom>
          <a:noFill/>
        </p:spPr>
        <p:txBody>
          <a:bodyPr wrap="square">
            <a:spAutoFit/>
          </a:bodyPr>
          <a:lstStyle/>
          <a:p>
            <a:pPr marL="285750" indent="-285750">
              <a:lnSpc>
                <a:spcPct val="150000"/>
              </a:lnSpc>
              <a:buFont typeface="Wingdings" panose="05000000000000000000" pitchFamily="2" charset="2"/>
              <a:buChar char="n"/>
            </a:pPr>
            <a:r>
              <a:rPr lang="zh-CN" altLang="en-US" b="1" dirty="0"/>
              <a:t>模型选用：</a:t>
            </a:r>
            <a:r>
              <a:rPr lang="en" altLang="zh-CN" dirty="0">
                <a:latin typeface="+mn-ea"/>
              </a:rPr>
              <a:t>meta-llama/Llama-2-7b-hf</a:t>
            </a:r>
          </a:p>
          <a:p>
            <a:pPr marL="285750" indent="-285750">
              <a:lnSpc>
                <a:spcPct val="150000"/>
              </a:lnSpc>
              <a:buFont typeface="Wingdings" panose="05000000000000000000" pitchFamily="2" charset="2"/>
              <a:buChar char="n"/>
            </a:pPr>
            <a:r>
              <a:rPr lang="zh-CN" altLang="en-US" b="1" dirty="0">
                <a:solidFill>
                  <a:srgbClr val="333333"/>
                </a:solidFill>
                <a:latin typeface="Arial" panose="020B0604020202020204" pitchFamily="34" charset="0"/>
                <a:ea typeface="Open Sans" panose="020B0606030504020204" pitchFamily="34" charset="0"/>
              </a:rPr>
              <a:t>并行方式：</a:t>
            </a:r>
            <a:r>
              <a:rPr lang="en-US" altLang="zh-CN" dirty="0">
                <a:latin typeface="+mn-ea"/>
              </a:rPr>
              <a:t>TP-size</a:t>
            </a:r>
            <a:r>
              <a:rPr lang="zh-CN" altLang="en-US" dirty="0">
                <a:latin typeface="+mn-ea"/>
              </a:rPr>
              <a:t> </a:t>
            </a:r>
            <a:r>
              <a:rPr lang="en-US" altLang="zh-CN" dirty="0">
                <a:latin typeface="+mn-ea"/>
              </a:rPr>
              <a:t>=</a:t>
            </a:r>
            <a:r>
              <a:rPr lang="zh-CN" altLang="en-US" dirty="0">
                <a:latin typeface="+mn-ea"/>
              </a:rPr>
              <a:t> </a:t>
            </a:r>
            <a:r>
              <a:rPr lang="en-US" altLang="zh-CN" dirty="0">
                <a:latin typeface="+mn-ea"/>
              </a:rPr>
              <a:t>4</a:t>
            </a:r>
            <a:endParaRPr lang="zh-CN" altLang="zh-CN" dirty="0">
              <a:latin typeface="+mn-ea"/>
            </a:endParaRPr>
          </a:p>
          <a:p>
            <a:pPr marL="285750" indent="-285750">
              <a:lnSpc>
                <a:spcPct val="150000"/>
              </a:lnSpc>
              <a:buFont typeface="Wingdings" panose="05000000000000000000" pitchFamily="2" charset="2"/>
              <a:buChar char="n"/>
            </a:pPr>
            <a:r>
              <a:rPr lang="zh-CN" altLang="en-US" b="1" dirty="0"/>
              <a:t>推理框架：</a:t>
            </a:r>
            <a:r>
              <a:rPr lang="en" altLang="zh-CN" dirty="0" err="1">
                <a:latin typeface="+mn-ea"/>
              </a:rPr>
              <a:t>SGLang</a:t>
            </a:r>
            <a:r>
              <a:rPr lang="en" altLang="zh-CN" dirty="0">
                <a:latin typeface="+mn-ea"/>
              </a:rPr>
              <a:t> v0.5.8.post1</a:t>
            </a:r>
          </a:p>
          <a:p>
            <a:pPr marL="285750" indent="-285750">
              <a:lnSpc>
                <a:spcPct val="150000"/>
              </a:lnSpc>
              <a:buFont typeface="Wingdings" panose="05000000000000000000" pitchFamily="2" charset="2"/>
              <a:buChar char="n"/>
            </a:pPr>
            <a:r>
              <a:rPr lang="en" altLang="zh-CN" b="1" dirty="0"/>
              <a:t>Python</a:t>
            </a:r>
            <a:r>
              <a:rPr lang="zh-CN" altLang="en" b="1" dirty="0"/>
              <a:t>版本</a:t>
            </a:r>
            <a:r>
              <a:rPr lang="zh-CN" altLang="en-US" b="1" dirty="0"/>
              <a:t>：</a:t>
            </a:r>
            <a:r>
              <a:rPr lang="en-US" altLang="zh-CN" dirty="0">
                <a:latin typeface="+mn-ea"/>
              </a:rPr>
              <a:t>3.12.3</a:t>
            </a:r>
            <a:endParaRPr lang="en" altLang="zh-CN" dirty="0">
              <a:latin typeface="+mn-ea"/>
            </a:endParaRPr>
          </a:p>
        </p:txBody>
      </p:sp>
      <p:grpSp>
        <p:nvGrpSpPr>
          <p:cNvPr id="8" name="组合 7">
            <a:extLst>
              <a:ext uri="{FF2B5EF4-FFF2-40B4-BE49-F238E27FC236}">
                <a16:creationId xmlns:a16="http://schemas.microsoft.com/office/drawing/2014/main" id="{F98621E1-3BD4-92AC-B0BD-DC0045C3E7B3}"/>
              </a:ext>
            </a:extLst>
          </p:cNvPr>
          <p:cNvGrpSpPr/>
          <p:nvPr/>
        </p:nvGrpSpPr>
        <p:grpSpPr>
          <a:xfrm>
            <a:off x="5700815" y="1392653"/>
            <a:ext cx="6106860" cy="4586977"/>
            <a:chOff x="5229747" y="1248108"/>
            <a:chExt cx="6106860" cy="4586977"/>
          </a:xfrm>
        </p:grpSpPr>
        <p:grpSp>
          <p:nvGrpSpPr>
            <p:cNvPr id="6" name="组合 5">
              <a:extLst>
                <a:ext uri="{FF2B5EF4-FFF2-40B4-BE49-F238E27FC236}">
                  <a16:creationId xmlns:a16="http://schemas.microsoft.com/office/drawing/2014/main" id="{EAF11CEE-ED3B-7297-F17D-BFD70FBB1962}"/>
                </a:ext>
              </a:extLst>
            </p:cNvPr>
            <p:cNvGrpSpPr/>
            <p:nvPr/>
          </p:nvGrpSpPr>
          <p:grpSpPr>
            <a:xfrm>
              <a:off x="5229747" y="1248108"/>
              <a:ext cx="6106860" cy="4586977"/>
              <a:chOff x="5229747" y="1248108"/>
              <a:chExt cx="6106860" cy="4586977"/>
            </a:xfrm>
          </p:grpSpPr>
          <p:pic>
            <p:nvPicPr>
              <p:cNvPr id="2" name="图片 1">
                <a:extLst>
                  <a:ext uri="{FF2B5EF4-FFF2-40B4-BE49-F238E27FC236}">
                    <a16:creationId xmlns:a16="http://schemas.microsoft.com/office/drawing/2014/main" id="{7A91F4D3-837B-BFBE-97EE-11373DD51345}"/>
                  </a:ext>
                </a:extLst>
              </p:cNvPr>
              <p:cNvPicPr>
                <a:picLocks noChangeAspect="1"/>
              </p:cNvPicPr>
              <p:nvPr/>
            </p:nvPicPr>
            <p:blipFill>
              <a:blip r:embed="rId3">
                <a:clrChange>
                  <a:clrFrom>
                    <a:srgbClr val="FFFFFF"/>
                  </a:clrFrom>
                  <a:clrTo>
                    <a:srgbClr val="FFFFFF">
                      <a:alpha val="0"/>
                    </a:srgbClr>
                  </a:clrTo>
                </a:clrChange>
              </a:blip>
              <a:srcRect r="50122"/>
              <a:stretch>
                <a:fillRect/>
              </a:stretch>
            </p:blipFill>
            <p:spPr>
              <a:xfrm>
                <a:off x="5229747" y="1248108"/>
                <a:ext cx="2980047" cy="2221909"/>
              </a:xfrm>
              <a:prstGeom prst="rect">
                <a:avLst/>
              </a:prstGeom>
            </p:spPr>
          </p:pic>
          <p:pic>
            <p:nvPicPr>
              <p:cNvPr id="3" name="图片 2">
                <a:extLst>
                  <a:ext uri="{FF2B5EF4-FFF2-40B4-BE49-F238E27FC236}">
                    <a16:creationId xmlns:a16="http://schemas.microsoft.com/office/drawing/2014/main" id="{AE755D22-BE72-2690-9BB6-97245E9018A8}"/>
                  </a:ext>
                </a:extLst>
              </p:cNvPr>
              <p:cNvPicPr>
                <a:picLocks noChangeAspect="1"/>
              </p:cNvPicPr>
              <p:nvPr/>
            </p:nvPicPr>
            <p:blipFill>
              <a:blip r:embed="rId4">
                <a:clrChange>
                  <a:clrFrom>
                    <a:srgbClr val="FFFFFF"/>
                  </a:clrFrom>
                  <a:clrTo>
                    <a:srgbClr val="FFFFFF">
                      <a:alpha val="0"/>
                    </a:srgbClr>
                  </a:clrTo>
                </a:clrChange>
              </a:blip>
              <a:srcRect l="50912"/>
              <a:stretch>
                <a:fillRect/>
              </a:stretch>
            </p:blipFill>
            <p:spPr>
              <a:xfrm>
                <a:off x="8143918" y="3470017"/>
                <a:ext cx="3192689" cy="2365068"/>
              </a:xfrm>
              <a:prstGeom prst="rect">
                <a:avLst/>
              </a:prstGeom>
            </p:spPr>
          </p:pic>
        </p:grpSp>
        <p:pic>
          <p:nvPicPr>
            <p:cNvPr id="7" name="图片 6">
              <a:extLst>
                <a:ext uri="{FF2B5EF4-FFF2-40B4-BE49-F238E27FC236}">
                  <a16:creationId xmlns:a16="http://schemas.microsoft.com/office/drawing/2014/main" id="{4016A226-0127-85CE-FF0F-D0A70E63F238}"/>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8183470" y="1248108"/>
              <a:ext cx="3153137" cy="2226408"/>
            </a:xfrm>
            <a:prstGeom prst="rect">
              <a:avLst/>
            </a:prstGeom>
          </p:spPr>
        </p:pic>
      </p:grpSp>
      <p:sp>
        <p:nvSpPr>
          <p:cNvPr id="13" name="矩形 24">
            <a:extLst>
              <a:ext uri="{FF2B5EF4-FFF2-40B4-BE49-F238E27FC236}">
                <a16:creationId xmlns:a16="http://schemas.microsoft.com/office/drawing/2014/main" id="{784BFB57-1EC4-A5A7-6609-FB73E4EF93F7}"/>
              </a:ext>
            </a:extLst>
          </p:cNvPr>
          <p:cNvSpPr/>
          <p:nvPr/>
        </p:nvSpPr>
        <p:spPr>
          <a:xfrm>
            <a:off x="997528" y="3804515"/>
            <a:ext cx="6329246" cy="2175115"/>
          </a:xfrm>
          <a:prstGeom prst="rect">
            <a:avLst/>
          </a:prstGeom>
          <a:noFill/>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44">
            <a:extLst>
              <a:ext uri="{FF2B5EF4-FFF2-40B4-BE49-F238E27FC236}">
                <a16:creationId xmlns:a16="http://schemas.microsoft.com/office/drawing/2014/main" id="{38BCDE79-8D38-3A52-7543-0798F1894223}"/>
              </a:ext>
            </a:extLst>
          </p:cNvPr>
          <p:cNvSpPr txBox="1"/>
          <p:nvPr/>
        </p:nvSpPr>
        <p:spPr>
          <a:xfrm>
            <a:off x="1123538" y="4054736"/>
            <a:ext cx="5776026" cy="1623137"/>
          </a:xfrm>
          <a:prstGeom prst="rect">
            <a:avLst/>
          </a:prstGeom>
          <a:noFill/>
        </p:spPr>
        <p:txBody>
          <a:bodyPr wrap="square">
            <a:spAutoFit/>
          </a:bodyPr>
          <a:lstStyle/>
          <a:p>
            <a:pPr>
              <a:lnSpc>
                <a:spcPct val="200000"/>
              </a:lnSpc>
              <a:spcAft>
                <a:spcPts val="450"/>
              </a:spcAft>
            </a:pPr>
            <a:r>
              <a:rPr lang="zh-CN" altLang="en-US" sz="1600" dirty="0">
                <a:solidFill>
                  <a:srgbClr val="16A34A"/>
                </a:solidFill>
                <a:latin typeface="ui-sans-serif"/>
              </a:rPr>
              <a:t>✓ </a:t>
            </a:r>
            <a:r>
              <a:rPr lang="en" altLang="zh-CN" sz="1600" b="1" dirty="0"/>
              <a:t>Prefill </a:t>
            </a:r>
            <a:r>
              <a:rPr lang="zh-CN" altLang="en-US" sz="1600" b="1" dirty="0"/>
              <a:t>时延主要受</a:t>
            </a:r>
            <a:r>
              <a:rPr lang="zh-CN" altLang="en-US" sz="1600" b="1" dirty="0">
                <a:solidFill>
                  <a:srgbClr val="FF0000"/>
                </a:solidFill>
              </a:rPr>
              <a:t>输入长度</a:t>
            </a:r>
            <a:r>
              <a:rPr lang="zh-CN" altLang="en-US" sz="1600" b="1" dirty="0"/>
              <a:t>驱动</a:t>
            </a:r>
          </a:p>
          <a:p>
            <a:pPr>
              <a:lnSpc>
                <a:spcPct val="200000"/>
              </a:lnSpc>
              <a:spcAft>
                <a:spcPts val="450"/>
              </a:spcAft>
            </a:pPr>
            <a:r>
              <a:rPr lang="zh-CN" altLang="en-US" sz="1600" dirty="0">
                <a:solidFill>
                  <a:srgbClr val="16A34A"/>
                </a:solidFill>
                <a:latin typeface="ui-sans-serif"/>
              </a:rPr>
              <a:t>✓ </a:t>
            </a:r>
            <a:r>
              <a:rPr lang="en" altLang="zh-CN" sz="1600" b="1" dirty="0"/>
              <a:t>Decode </a:t>
            </a:r>
            <a:r>
              <a:rPr lang="zh-CN" altLang="en-US" sz="1600" b="1" dirty="0"/>
              <a:t>单 </a:t>
            </a:r>
            <a:r>
              <a:rPr lang="en" altLang="zh-CN" sz="1600" b="1" dirty="0"/>
              <a:t>token </a:t>
            </a:r>
            <a:r>
              <a:rPr lang="zh-CN" altLang="en-US" sz="1600" b="1" dirty="0"/>
              <a:t>时延稳定，但总生成时延随</a:t>
            </a:r>
            <a:r>
              <a:rPr lang="zh-CN" altLang="en-US" sz="1600" b="1" dirty="0">
                <a:solidFill>
                  <a:srgbClr val="FF0000"/>
                </a:solidFill>
              </a:rPr>
              <a:t>输出长度</a:t>
            </a:r>
            <a:r>
              <a:rPr lang="zh-CN" altLang="en-US" sz="1600" b="1" dirty="0"/>
              <a:t>上升</a:t>
            </a:r>
          </a:p>
          <a:p>
            <a:pPr>
              <a:lnSpc>
                <a:spcPct val="200000"/>
              </a:lnSpc>
              <a:spcAft>
                <a:spcPts val="450"/>
              </a:spcAft>
            </a:pPr>
            <a:r>
              <a:rPr lang="zh-CN" altLang="en-US" sz="1600" dirty="0">
                <a:solidFill>
                  <a:srgbClr val="16A34A"/>
                </a:solidFill>
                <a:latin typeface="ui-sans-serif"/>
              </a:rPr>
              <a:t>✓ </a:t>
            </a:r>
            <a:r>
              <a:rPr lang="zh-CN" altLang="en" sz="1600" b="1" dirty="0"/>
              <a:t>推理</a:t>
            </a:r>
            <a:r>
              <a:rPr lang="zh-CN" altLang="en-US" sz="1600" b="1" dirty="0"/>
              <a:t>阶段特征明显，具备分阶段建模可行性</a:t>
            </a:r>
          </a:p>
        </p:txBody>
      </p:sp>
    </p:spTree>
    <p:extLst>
      <p:ext uri="{BB962C8B-B14F-4D97-AF65-F5344CB8AC3E}">
        <p14:creationId xmlns:p14="http://schemas.microsoft.com/office/powerpoint/2010/main" val="3172680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7" name="文本占位符 6"/>
          <p:cNvSpPr>
            <a:spLocks noGrp="1"/>
          </p:cNvSpPr>
          <p:nvPr>
            <p:ph type="body" sz="quarter" idx="11"/>
          </p:nvPr>
        </p:nvSpPr>
        <p:spPr>
          <a:xfrm>
            <a:off x="1216933" y="347251"/>
            <a:ext cx="10624871" cy="402291"/>
          </a:xfrm>
        </p:spPr>
        <p:txBody>
          <a:bodyPr/>
          <a:lstStyle/>
          <a:p>
            <a:r>
              <a:rPr lang="zh-CN" altLang="zh-CN" b="0">
                <a:cs typeface="+mn-ea"/>
              </a:rPr>
              <a:t>研究背景与现状</a:t>
            </a:r>
            <a:r>
              <a:rPr lang="en-US" altLang="zh-CN" b="0">
                <a:cs typeface="+mn-ea"/>
              </a:rPr>
              <a:t>      </a:t>
            </a:r>
            <a:r>
              <a:rPr lang="zh-CN" altLang="zh-CN" b="0">
                <a:cs typeface="+mn-ea"/>
              </a:rPr>
              <a:t>研究目标与内容</a:t>
            </a:r>
            <a:r>
              <a:rPr lang="en-US" altLang="zh-CN" b="0">
                <a:cs typeface="+mn-ea"/>
              </a:rPr>
              <a:t>      </a:t>
            </a:r>
            <a:r>
              <a:rPr lang="zh-CN" altLang="zh-CN" b="0">
                <a:cs typeface="+mn-ea"/>
              </a:rPr>
              <a:t>技术路线与方法</a:t>
            </a:r>
            <a:r>
              <a:rPr lang="en-US" altLang="zh-CN" b="0">
                <a:cs typeface="+mn-ea"/>
              </a:rPr>
              <a:t>    </a:t>
            </a:r>
            <a:r>
              <a:rPr lang="en-US" altLang="zh-CN">
                <a:cs typeface="+mn-ea"/>
              </a:rPr>
              <a:t> </a:t>
            </a:r>
            <a:r>
              <a:rPr lang="en-US" altLang="zh-CN" b="0">
                <a:cs typeface="+mn-ea"/>
              </a:rPr>
              <a:t> </a:t>
            </a:r>
            <a:r>
              <a:rPr lang="zh-CN" altLang="zh-CN">
                <a:cs typeface="+mn-ea"/>
              </a:rPr>
              <a:t>预期成果与计划</a:t>
            </a:r>
            <a:endParaRPr lang="en-US" altLang="zh-CN" dirty="0">
              <a:cs typeface="+mn-ea"/>
            </a:endParaRPr>
          </a:p>
        </p:txBody>
      </p:sp>
      <p:sp>
        <p:nvSpPr>
          <p:cNvPr id="1048988" name="日期占位符 1"/>
          <p:cNvSpPr>
            <a:spLocks noGrp="1"/>
          </p:cNvSpPr>
          <p:nvPr>
            <p:ph type="dt" sz="half" idx="14"/>
          </p:nvPr>
        </p:nvSpPr>
        <p:spPr>
          <a:xfrm>
            <a:off x="660400" y="6235702"/>
            <a:ext cx="3342640" cy="365125"/>
          </a:xfrm>
        </p:spPr>
        <p:txBody>
          <a:bodyPr/>
          <a:lstStyle/>
          <a:p>
            <a:r>
              <a:rPr lang="zh-CN" altLang="en-US" i="1" spc="300" dirty="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1048989" name="灯片编号占位符 2"/>
          <p:cNvSpPr>
            <a:spLocks noGrp="1"/>
          </p:cNvSpPr>
          <p:nvPr>
            <p:ph type="sldNum" sz="quarter" idx="16"/>
          </p:nvPr>
        </p:nvSpPr>
        <p:spPr/>
        <p:txBody>
          <a:bodyPr/>
          <a:lstStyle/>
          <a:p>
            <a:fld id="{C79ECAFE-A460-4E13-ABCB-32CAE6136244}" type="slidenum">
              <a:rPr lang="zh-CN" altLang="en-US" smtClean="0"/>
              <a:t>22</a:t>
            </a:fld>
            <a:endParaRPr lang="zh-CN" altLang="en-US" dirty="0"/>
          </a:p>
        </p:txBody>
      </p:sp>
      <p:sp>
        <p:nvSpPr>
          <p:cNvPr id="1048990" name="文本占位符 15"/>
          <p:cNvSpPr txBox="1"/>
          <p:nvPr/>
        </p:nvSpPr>
        <p:spPr>
          <a:xfrm>
            <a:off x="660400" y="1022915"/>
            <a:ext cx="10858500" cy="559550"/>
          </a:xfrm>
          <a:prstGeom prst="rect">
            <a:avLst/>
          </a:prstGeom>
        </p:spPr>
        <p:txBody>
          <a:bodyPr/>
          <a:lst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2400" b="1">
                <a:solidFill>
                  <a:schemeClr val="accent1"/>
                </a:solidFill>
              </a:rPr>
              <a:t>进度安排</a:t>
            </a:r>
          </a:p>
        </p:txBody>
      </p:sp>
      <p:grpSp>
        <p:nvGrpSpPr>
          <p:cNvPr id="165" name="组合 3"/>
          <p:cNvGrpSpPr/>
          <p:nvPr/>
        </p:nvGrpSpPr>
        <p:grpSpPr>
          <a:xfrm>
            <a:off x="2835200" y="1891638"/>
            <a:ext cx="6521601" cy="2955570"/>
            <a:chOff x="1216933" y="1781159"/>
            <a:chExt cx="6521601" cy="3129508"/>
          </a:xfrm>
        </p:grpSpPr>
        <p:sp>
          <p:nvSpPr>
            <p:cNvPr id="1048991" name="矩形 10"/>
            <p:cNvSpPr/>
            <p:nvPr/>
          </p:nvSpPr>
          <p:spPr>
            <a:xfrm>
              <a:off x="1216933" y="1785306"/>
              <a:ext cx="2339067" cy="3125361"/>
            </a:xfrm>
            <a:prstGeom prst="rect">
              <a:avLst/>
            </a:prstGeom>
            <a:solidFill>
              <a:schemeClr val="accent1"/>
            </a:solid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t"/>
            <a:lstStyle/>
            <a:p>
              <a:pPr algn="ctr">
                <a:lnSpc>
                  <a:spcPct val="200000"/>
                </a:lnSpc>
              </a:pPr>
              <a:r>
                <a:rPr lang="en-US" altLang="zh-CN" dirty="0">
                  <a:solidFill>
                    <a:schemeClr val="bg1"/>
                  </a:solidFill>
                </a:rPr>
                <a:t>2025</a:t>
              </a:r>
              <a:r>
                <a:rPr lang="zh-CN" altLang="zh-CN" dirty="0">
                  <a:solidFill>
                    <a:schemeClr val="bg1"/>
                  </a:solidFill>
                </a:rPr>
                <a:t>年</a:t>
              </a:r>
              <a:r>
                <a:rPr lang="en-US" altLang="zh-CN" dirty="0">
                  <a:solidFill>
                    <a:schemeClr val="bg1"/>
                  </a:solidFill>
                </a:rPr>
                <a:t>09</a:t>
              </a:r>
              <a:r>
                <a:rPr lang="zh-CN" altLang="zh-CN" dirty="0">
                  <a:solidFill>
                    <a:schemeClr val="bg1"/>
                  </a:solidFill>
                </a:rPr>
                <a:t>月—</a:t>
              </a:r>
              <a:r>
                <a:rPr lang="en-US" altLang="zh-CN" dirty="0">
                  <a:solidFill>
                    <a:schemeClr val="bg1"/>
                  </a:solidFill>
                </a:rPr>
                <a:t> 12</a:t>
              </a:r>
              <a:r>
                <a:rPr lang="zh-CN" altLang="zh-CN" dirty="0">
                  <a:solidFill>
                    <a:schemeClr val="bg1"/>
                  </a:solidFill>
                </a:rPr>
                <a:t>月</a:t>
              </a:r>
              <a:endParaRPr lang="en-US" altLang="zh-CN" dirty="0">
                <a:solidFill>
                  <a:schemeClr val="bg1"/>
                </a:solidFill>
              </a:endParaRPr>
            </a:p>
            <a:p>
              <a:pPr algn="ctr">
                <a:lnSpc>
                  <a:spcPct val="200000"/>
                </a:lnSpc>
              </a:pPr>
              <a:r>
                <a:rPr lang="en-US" altLang="zh-CN" dirty="0">
                  <a:solidFill>
                    <a:schemeClr val="bg1"/>
                  </a:solidFill>
                </a:rPr>
                <a:t>2026</a:t>
              </a:r>
              <a:r>
                <a:rPr lang="zh-CN" altLang="zh-CN" dirty="0">
                  <a:solidFill>
                    <a:schemeClr val="bg1"/>
                  </a:solidFill>
                </a:rPr>
                <a:t>年</a:t>
              </a:r>
              <a:r>
                <a:rPr lang="en-US" altLang="zh-CN" dirty="0">
                  <a:solidFill>
                    <a:schemeClr val="bg1"/>
                  </a:solidFill>
                </a:rPr>
                <a:t>01</a:t>
              </a:r>
              <a:r>
                <a:rPr lang="zh-CN" altLang="zh-CN" dirty="0">
                  <a:solidFill>
                    <a:schemeClr val="bg1"/>
                  </a:solidFill>
                </a:rPr>
                <a:t>月—</a:t>
              </a:r>
              <a:r>
                <a:rPr lang="en-US" altLang="zh-CN" dirty="0">
                  <a:solidFill>
                    <a:schemeClr val="bg1"/>
                  </a:solidFill>
                </a:rPr>
                <a:t> 05</a:t>
              </a:r>
              <a:r>
                <a:rPr lang="zh-CN" altLang="zh-CN" dirty="0">
                  <a:solidFill>
                    <a:schemeClr val="bg1"/>
                  </a:solidFill>
                </a:rPr>
                <a:t>月</a:t>
              </a:r>
              <a:endParaRPr lang="en-US" altLang="zh-CN" dirty="0">
                <a:solidFill>
                  <a:schemeClr val="bg1"/>
                </a:solidFill>
              </a:endParaRPr>
            </a:p>
            <a:p>
              <a:pPr algn="ctr">
                <a:lnSpc>
                  <a:spcPct val="200000"/>
                </a:lnSpc>
              </a:pPr>
              <a:r>
                <a:rPr lang="en-US" altLang="zh-CN" dirty="0">
                  <a:solidFill>
                    <a:schemeClr val="bg1"/>
                  </a:solidFill>
                </a:rPr>
                <a:t>2026</a:t>
              </a:r>
              <a:r>
                <a:rPr lang="zh-CN" altLang="zh-CN" dirty="0">
                  <a:solidFill>
                    <a:schemeClr val="bg1"/>
                  </a:solidFill>
                </a:rPr>
                <a:t>年</a:t>
              </a:r>
              <a:r>
                <a:rPr lang="en-US" altLang="zh-CN" dirty="0">
                  <a:solidFill>
                    <a:schemeClr val="bg1"/>
                  </a:solidFill>
                </a:rPr>
                <a:t>06</a:t>
              </a:r>
              <a:r>
                <a:rPr lang="zh-CN" altLang="zh-CN" dirty="0">
                  <a:solidFill>
                    <a:schemeClr val="bg1"/>
                  </a:solidFill>
                </a:rPr>
                <a:t>月—</a:t>
              </a:r>
              <a:r>
                <a:rPr lang="en-US" altLang="zh-CN" dirty="0">
                  <a:solidFill>
                    <a:schemeClr val="bg1"/>
                  </a:solidFill>
                </a:rPr>
                <a:t> 12</a:t>
              </a:r>
              <a:r>
                <a:rPr lang="zh-CN" altLang="zh-CN" dirty="0">
                  <a:solidFill>
                    <a:schemeClr val="bg1"/>
                  </a:solidFill>
                </a:rPr>
                <a:t>月</a:t>
              </a:r>
              <a:endParaRPr lang="en-US" altLang="zh-CN" dirty="0">
                <a:solidFill>
                  <a:schemeClr val="bg1"/>
                </a:solidFill>
              </a:endParaRPr>
            </a:p>
            <a:p>
              <a:pPr algn="ctr">
                <a:lnSpc>
                  <a:spcPct val="200000"/>
                </a:lnSpc>
              </a:pPr>
              <a:r>
                <a:rPr lang="en-US" altLang="zh-CN" dirty="0">
                  <a:solidFill>
                    <a:schemeClr val="bg1"/>
                  </a:solidFill>
                </a:rPr>
                <a:t>2027</a:t>
              </a:r>
              <a:r>
                <a:rPr lang="zh-CN" altLang="zh-CN" dirty="0">
                  <a:solidFill>
                    <a:schemeClr val="bg1"/>
                  </a:solidFill>
                </a:rPr>
                <a:t>年</a:t>
              </a:r>
              <a:r>
                <a:rPr lang="en-US" altLang="zh-CN" dirty="0">
                  <a:solidFill>
                    <a:schemeClr val="bg1"/>
                  </a:solidFill>
                </a:rPr>
                <a:t>01</a:t>
              </a:r>
              <a:r>
                <a:rPr lang="zh-CN" altLang="zh-CN" dirty="0">
                  <a:solidFill>
                    <a:schemeClr val="bg1"/>
                  </a:solidFill>
                </a:rPr>
                <a:t>月—</a:t>
              </a:r>
              <a:r>
                <a:rPr lang="en-US" altLang="zh-CN" dirty="0">
                  <a:solidFill>
                    <a:schemeClr val="bg1"/>
                  </a:solidFill>
                </a:rPr>
                <a:t> 04</a:t>
              </a:r>
              <a:r>
                <a:rPr lang="zh-CN" altLang="zh-CN" dirty="0">
                  <a:solidFill>
                    <a:schemeClr val="bg1"/>
                  </a:solidFill>
                </a:rPr>
                <a:t>月</a:t>
              </a:r>
              <a:endParaRPr lang="en-US" altLang="zh-CN" dirty="0">
                <a:solidFill>
                  <a:schemeClr val="bg1"/>
                </a:solidFill>
              </a:endParaRPr>
            </a:p>
            <a:p>
              <a:pPr algn="ctr">
                <a:lnSpc>
                  <a:spcPct val="200000"/>
                </a:lnSpc>
              </a:pPr>
              <a:r>
                <a:rPr lang="en-US" altLang="zh-CN" dirty="0">
                  <a:solidFill>
                    <a:schemeClr val="bg1"/>
                  </a:solidFill>
                </a:rPr>
                <a:t>2027</a:t>
              </a:r>
              <a:r>
                <a:rPr lang="zh-CN" altLang="zh-CN" dirty="0">
                  <a:solidFill>
                    <a:schemeClr val="bg1"/>
                  </a:solidFill>
                </a:rPr>
                <a:t>年</a:t>
              </a:r>
              <a:r>
                <a:rPr lang="en-US" altLang="zh-CN" dirty="0">
                  <a:solidFill>
                    <a:schemeClr val="bg1"/>
                  </a:solidFill>
                </a:rPr>
                <a:t>04</a:t>
              </a:r>
              <a:r>
                <a:rPr lang="zh-CN" altLang="zh-CN" dirty="0">
                  <a:solidFill>
                    <a:schemeClr val="bg1"/>
                  </a:solidFill>
                </a:rPr>
                <a:t>月—</a:t>
              </a:r>
              <a:r>
                <a:rPr lang="en-US" altLang="zh-CN" dirty="0">
                  <a:solidFill>
                    <a:schemeClr val="bg1"/>
                  </a:solidFill>
                </a:rPr>
                <a:t> 06</a:t>
              </a:r>
              <a:r>
                <a:rPr lang="zh-CN" altLang="zh-CN" dirty="0">
                  <a:solidFill>
                    <a:schemeClr val="bg1"/>
                  </a:solidFill>
                </a:rPr>
                <a:t>月</a:t>
              </a:r>
              <a:endParaRPr lang="en-US" altLang="zh-CN" dirty="0">
                <a:solidFill>
                  <a:schemeClr val="bg1"/>
                </a:solidFill>
              </a:endParaRPr>
            </a:p>
          </p:txBody>
        </p:sp>
        <p:sp>
          <p:nvSpPr>
            <p:cNvPr id="1048992" name="矩形 11"/>
            <p:cNvSpPr/>
            <p:nvPr/>
          </p:nvSpPr>
          <p:spPr>
            <a:xfrm>
              <a:off x="1216934" y="1781159"/>
              <a:ext cx="6521600" cy="3125360"/>
            </a:xfrm>
            <a:prstGeom prst="rect">
              <a:avLst/>
            </a:prstGeom>
            <a:noFill/>
            <a:ln w="19050">
              <a:solidFill>
                <a:srgbClr val="4454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1048993" name="文本框 12"/>
            <p:cNvSpPr txBox="1"/>
            <p:nvPr/>
          </p:nvSpPr>
          <p:spPr>
            <a:xfrm>
              <a:off x="3272577" y="1804107"/>
              <a:ext cx="4465955" cy="2920777"/>
            </a:xfrm>
            <a:prstGeom prst="rect">
              <a:avLst/>
            </a:prstGeom>
            <a:noFill/>
          </p:spPr>
          <p:txBody>
            <a:bodyPr wrap="square">
              <a:spAutoFit/>
            </a:bodyPr>
            <a:lstStyle/>
            <a:p>
              <a:pPr indent="304800" algn="just">
                <a:lnSpc>
                  <a:spcPct val="200000"/>
                </a:lnSpc>
              </a:pPr>
              <a:r>
                <a:rPr lang="zh-CN" altLang="zh-CN" sz="1800" kern="100">
                  <a:effectLst/>
                  <a:latin typeface="+mn-ea"/>
                  <a:cs typeface="Times New Roman" panose="02020603050405020304" pitchFamily="18" charset="0"/>
                </a:rPr>
                <a:t>进行相关理论学习；</a:t>
              </a:r>
              <a:endParaRPr lang="en-US" altLang="zh-CN" sz="1800" kern="100">
                <a:effectLst/>
                <a:latin typeface="+mn-ea"/>
                <a:cs typeface="Times New Roman" panose="02020603050405020304" pitchFamily="18" charset="0"/>
              </a:endParaRPr>
            </a:p>
            <a:p>
              <a:pPr indent="304800" algn="just">
                <a:lnSpc>
                  <a:spcPct val="200000"/>
                </a:lnSpc>
              </a:pPr>
              <a:r>
                <a:rPr lang="zh-CN" altLang="zh-CN" sz="1800" kern="100">
                  <a:effectLst/>
                  <a:latin typeface="+mn-ea"/>
                  <a:cs typeface="Times New Roman" panose="02020603050405020304" pitchFamily="18" charset="0"/>
                </a:rPr>
                <a:t>阅读文献，完成理论分析和方案设计；</a:t>
              </a:r>
            </a:p>
            <a:p>
              <a:pPr indent="304800" algn="just">
                <a:lnSpc>
                  <a:spcPct val="200000"/>
                </a:lnSpc>
              </a:pPr>
              <a:r>
                <a:rPr lang="zh-CN" altLang="zh-CN" sz="1800" kern="100">
                  <a:effectLst/>
                  <a:latin typeface="+mn-ea"/>
                  <a:cs typeface="Times New Roman" panose="02020603050405020304" pitchFamily="18" charset="0"/>
                </a:rPr>
                <a:t>完善理论方案，进行系统开发与测试；</a:t>
              </a:r>
            </a:p>
            <a:p>
              <a:pPr indent="304800" algn="just">
                <a:lnSpc>
                  <a:spcPct val="200000"/>
                </a:lnSpc>
              </a:pPr>
              <a:r>
                <a:rPr lang="zh-CN" altLang="zh-CN" sz="1800" kern="100">
                  <a:effectLst/>
                  <a:latin typeface="+mn-ea"/>
                  <a:cs typeface="Times New Roman" panose="02020603050405020304" pitchFamily="18" charset="0"/>
                </a:rPr>
                <a:t>撰写毕业论文；</a:t>
              </a:r>
            </a:p>
            <a:p>
              <a:pPr indent="304800" algn="just">
                <a:lnSpc>
                  <a:spcPct val="200000"/>
                </a:lnSpc>
              </a:pPr>
              <a:r>
                <a:rPr lang="zh-CN" altLang="zh-CN" sz="1800" kern="100">
                  <a:effectLst/>
                  <a:latin typeface="+mn-ea"/>
                  <a:cs typeface="Times New Roman" panose="02020603050405020304" pitchFamily="18" charset="0"/>
                </a:rPr>
                <a:t>准备毕业答辩。</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7" name="文本占位符 1"/>
          <p:cNvSpPr>
            <a:spLocks noGrp="1"/>
          </p:cNvSpPr>
          <p:nvPr>
            <p:ph type="body" sz="quarter" idx="11"/>
          </p:nvPr>
        </p:nvSpPr>
        <p:spPr/>
        <p:txBody>
          <a:bodyPr/>
          <a:lstStyle/>
          <a:p>
            <a:r>
              <a:rPr lang="zh-CN" altLang="en-US" dirty="0"/>
              <a:t>悉心指导！</a:t>
            </a:r>
          </a:p>
        </p:txBody>
      </p:sp>
      <p:sp>
        <p:nvSpPr>
          <p:cNvPr id="1049008" name="文本占位符 2"/>
          <p:cNvSpPr>
            <a:spLocks noGrp="1"/>
          </p:cNvSpPr>
          <p:nvPr>
            <p:ph type="body" sz="quarter" idx="12"/>
          </p:nvPr>
        </p:nvSpPr>
        <p:spPr/>
        <p:txBody>
          <a:bodyPr/>
          <a:lstStyle/>
          <a:p>
            <a:r>
              <a:rPr lang="zh-CN" altLang="en-US" b="1" dirty="0">
                <a:solidFill>
                  <a:schemeClr val="accent1"/>
                </a:solidFill>
              </a:rPr>
              <a:t>感谢各位老师的</a:t>
            </a:r>
          </a:p>
        </p:txBody>
      </p:sp>
      <p:sp>
        <p:nvSpPr>
          <p:cNvPr id="1049009" name="日期占位符 3"/>
          <p:cNvSpPr>
            <a:spLocks noGrp="1"/>
          </p:cNvSpPr>
          <p:nvPr>
            <p:ph type="dt" sz="half" idx="16"/>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049010" name="矩形 5"/>
          <p:cNvSpPr/>
          <p:nvPr/>
        </p:nvSpPr>
        <p:spPr>
          <a:xfrm>
            <a:off x="652958" y="4379642"/>
            <a:ext cx="2506802" cy="40011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rPr>
              <a:t>答辩人：</a:t>
            </a:r>
            <a:r>
              <a:rPr lang="zh-CN" altLang="en-US" sz="2000" dirty="0">
                <a:solidFill>
                  <a:schemeClr val="accent2"/>
                </a:solidFill>
                <a:latin typeface="Arial" panose="020B0604020202020204"/>
                <a:cs typeface="+mn-ea"/>
              </a:rPr>
              <a:t>李雅扉</a:t>
            </a:r>
            <a:endParaRPr kumimoji="0" lang="zh-CN" altLang="en-US" sz="2000" i="0" u="none" strike="noStrike" kern="1200" cap="none" spc="0" normalizeH="0" baseline="0" noProof="0" dirty="0">
              <a:ln>
                <a:noFill/>
              </a:ln>
              <a:solidFill>
                <a:schemeClr val="accent2"/>
              </a:solidFill>
              <a:effectLst/>
              <a:uLnTx/>
              <a:uFillTx/>
              <a:latin typeface="Arial" panose="020B0604020202020204"/>
              <a:cs typeface="+mn-ea"/>
            </a:endParaRPr>
          </a:p>
        </p:txBody>
      </p:sp>
      <p:sp>
        <p:nvSpPr>
          <p:cNvPr id="1049011" name="矩形 7"/>
          <p:cNvSpPr/>
          <p:nvPr/>
        </p:nvSpPr>
        <p:spPr>
          <a:xfrm>
            <a:off x="667504" y="4899847"/>
            <a:ext cx="3680976" cy="40011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答辩日期：</a:t>
            </a:r>
            <a:r>
              <a:rPr kumimoji="0" lang="en-US" altLang="zh-CN" sz="2000" i="0" u="none" strike="noStrike" kern="1200" cap="none" spc="0" normalizeH="0" baseline="0" noProof="0" dirty="0">
                <a:ln>
                  <a:noFill/>
                </a:ln>
                <a:solidFill>
                  <a:schemeClr val="accent1"/>
                </a:solidFill>
                <a:effectLst/>
                <a:uLnTx/>
                <a:uFillTx/>
                <a:latin typeface="Arial" panose="020B0604020202020204"/>
                <a:cs typeface="+mn-ea"/>
              </a:rPr>
              <a:t>2026/4/22</a:t>
            </a:r>
            <a:endPar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主题​​">
  <a:themeElements>
    <a:clrScheme name="SEU">
      <a:dk1>
        <a:sysClr val="windowText" lastClr="000000"/>
      </a:dk1>
      <a:lt1>
        <a:sysClr val="window" lastClr="FFFFFF"/>
      </a:lt1>
      <a:dk2>
        <a:srgbClr val="44546A"/>
      </a:dk2>
      <a:lt2>
        <a:srgbClr val="E3E1DD"/>
      </a:lt2>
      <a:accent1>
        <a:srgbClr val="445437"/>
      </a:accent1>
      <a:accent2>
        <a:srgbClr val="FFCC00"/>
      </a:accent2>
      <a:accent3>
        <a:srgbClr val="2872A1"/>
      </a:accent3>
      <a:accent4>
        <a:srgbClr val="FCB322"/>
      </a:accent4>
      <a:accent5>
        <a:srgbClr val="EA6C00"/>
      </a:accent5>
      <a:accent6>
        <a:srgbClr val="70AD47"/>
      </a:accent6>
      <a:hlink>
        <a:srgbClr val="0563C1"/>
      </a:hlink>
      <a:folHlink>
        <a:srgbClr val="954F72"/>
      </a:folHlink>
    </a:clrScheme>
    <a:fontScheme name="htvr4vcz">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a:noFill/>
        </a:ln>
      </a:spPr>
      <a:bodyPr rtlCol="0" anchor="ctr"/>
      <a:lstStyle>
        <a:defPPr algn="ctr"/>
      </a:lstStyle>
      <a:style>
        <a:lnRef idx="1">
          <a:schemeClr val="accent1"/>
        </a:lnRef>
        <a:fillRef idx="0">
          <a:schemeClr val="accent1"/>
        </a:fillRef>
        <a:effectRef idx="0">
          <a:schemeClr val="accent1"/>
        </a:effectRef>
        <a:fontRef idx="minor">
          <a:schemeClr val="tx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7484</TotalTime>
  <Words>3892</Words>
  <Application>Microsoft Macintosh PowerPoint</Application>
  <PresentationFormat>宽屏</PresentationFormat>
  <Paragraphs>244</Paragraphs>
  <Slides>23</Slides>
  <Notes>20</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23</vt:i4>
      </vt:variant>
    </vt:vector>
  </HeadingPairs>
  <TitlesOfParts>
    <vt:vector size="37" baseType="lpstr">
      <vt:lpstr>等线</vt:lpstr>
      <vt:lpstr>Microsoft YaHei</vt:lpstr>
      <vt:lpstr>Microsoft YaHei</vt:lpstr>
      <vt:lpstr>ui-sans-serif</vt:lpstr>
      <vt:lpstr>Arial</vt:lpstr>
      <vt:lpstr>Calibri</vt:lpstr>
      <vt:lpstr>Cambria Math</vt:lpstr>
      <vt:lpstr>Segoe UI</vt:lpstr>
      <vt:lpstr>Segoe UI Light</vt:lpstr>
      <vt:lpstr>Times New Roman</vt:lpstr>
      <vt:lpstr>Wingdings</vt:lpstr>
      <vt:lpstr>Office 主题​​</vt:lpstr>
      <vt:lpstr>2_OfficePLUS</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#我给母校送模板#</dc:title>
  <dc:creator>李林昊</dc:creator>
  <cp:lastModifiedBy>yafei li</cp:lastModifiedBy>
  <cp:revision>92</cp:revision>
  <dcterms:created xsi:type="dcterms:W3CDTF">2019-03-09T14:11:00Z</dcterms:created>
  <dcterms:modified xsi:type="dcterms:W3CDTF">2026-04-22T02:51:11Z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v-yunxl@microsoft.com</vt:lpwstr>
  </property>
  <property fmtid="{D5CDD505-2E9C-101B-9397-08002B2CF9AE}" pid="5" name="MSIP_Label_f42aa342-8706-4288-bd11-ebb85995028c_SetDate">
    <vt:lpwstr>2019-04-12T02:41:52.0160681Z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69373f4c-3b11-4ae9-a932-ee563e5098c6</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407d069a8232464b9b155f9ed3802ad2</vt:lpwstr>
  </property>
  <property fmtid="{D5CDD505-2E9C-101B-9397-08002B2CF9AE}" pid="12" name="KSOProductBuildVer">
    <vt:lpwstr>2052-12.1.0.20305</vt:lpwstr>
  </property>
</Properties>
</file>